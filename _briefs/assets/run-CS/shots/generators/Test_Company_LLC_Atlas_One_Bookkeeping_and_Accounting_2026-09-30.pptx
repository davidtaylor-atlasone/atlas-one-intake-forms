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48840"/>
            <a:ext cx="12191695" cy="64008"/>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98448"/>
            <a:ext cx="82296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FINANCIAL SERVICES</a:t>
            </a:r>
          </a:p>
        </p:txBody>
      </p:sp>
      <p:sp>
        <p:nvSpPr>
          <p:cNvPr id="5" name="TextBox 4"/>
          <p:cNvSpPr txBox="1"/>
          <p:nvPr/>
        </p:nvSpPr>
        <p:spPr>
          <a:xfrm>
            <a:off x="640080" y="1600200"/>
            <a:ext cx="10424160" cy="1371600"/>
          </a:xfrm>
          <a:prstGeom prst="rect">
            <a:avLst/>
          </a:prstGeom>
          <a:noFill/>
        </p:spPr>
        <p:txBody>
          <a:bodyPr wrap="square" lIns="45720" rIns="45720" tIns="22860" bIns="22860" anchor="t">
            <a:spAutoFit/>
          </a:bodyPr>
          <a:lstStyle/>
          <a:p>
            <a:pPr algn="l">
              <a:lnSpc>
                <a:spcPct val="100000"/>
              </a:lnSpc>
            </a:pPr>
            <a:r>
              <a:rPr sz="3400" b="1" i="0" u="none">
                <a:solidFill>
                  <a:srgbClr val="FFFFFF"/>
                </a:solidFill>
                <a:latin typeface="Horas"/>
              </a:rPr>
              <a:t>Your books, handled.</a:t>
            </a:r>
          </a:p>
        </p:txBody>
      </p:sp>
      <p:sp>
        <p:nvSpPr>
          <p:cNvPr id="6" name="TextBox 5"/>
          <p:cNvSpPr txBox="1"/>
          <p:nvPr/>
        </p:nvSpPr>
        <p:spPr>
          <a:xfrm>
            <a:off x="640080" y="3063240"/>
            <a:ext cx="9692640" cy="1143000"/>
          </a:xfrm>
          <a:prstGeom prst="rect">
            <a:avLst/>
          </a:prstGeom>
          <a:noFill/>
        </p:spPr>
        <p:txBody>
          <a:bodyPr wrap="square" lIns="45720" rIns="45720" tIns="22860" bIns="22860" anchor="t">
            <a:spAutoFit/>
          </a:bodyPr>
          <a:lstStyle/>
          <a:p>
            <a:pPr algn="l">
              <a:lnSpc>
                <a:spcPct val="100000"/>
              </a:lnSpc>
            </a:pPr>
            <a:r>
              <a:rPr sz="1500" b="0" i="0" u="none">
                <a:solidFill>
                  <a:srgbClr val="DBE4ED"/>
                </a:solidFill>
                <a:latin typeface="DM Sans"/>
              </a:rPr>
              <a:t>Clean books every month, payroll and filings handled, and one person who knows your business — through a single relationship and one monthly invoice.</a:t>
            </a:r>
          </a:p>
        </p:txBody>
      </p:sp>
      <p:sp>
        <p:nvSpPr>
          <p:cNvPr id="7" name="TextBox 6"/>
          <p:cNvSpPr txBox="1"/>
          <p:nvPr/>
        </p:nvSpPr>
        <p:spPr>
          <a:xfrm>
            <a:off x="640080" y="5029200"/>
            <a:ext cx="10058400" cy="274320"/>
          </a:xfrm>
          <a:prstGeom prst="rect">
            <a:avLst/>
          </a:prstGeom>
          <a:noFill/>
        </p:spPr>
        <p:txBody>
          <a:bodyPr wrap="square" lIns="45720" rIns="45720" tIns="22860" bIns="22860" anchor="t">
            <a:spAutoFit/>
          </a:bodyPr>
          <a:lstStyle/>
          <a:p>
            <a:pPr algn="l">
              <a:lnSpc>
                <a:spcPct val="100000"/>
              </a:lnSpc>
            </a:pPr>
            <a:r>
              <a:rPr sz="1000" b="1" i="0" u="none">
                <a:solidFill>
                  <a:srgbClr val="788DE3"/>
                </a:solidFill>
                <a:latin typeface="Horas"/>
              </a:rPr>
              <a:t>PREPARED FOR</a:t>
            </a:r>
          </a:p>
        </p:txBody>
      </p:sp>
      <p:sp>
        <p:nvSpPr>
          <p:cNvPr id="8" name="TextBox 7"/>
          <p:cNvSpPr txBox="1"/>
          <p:nvPr/>
        </p:nvSpPr>
        <p:spPr>
          <a:xfrm>
            <a:off x="640080" y="5285232"/>
            <a:ext cx="10058400" cy="384048"/>
          </a:xfrm>
          <a:prstGeom prst="rect">
            <a:avLst/>
          </a:prstGeom>
          <a:noFill/>
        </p:spPr>
        <p:txBody>
          <a:bodyPr wrap="square" lIns="45720" rIns="45720" tIns="22860" bIns="22860" anchor="t">
            <a:spAutoFit/>
          </a:bodyPr>
          <a:lstStyle/>
          <a:p>
            <a:pPr algn="l">
              <a:lnSpc>
                <a:spcPct val="100000"/>
              </a:lnSpc>
            </a:pPr>
            <a:r>
              <a:rPr sz="1700" b="1" i="0" u="none">
                <a:solidFill>
                  <a:srgbClr val="FFFFFF"/>
                </a:solidFill>
                <a:latin typeface="Horas"/>
              </a:rPr>
              <a:t>Test Company LLC</a:t>
            </a:r>
          </a:p>
        </p:txBody>
      </p:sp>
      <p:sp>
        <p:nvSpPr>
          <p:cNvPr id="9" name="TextBox 8"/>
          <p:cNvSpPr txBox="1"/>
          <p:nvPr/>
        </p:nvSpPr>
        <p:spPr>
          <a:xfrm>
            <a:off x="640080" y="5897880"/>
            <a:ext cx="10058400" cy="274320"/>
          </a:xfrm>
          <a:prstGeom prst="rect">
            <a:avLst/>
          </a:prstGeom>
          <a:noFill/>
        </p:spPr>
        <p:txBody>
          <a:bodyPr wrap="square" lIns="45720" rIns="45720" tIns="22860" bIns="22860" anchor="t">
            <a:spAutoFit/>
          </a:bodyPr>
          <a:lstStyle/>
          <a:p>
            <a:pPr algn="l">
              <a:lnSpc>
                <a:spcPct val="100000"/>
              </a:lnSpc>
            </a:pPr>
            <a:r>
              <a:rPr sz="1000" b="1" i="0" u="none">
                <a:solidFill>
                  <a:srgbClr val="788DE3"/>
                </a:solidFill>
                <a:latin typeface="Horas"/>
              </a:rPr>
              <a:t>PRESENTED BY</a:t>
            </a:r>
          </a:p>
        </p:txBody>
      </p:sp>
      <p:sp>
        <p:nvSpPr>
          <p:cNvPr id="10" name="TextBox 9"/>
          <p:cNvSpPr txBox="1"/>
          <p:nvPr/>
        </p:nvSpPr>
        <p:spPr>
          <a:xfrm>
            <a:off x="640080" y="6153912"/>
            <a:ext cx="10058400" cy="274320"/>
          </a:xfrm>
          <a:prstGeom prst="rect">
            <a:avLst/>
          </a:prstGeom>
          <a:noFill/>
        </p:spPr>
        <p:txBody>
          <a:bodyPr wrap="square" lIns="45720" rIns="45720" tIns="22860" bIns="22860" anchor="t">
            <a:spAutoFit/>
          </a:bodyPr>
          <a:lstStyle/>
          <a:p>
            <a:pPr algn="l">
              <a:lnSpc>
                <a:spcPct val="100000"/>
              </a:lnSpc>
            </a:pPr>
            <a:r>
              <a:rPr sz="1150" b="0" i="0" u="none">
                <a:solidFill>
                  <a:srgbClr val="FFFFFF"/>
                </a:solidFill>
                <a:latin typeface="DM Sans"/>
              </a:rPr>
              <a:t>David Taylor  ·  380-CALL-A1S (380-225-5217)  ·  david@atlasonesolutions.com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THE PROBLEM</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Why this exists</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Financial Services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822960" y="1554480"/>
            <a:ext cx="10515600" cy="2286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1828800"/>
            <a:ext cx="9784080" cy="1005840"/>
          </a:xfrm>
          <a:prstGeom prst="rect">
            <a:avLst/>
          </a:prstGeom>
          <a:noFill/>
        </p:spPr>
        <p:txBody>
          <a:bodyPr wrap="square" lIns="45720" rIns="45720" tIns="22860" bIns="22860" anchor="ctr">
            <a:spAutoFit/>
          </a:bodyPr>
          <a:lstStyle/>
          <a:p>
            <a:pPr algn="l">
              <a:lnSpc>
                <a:spcPct val="100000"/>
              </a:lnSpc>
            </a:pPr>
            <a:r>
              <a:rPr sz="2200" b="1" i="0" u="none">
                <a:solidFill>
                  <a:srgbClr val="FFFFFF"/>
                </a:solidFill>
                <a:latin typeface="Horas"/>
              </a:rPr>
              <a:t>Most owners find out how their year went in March, from an accountant they speak to twice.</a:t>
            </a:r>
          </a:p>
        </p:txBody>
      </p:sp>
      <p:sp>
        <p:nvSpPr>
          <p:cNvPr id="13" name="TextBox 12"/>
          <p:cNvSpPr txBox="1"/>
          <p:nvPr/>
        </p:nvSpPr>
        <p:spPr>
          <a:xfrm>
            <a:off x="1188720" y="2834640"/>
            <a:ext cx="9784080" cy="868680"/>
          </a:xfrm>
          <a:prstGeom prst="rect">
            <a:avLst/>
          </a:prstGeom>
          <a:noFill/>
        </p:spPr>
        <p:txBody>
          <a:bodyPr wrap="square" lIns="45720" rIns="45720" tIns="22860" bIns="22860" anchor="ctr">
            <a:spAutoFit/>
          </a:bodyPr>
          <a:lstStyle/>
          <a:p>
            <a:pPr algn="l">
              <a:lnSpc>
                <a:spcPct val="100000"/>
              </a:lnSpc>
            </a:pPr>
            <a:r>
              <a:rPr sz="1300" b="0" i="0" u="none">
                <a:solidFill>
                  <a:srgbClr val="DBE4ED"/>
                </a:solidFill>
                <a:latin typeface="DM Sans"/>
              </a:rPr>
              <a:t>Books that close late are books you cannot decide on. By the time the numbers are right the quarter is gone, the lender has asked twice, and nobody can say which jobs actually made money.</a:t>
            </a:r>
          </a:p>
        </p:txBody>
      </p:sp>
      <p:sp>
        <p:nvSpPr>
          <p:cNvPr id="14" name="Rectangle 13"/>
          <p:cNvSpPr/>
          <p:nvPr/>
        </p:nvSpPr>
        <p:spPr>
          <a:xfrm>
            <a:off x="822960" y="4160520"/>
            <a:ext cx="1051560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34840"/>
            <a:ext cx="10515600" cy="457200"/>
          </a:xfrm>
          <a:prstGeom prst="rect">
            <a:avLst/>
          </a:prstGeom>
          <a:noFill/>
        </p:spPr>
        <p:txBody>
          <a:bodyPr wrap="square" lIns="45720" rIns="45720" tIns="22860" bIns="22860" anchor="t">
            <a:spAutoFit/>
          </a:bodyPr>
          <a:lstStyle/>
          <a:p>
            <a:pPr algn="ctr">
              <a:lnSpc>
                <a:spcPct val="100000"/>
              </a:lnSpc>
            </a:pPr>
            <a:r>
              <a:rPr sz="1700" b="1" i="0" u="none">
                <a:solidFill>
                  <a:srgbClr val="23304D"/>
                </a:solidFill>
                <a:latin typeface="Horas"/>
              </a:rPr>
              <a:t>Payroll is included, not another vendor</a:t>
            </a:r>
          </a:p>
        </p:txBody>
      </p:sp>
      <p:sp>
        <p:nvSpPr>
          <p:cNvPr id="16" name="TextBox 15"/>
          <p:cNvSpPr txBox="1"/>
          <p:nvPr/>
        </p:nvSpPr>
        <p:spPr>
          <a:xfrm>
            <a:off x="1463040" y="4892040"/>
            <a:ext cx="9235440" cy="914400"/>
          </a:xfrm>
          <a:prstGeom prst="rect">
            <a:avLst/>
          </a:prstGeom>
          <a:noFill/>
        </p:spPr>
        <p:txBody>
          <a:bodyPr wrap="square" lIns="45720" rIns="45720" tIns="22860" bIns="22860" anchor="t">
            <a:spAutoFit/>
          </a:bodyPr>
          <a:lstStyle/>
          <a:p>
            <a:pPr algn="ctr">
              <a:lnSpc>
                <a:spcPct val="100000"/>
              </a:lnSpc>
            </a:pPr>
            <a:r>
              <a:rPr sz="1250" b="0" i="0" u="none">
                <a:solidFill>
                  <a:srgbClr val="3A4457"/>
                </a:solidFill>
                <a:latin typeface="DM Sans"/>
              </a:rPr>
              <a:t>Small, Medium and Large packages all carry payroll service. The per-employee pricing on our payroll sheet applies to standalone clients only — inside a bookkeeping package it is already covered.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WHAT IT DOES</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Four jobs, running against your business</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Financial Services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457200" y="123444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23444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49047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01</a:t>
            </a:r>
          </a:p>
        </p:txBody>
      </p:sp>
      <p:sp>
        <p:nvSpPr>
          <p:cNvPr id="14" name="TextBox 13"/>
          <p:cNvSpPr txBox="1"/>
          <p:nvPr/>
        </p:nvSpPr>
        <p:spPr>
          <a:xfrm>
            <a:off x="731520" y="180136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Recorded</a:t>
            </a:r>
          </a:p>
        </p:txBody>
      </p:sp>
      <p:sp>
        <p:nvSpPr>
          <p:cNvPr id="15" name="TextBox 14"/>
          <p:cNvSpPr txBox="1"/>
          <p:nvPr/>
        </p:nvSpPr>
        <p:spPr>
          <a:xfrm>
            <a:off x="731520" y="224028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Every transaction entered, categorised and reconciled against the bank and the card — not at year end, every month.</a:t>
            </a:r>
          </a:p>
        </p:txBody>
      </p:sp>
      <p:sp>
        <p:nvSpPr>
          <p:cNvPr id="16" name="Rectangle 15"/>
          <p:cNvSpPr/>
          <p:nvPr/>
        </p:nvSpPr>
        <p:spPr>
          <a:xfrm>
            <a:off x="6263640" y="123444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23444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49047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02</a:t>
            </a:r>
          </a:p>
        </p:txBody>
      </p:sp>
      <p:sp>
        <p:nvSpPr>
          <p:cNvPr id="19" name="TextBox 18"/>
          <p:cNvSpPr txBox="1"/>
          <p:nvPr/>
        </p:nvSpPr>
        <p:spPr>
          <a:xfrm>
            <a:off x="6537960" y="180136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Closed</a:t>
            </a:r>
          </a:p>
        </p:txBody>
      </p:sp>
      <p:sp>
        <p:nvSpPr>
          <p:cNvPr id="20" name="TextBox 19"/>
          <p:cNvSpPr txBox="1"/>
          <p:nvPr/>
        </p:nvSpPr>
        <p:spPr>
          <a:xfrm>
            <a:off x="6537960" y="224028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Month-end close on a schedule, so the P&amp;L and balance sheet you look at are finished, not in progress.</a:t>
            </a:r>
          </a:p>
        </p:txBody>
      </p:sp>
      <p:sp>
        <p:nvSpPr>
          <p:cNvPr id="21" name="Rectangle 20"/>
          <p:cNvSpPr/>
          <p:nvPr/>
        </p:nvSpPr>
        <p:spPr>
          <a:xfrm>
            <a:off x="457200" y="361188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61188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6791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03</a:t>
            </a:r>
          </a:p>
        </p:txBody>
      </p:sp>
      <p:sp>
        <p:nvSpPr>
          <p:cNvPr id="24" name="TextBox 23"/>
          <p:cNvSpPr txBox="1"/>
          <p:nvPr/>
        </p:nvSpPr>
        <p:spPr>
          <a:xfrm>
            <a:off x="731520" y="417880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Paid &amp; collected</a:t>
            </a:r>
          </a:p>
        </p:txBody>
      </p:sp>
      <p:sp>
        <p:nvSpPr>
          <p:cNvPr id="25" name="TextBox 24"/>
          <p:cNvSpPr txBox="1"/>
          <p:nvPr/>
        </p:nvSpPr>
        <p:spPr>
          <a:xfrm>
            <a:off x="731520" y="461772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Bills captured, coded and scheduled. Invoices out, payments applied, and someone actually chasing what is owed.</a:t>
            </a:r>
          </a:p>
        </p:txBody>
      </p:sp>
      <p:sp>
        <p:nvSpPr>
          <p:cNvPr id="26" name="Rectangle 25"/>
          <p:cNvSpPr/>
          <p:nvPr/>
        </p:nvSpPr>
        <p:spPr>
          <a:xfrm>
            <a:off x="6263640" y="3611880"/>
            <a:ext cx="5577840" cy="219456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3611880"/>
            <a:ext cx="5577840" cy="8229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3867912"/>
            <a:ext cx="5029200" cy="274320"/>
          </a:xfrm>
          <a:prstGeom prst="rect">
            <a:avLst/>
          </a:prstGeom>
          <a:noFill/>
        </p:spPr>
        <p:txBody>
          <a:bodyPr wrap="square" lIns="45720" rIns="45720" tIns="22860" bIns="22860" anchor="t">
            <a:spAutoFit/>
          </a:bodyPr>
          <a:lstStyle/>
          <a:p>
            <a:pPr algn="l">
              <a:lnSpc>
                <a:spcPct val="100000"/>
              </a:lnSpc>
            </a:pPr>
            <a:r>
              <a:rPr sz="1100" b="1" i="0" u="none">
                <a:solidFill>
                  <a:srgbClr val="788DE3"/>
                </a:solidFill>
                <a:latin typeface="Horas"/>
              </a:rPr>
              <a:t>04</a:t>
            </a:r>
          </a:p>
        </p:txBody>
      </p:sp>
      <p:sp>
        <p:nvSpPr>
          <p:cNvPr id="29" name="TextBox 28"/>
          <p:cNvSpPr txBox="1"/>
          <p:nvPr/>
        </p:nvSpPr>
        <p:spPr>
          <a:xfrm>
            <a:off x="6537960" y="4178808"/>
            <a:ext cx="5029200" cy="384048"/>
          </a:xfrm>
          <a:prstGeom prst="rect">
            <a:avLst/>
          </a:prstGeom>
          <a:noFill/>
        </p:spPr>
        <p:txBody>
          <a:bodyPr wrap="square" lIns="45720" rIns="45720" tIns="22860" bIns="22860" anchor="t">
            <a:spAutoFit/>
          </a:bodyPr>
          <a:lstStyle/>
          <a:p>
            <a:pPr algn="l">
              <a:lnSpc>
                <a:spcPct val="100000"/>
              </a:lnSpc>
            </a:pPr>
            <a:r>
              <a:rPr sz="1800" b="1" i="0" u="none">
                <a:solidFill>
                  <a:srgbClr val="23304D"/>
                </a:solidFill>
                <a:latin typeface="Horas"/>
              </a:rPr>
              <a:t>Explained</a:t>
            </a:r>
          </a:p>
        </p:txBody>
      </p:sp>
      <p:sp>
        <p:nvSpPr>
          <p:cNvPr id="30" name="TextBox 29"/>
          <p:cNvSpPr txBox="1"/>
          <p:nvPr/>
        </p:nvSpPr>
        <p:spPr>
          <a:xfrm>
            <a:off x="6537960" y="4617720"/>
            <a:ext cx="5029200" cy="1005840"/>
          </a:xfrm>
          <a:prstGeom prst="rect">
            <a:avLst/>
          </a:prstGeom>
          <a:noFill/>
        </p:spPr>
        <p:txBody>
          <a:bodyPr wrap="square" lIns="45720" rIns="45720" tIns="22860" bIns="22860" anchor="t">
            <a:spAutoFit/>
          </a:bodyPr>
          <a:lstStyle/>
          <a:p>
            <a:pPr algn="l">
              <a:lnSpc>
                <a:spcPct val="100000"/>
              </a:lnSpc>
            </a:pPr>
            <a:r>
              <a:rPr sz="1200" b="0" i="0" u="none">
                <a:solidFill>
                  <a:srgbClr val="3A4457"/>
                </a:solidFill>
                <a:latin typeface="DM Sans"/>
              </a:rPr>
              <a:t>A person who knows your business, not a queue. Financials ready whenever the bank, the lender or your CPA 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INVESTMENT</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What it costs, stated plainly</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Financial Services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457200" y="1188720"/>
            <a:ext cx="4114800" cy="237744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371600"/>
            <a:ext cx="3566160" cy="274320"/>
          </a:xfrm>
          <a:prstGeom prst="rect">
            <a:avLst/>
          </a:prstGeom>
          <a:noFill/>
        </p:spPr>
        <p:txBody>
          <a:bodyPr wrap="square" lIns="45720" rIns="45720" tIns="22860" bIns="22860" anchor="t">
            <a:spAutoFit/>
          </a:bodyPr>
          <a:lstStyle/>
          <a:p>
            <a:pPr algn="l">
              <a:lnSpc>
                <a:spcPct val="100000"/>
              </a:lnSpc>
            </a:pPr>
            <a:r>
              <a:rPr sz="1050" b="1" i="0" u="none">
                <a:solidFill>
                  <a:srgbClr val="23304D"/>
                </a:solidFill>
                <a:latin typeface="Horas"/>
              </a:rPr>
              <a:t>MONTHLY BOOKKEEPING</a:t>
            </a:r>
          </a:p>
        </p:txBody>
      </p:sp>
      <p:sp>
        <p:nvSpPr>
          <p:cNvPr id="13" name="TextBox 12"/>
          <p:cNvSpPr txBox="1"/>
          <p:nvPr/>
        </p:nvSpPr>
        <p:spPr>
          <a:xfrm>
            <a:off x="731520" y="1664208"/>
            <a:ext cx="3566160" cy="841248"/>
          </a:xfrm>
          <a:prstGeom prst="rect">
            <a:avLst/>
          </a:prstGeom>
          <a:noFill/>
        </p:spPr>
        <p:txBody>
          <a:bodyPr wrap="square" lIns="45720" rIns="45720" tIns="22860" bIns="22860" anchor="ctr">
            <a:spAutoFit/>
          </a:bodyPr>
          <a:lstStyle/>
          <a:p>
            <a:pPr algn="l">
              <a:lnSpc>
                <a:spcPct val="100000"/>
              </a:lnSpc>
            </a:pPr>
            <a:r>
              <a:rPr sz="2400" b="1" i="0" u="none">
                <a:solidFill>
                  <a:srgbClr val="23304D"/>
                </a:solidFill>
                <a:latin typeface="Horas"/>
              </a:rPr>
              <a:t>Starting at $300</a:t>
            </a:r>
          </a:p>
        </p:txBody>
      </p:sp>
      <p:sp>
        <p:nvSpPr>
          <p:cNvPr id="14" name="TextBox 13"/>
          <p:cNvSpPr txBox="1"/>
          <p:nvPr/>
        </p:nvSpPr>
        <p:spPr>
          <a:xfrm>
            <a:off x="731520" y="2697480"/>
            <a:ext cx="3566160" cy="365760"/>
          </a:xfrm>
          <a:prstGeom prst="rect">
            <a:avLst/>
          </a:prstGeom>
          <a:noFill/>
        </p:spPr>
        <p:txBody>
          <a:bodyPr wrap="square" lIns="45720" rIns="45720" tIns="22860" bIns="22860" anchor="t">
            <a:spAutoFit/>
          </a:bodyPr>
          <a:lstStyle/>
          <a:p>
            <a:pPr algn="l">
              <a:lnSpc>
                <a:spcPct val="100000"/>
              </a:lnSpc>
            </a:pPr>
            <a:r>
              <a:rPr sz="1300" b="0" i="0" u="none">
                <a:solidFill>
                  <a:srgbClr val="3A4457"/>
                </a:solidFill>
                <a:latin typeface="DM Sans"/>
              </a:rPr>
              <a:t>/ month, exact price after a 15 minute look at your books</a:t>
            </a:r>
          </a:p>
        </p:txBody>
      </p:sp>
      <p:sp>
        <p:nvSpPr>
          <p:cNvPr id="15" name="TextBox 14"/>
          <p:cNvSpPr txBox="1"/>
          <p:nvPr/>
        </p:nvSpPr>
        <p:spPr>
          <a:xfrm>
            <a:off x="457200" y="3794760"/>
            <a:ext cx="4114800" cy="2011680"/>
          </a:xfrm>
          <a:prstGeom prst="rect">
            <a:avLst/>
          </a:prstGeom>
          <a:noFill/>
        </p:spPr>
        <p:txBody>
          <a:bodyPr wrap="square" lIns="45720" rIns="45720" tIns="22860" bIns="22860" anchor="t">
            <a:spAutoFit/>
          </a:bodyPr>
          <a:lstStyle/>
          <a:p>
            <a:pPr algn="l">
              <a:lnSpc>
                <a:spcPct val="100000"/>
              </a:lnSpc>
            </a:pPr>
            <a:r>
              <a:rPr sz="1150" b="0" i="1" u="none">
                <a:solidFill>
                  <a:srgbClr val="5C6780"/>
                </a:solidFill>
                <a:latin typeface="DM Sans"/>
              </a:rPr>
              <a:t>Final pricing is confirmed after a 15 minute look at your books. It is volume based, so it grows only as the business does. Advisory and support beyond your allowance is $150 an hour in 15 minute increments (30 minute minimum). Strategy consulting is $250 an hour.</a:t>
            </a:r>
          </a:p>
        </p:txBody>
      </p:sp>
      <p:sp>
        <p:nvSpPr>
          <p:cNvPr id="16" name="Rectangle 15"/>
          <p:cNvSpPr/>
          <p:nvPr/>
        </p:nvSpPr>
        <p:spPr>
          <a:xfrm>
            <a:off x="4846320" y="1188720"/>
            <a:ext cx="4434840" cy="676656"/>
          </a:xfrm>
          <a:prstGeom prst="rect">
            <a:avLst/>
          </a:prstGeom>
          <a:solidFill>
            <a:srgbClr val="23304D"/>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56048" y="1188720"/>
            <a:ext cx="4215384" cy="676656"/>
          </a:xfrm>
          <a:prstGeom prst="rect">
            <a:avLst/>
          </a:prstGeom>
          <a:noFill/>
        </p:spPr>
        <p:txBody>
          <a:bodyPr wrap="square" lIns="45720" rIns="45720" tIns="22860" bIns="22860" anchor="ctr">
            <a:spAutoFit/>
          </a:bodyPr>
          <a:lstStyle/>
          <a:p>
            <a:pPr algn="l">
              <a:lnSpc>
                <a:spcPct val="100000"/>
              </a:lnSpc>
            </a:pPr>
            <a:r>
              <a:rPr sz="1200" b="1" i="0" u="none">
                <a:solidFill>
                  <a:srgbClr val="FFFFFF"/>
                </a:solidFill>
                <a:latin typeface="Horas"/>
              </a:rPr>
              <a:t>What's included</a:t>
            </a:r>
          </a:p>
        </p:txBody>
      </p:sp>
      <p:sp>
        <p:nvSpPr>
          <p:cNvPr id="18" name="Rectangle 17"/>
          <p:cNvSpPr/>
          <p:nvPr/>
        </p:nvSpPr>
        <p:spPr>
          <a:xfrm>
            <a:off x="9281160" y="1188720"/>
            <a:ext cx="2468880" cy="676656"/>
          </a:xfrm>
          <a:prstGeom prst="rect">
            <a:avLst/>
          </a:prstGeom>
          <a:solidFill>
            <a:srgbClr val="23304D"/>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90888" y="1188720"/>
            <a:ext cx="2249424" cy="676656"/>
          </a:xfrm>
          <a:prstGeom prst="rect">
            <a:avLst/>
          </a:prstGeom>
          <a:noFill/>
        </p:spPr>
        <p:txBody>
          <a:bodyPr wrap="square" lIns="45720" rIns="45720" tIns="22860" bIns="22860" anchor="ctr">
            <a:spAutoFit/>
          </a:bodyPr>
          <a:lstStyle/>
          <a:p>
            <a:pPr algn="r">
              <a:lnSpc>
                <a:spcPct val="100000"/>
              </a:lnSpc>
            </a:pPr>
            <a:r>
              <a:rPr sz="1200" b="1" i="0" u="none">
                <a:solidFill>
                  <a:srgbClr val="FFFFFF"/>
                </a:solidFill>
                <a:latin typeface="Horas"/>
              </a:rPr>
              <a:t/>
            </a:r>
          </a:p>
        </p:txBody>
      </p:sp>
      <p:sp>
        <p:nvSpPr>
          <p:cNvPr id="20" name="Rectangle 19"/>
          <p:cNvSpPr/>
          <p:nvPr/>
        </p:nvSpPr>
        <p:spPr>
          <a:xfrm>
            <a:off x="4846320" y="1865376"/>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56048" y="1865376"/>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Small, 1 to 3 accounts, up to about 300 transactions</a:t>
            </a:r>
          </a:p>
        </p:txBody>
      </p:sp>
      <p:sp>
        <p:nvSpPr>
          <p:cNvPr id="22" name="Rectangle 21"/>
          <p:cNvSpPr/>
          <p:nvPr/>
        </p:nvSpPr>
        <p:spPr>
          <a:xfrm>
            <a:off x="9281160" y="1865376"/>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90888" y="1865376"/>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Starting at $300 / mo</a:t>
            </a:r>
          </a:p>
        </p:txBody>
      </p:sp>
      <p:sp>
        <p:nvSpPr>
          <p:cNvPr id="24" name="Rectangle 23"/>
          <p:cNvSpPr/>
          <p:nvPr/>
        </p:nvSpPr>
        <p:spPr>
          <a:xfrm>
            <a:off x="4846320" y="2542032"/>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56048" y="2542032"/>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Medium, 3 to 5 accounts, about 300 to 600 transactions</a:t>
            </a:r>
          </a:p>
        </p:txBody>
      </p:sp>
      <p:sp>
        <p:nvSpPr>
          <p:cNvPr id="26" name="Rectangle 25"/>
          <p:cNvSpPr/>
          <p:nvPr/>
        </p:nvSpPr>
        <p:spPr>
          <a:xfrm>
            <a:off x="9281160" y="2542032"/>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90888" y="2542032"/>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Priced after a 15 minute look at your books</a:t>
            </a:r>
          </a:p>
        </p:txBody>
      </p:sp>
      <p:sp>
        <p:nvSpPr>
          <p:cNvPr id="28" name="Rectangle 27"/>
          <p:cNvSpPr/>
          <p:nvPr/>
        </p:nvSpPr>
        <p:spPr>
          <a:xfrm>
            <a:off x="4846320" y="3218688"/>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6048" y="3218688"/>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Large, 5+ accounts, 600+ transactions</a:t>
            </a:r>
          </a:p>
        </p:txBody>
      </p:sp>
      <p:sp>
        <p:nvSpPr>
          <p:cNvPr id="30" name="Rectangle 29"/>
          <p:cNvSpPr/>
          <p:nvPr/>
        </p:nvSpPr>
        <p:spPr>
          <a:xfrm>
            <a:off x="9281160" y="3218688"/>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0888" y="3218688"/>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Priced after a 15 minute look at your books</a:t>
            </a:r>
          </a:p>
        </p:txBody>
      </p:sp>
      <p:sp>
        <p:nvSpPr>
          <p:cNvPr id="32" name="Rectangle 31"/>
          <p:cNvSpPr/>
          <p:nvPr/>
        </p:nvSpPr>
        <p:spPr>
          <a:xfrm>
            <a:off x="4846320" y="3895344"/>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56048" y="3895344"/>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Payroll service</a:t>
            </a:r>
          </a:p>
        </p:txBody>
      </p:sp>
      <p:sp>
        <p:nvSpPr>
          <p:cNvPr id="34" name="Rectangle 33"/>
          <p:cNvSpPr/>
          <p:nvPr/>
        </p:nvSpPr>
        <p:spPr>
          <a:xfrm>
            <a:off x="9281160" y="3895344"/>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90888" y="3895344"/>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Included</a:t>
            </a:r>
          </a:p>
        </p:txBody>
      </p:sp>
      <p:sp>
        <p:nvSpPr>
          <p:cNvPr id="36" name="Rectangle 35"/>
          <p:cNvSpPr/>
          <p:nvPr/>
        </p:nvSpPr>
        <p:spPr>
          <a:xfrm>
            <a:off x="4846320" y="4572000"/>
            <a:ext cx="443484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56048" y="4572000"/>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QuickBooks Online, set up and supported by Atlas One</a:t>
            </a:r>
          </a:p>
        </p:txBody>
      </p:sp>
      <p:sp>
        <p:nvSpPr>
          <p:cNvPr id="38" name="Rectangle 37"/>
          <p:cNvSpPr/>
          <p:nvPr/>
        </p:nvSpPr>
        <p:spPr>
          <a:xfrm>
            <a:off x="9281160" y="4572000"/>
            <a:ext cx="2468880" cy="676656"/>
          </a:xfrm>
          <a:prstGeom prst="rect">
            <a:avLst/>
          </a:prstGeom>
          <a:solidFill>
            <a:srgbClr val="FAFAF8"/>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90888" y="4572000"/>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Simple Start $38, Essentials $85, Plus $140, Advanced $340 / mo</a:t>
            </a:r>
          </a:p>
        </p:txBody>
      </p:sp>
      <p:sp>
        <p:nvSpPr>
          <p:cNvPr id="40" name="Rectangle 39"/>
          <p:cNvSpPr/>
          <p:nvPr/>
        </p:nvSpPr>
        <p:spPr>
          <a:xfrm>
            <a:off x="4846320" y="5248656"/>
            <a:ext cx="443484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6048" y="5248656"/>
            <a:ext cx="4215384" cy="676656"/>
          </a:xfrm>
          <a:prstGeom prst="rect">
            <a:avLst/>
          </a:prstGeom>
          <a:noFill/>
        </p:spPr>
        <p:txBody>
          <a:bodyPr wrap="square" lIns="45720" rIns="45720" tIns="22860" bIns="22860" anchor="ctr">
            <a:spAutoFit/>
          </a:bodyPr>
          <a:lstStyle/>
          <a:p>
            <a:pPr algn="l">
              <a:lnSpc>
                <a:spcPct val="100000"/>
              </a:lnSpc>
            </a:pPr>
            <a:r>
              <a:rPr sz="1100" b="0" i="0" u="none">
                <a:solidFill>
                  <a:srgbClr val="17202F"/>
                </a:solidFill>
                <a:latin typeface="DM Sans"/>
              </a:rPr>
              <a:t>Accounts payable and accounts receivable</a:t>
            </a:r>
          </a:p>
        </p:txBody>
      </p:sp>
      <p:sp>
        <p:nvSpPr>
          <p:cNvPr id="42" name="Rectangle 41"/>
          <p:cNvSpPr/>
          <p:nvPr/>
        </p:nvSpPr>
        <p:spPr>
          <a:xfrm>
            <a:off x="9281160" y="5248656"/>
            <a:ext cx="2468880" cy="676656"/>
          </a:xfrm>
          <a:prstGeom prst="rect">
            <a:avLst/>
          </a:prstGeom>
          <a:solidFill>
            <a:srgbClr val="FFFFFF"/>
          </a:solidFill>
          <a:ln w="6350">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90888" y="5248656"/>
            <a:ext cx="2249424" cy="676656"/>
          </a:xfrm>
          <a:prstGeom prst="rect">
            <a:avLst/>
          </a:prstGeom>
          <a:noFill/>
        </p:spPr>
        <p:txBody>
          <a:bodyPr wrap="square" lIns="45720" rIns="45720" tIns="22860" bIns="22860" anchor="ctr">
            <a:spAutoFit/>
          </a:bodyPr>
          <a:lstStyle/>
          <a:p>
            <a:pPr algn="r">
              <a:lnSpc>
                <a:spcPct val="100000"/>
              </a:lnSpc>
            </a:pPr>
            <a:r>
              <a:rPr sz="1100" b="0" i="0" u="none">
                <a:solidFill>
                  <a:srgbClr val="17202F"/>
                </a:solidFill>
                <a:latin typeface="DM Sans"/>
              </a:rPr>
              <a:t>Scoped at your books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HOW IT GETS BUILT</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Most of it on our side</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Financial Services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Rectangle 10"/>
          <p:cNvSpPr/>
          <p:nvPr/>
        </p:nvSpPr>
        <p:spPr>
          <a:xfrm>
            <a:off x="1051560" y="1188720"/>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453895"/>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453895"/>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1</a:t>
            </a:r>
          </a:p>
        </p:txBody>
      </p:sp>
      <p:sp>
        <p:nvSpPr>
          <p:cNvPr id="14" name="TextBox 13"/>
          <p:cNvSpPr txBox="1"/>
          <p:nvPr/>
        </p:nvSpPr>
        <p:spPr>
          <a:xfrm>
            <a:off x="1325880" y="1261872"/>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Books review</a:t>
            </a:r>
          </a:p>
        </p:txBody>
      </p:sp>
      <p:sp>
        <p:nvSpPr>
          <p:cNvPr id="15" name="TextBox 14"/>
          <p:cNvSpPr txBox="1"/>
          <p:nvPr/>
        </p:nvSpPr>
        <p:spPr>
          <a:xfrm>
            <a:off x="1325880" y="1554480"/>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We look at what is there now — accounts, transaction volume, how far behind, what is already automated. About 45 minutes of your time.</a:t>
            </a:r>
          </a:p>
        </p:txBody>
      </p:sp>
      <p:sp>
        <p:nvSpPr>
          <p:cNvPr id="16" name="Rectangle 15"/>
          <p:cNvSpPr/>
          <p:nvPr/>
        </p:nvSpPr>
        <p:spPr>
          <a:xfrm>
            <a:off x="1051560" y="2212848"/>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478023"/>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78023"/>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2</a:t>
            </a:r>
          </a:p>
        </p:txBody>
      </p:sp>
      <p:sp>
        <p:nvSpPr>
          <p:cNvPr id="19" name="TextBox 18"/>
          <p:cNvSpPr txBox="1"/>
          <p:nvPr/>
        </p:nvSpPr>
        <p:spPr>
          <a:xfrm>
            <a:off x="1325880" y="2286000"/>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Clean-up &amp; catch-up</a:t>
            </a:r>
          </a:p>
        </p:txBody>
      </p:sp>
      <p:sp>
        <p:nvSpPr>
          <p:cNvPr id="20" name="TextBox 19"/>
          <p:cNvSpPr txBox="1"/>
          <p:nvPr/>
        </p:nvSpPr>
        <p:spPr>
          <a:xfrm>
            <a:off x="1325880" y="2578608"/>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Anything unreconciled gets brought current before we start monthly work, so month one closes on real numbers.</a:t>
            </a:r>
          </a:p>
        </p:txBody>
      </p:sp>
      <p:sp>
        <p:nvSpPr>
          <p:cNvPr id="21" name="Rectangle 20"/>
          <p:cNvSpPr/>
          <p:nvPr/>
        </p:nvSpPr>
        <p:spPr>
          <a:xfrm>
            <a:off x="1051560" y="3236976"/>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502151"/>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502151"/>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3</a:t>
            </a:r>
          </a:p>
        </p:txBody>
      </p:sp>
      <p:sp>
        <p:nvSpPr>
          <p:cNvPr id="24" name="TextBox 23"/>
          <p:cNvSpPr txBox="1"/>
          <p:nvPr/>
        </p:nvSpPr>
        <p:spPr>
          <a:xfrm>
            <a:off x="1325880" y="3310128"/>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Connect &amp; automate</a:t>
            </a:r>
          </a:p>
        </p:txBody>
      </p:sp>
      <p:sp>
        <p:nvSpPr>
          <p:cNvPr id="25" name="TextBox 24"/>
          <p:cNvSpPr txBox="1"/>
          <p:nvPr/>
        </p:nvSpPr>
        <p:spPr>
          <a:xfrm>
            <a:off x="1325880" y="3602736"/>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Bank and card feeds, payroll journal, receipt capture and any software you already run, wired together.</a:t>
            </a:r>
          </a:p>
        </p:txBody>
      </p:sp>
      <p:sp>
        <p:nvSpPr>
          <p:cNvPr id="26" name="Rectangle 25"/>
          <p:cNvSpPr/>
          <p:nvPr/>
        </p:nvSpPr>
        <p:spPr>
          <a:xfrm>
            <a:off x="1051560" y="4261103"/>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526278"/>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526278"/>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4</a:t>
            </a:r>
          </a:p>
        </p:txBody>
      </p:sp>
      <p:sp>
        <p:nvSpPr>
          <p:cNvPr id="29" name="TextBox 28"/>
          <p:cNvSpPr txBox="1"/>
          <p:nvPr/>
        </p:nvSpPr>
        <p:spPr>
          <a:xfrm>
            <a:off x="1325880" y="4334255"/>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First close</a:t>
            </a:r>
          </a:p>
        </p:txBody>
      </p:sp>
      <p:sp>
        <p:nvSpPr>
          <p:cNvPr id="30" name="TextBox 29"/>
          <p:cNvSpPr txBox="1"/>
          <p:nvPr/>
        </p:nvSpPr>
        <p:spPr>
          <a:xfrm>
            <a:off x="1325880" y="4626863"/>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The first month closes on our schedule. You get a P&amp;L, a balance sheet, and a conversation about what they say.</a:t>
            </a:r>
          </a:p>
        </p:txBody>
      </p:sp>
      <p:sp>
        <p:nvSpPr>
          <p:cNvPr id="31" name="Rectangle 30"/>
          <p:cNvSpPr/>
          <p:nvPr/>
        </p:nvSpPr>
        <p:spPr>
          <a:xfrm>
            <a:off x="1051560" y="5285231"/>
            <a:ext cx="10332720" cy="93268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550406"/>
            <a:ext cx="402336" cy="402336"/>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550406"/>
            <a:ext cx="402336" cy="402336"/>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Horas"/>
              </a:rPr>
              <a:t>5</a:t>
            </a:r>
          </a:p>
        </p:txBody>
      </p:sp>
      <p:sp>
        <p:nvSpPr>
          <p:cNvPr id="34" name="TextBox 33"/>
          <p:cNvSpPr txBox="1"/>
          <p:nvPr/>
        </p:nvSpPr>
        <p:spPr>
          <a:xfrm>
            <a:off x="1325880" y="5358383"/>
            <a:ext cx="9784080" cy="292608"/>
          </a:xfrm>
          <a:prstGeom prst="rect">
            <a:avLst/>
          </a:prstGeom>
          <a:noFill/>
        </p:spPr>
        <p:txBody>
          <a:bodyPr wrap="square" lIns="45720" rIns="45720" tIns="22860" bIns="22860" anchor="t">
            <a:spAutoFit/>
          </a:bodyPr>
          <a:lstStyle/>
          <a:p>
            <a:pPr algn="l">
              <a:lnSpc>
                <a:spcPct val="100000"/>
              </a:lnSpc>
            </a:pPr>
            <a:r>
              <a:rPr sz="1350" b="1" i="0" u="none">
                <a:solidFill>
                  <a:srgbClr val="23304D"/>
                </a:solidFill>
                <a:latin typeface="Horas"/>
              </a:rPr>
              <a:t>Every month after</a:t>
            </a:r>
          </a:p>
        </p:txBody>
      </p:sp>
      <p:sp>
        <p:nvSpPr>
          <p:cNvPr id="35" name="TextBox 34"/>
          <p:cNvSpPr txBox="1"/>
          <p:nvPr/>
        </p:nvSpPr>
        <p:spPr>
          <a:xfrm>
            <a:off x="1325880" y="5650991"/>
            <a:ext cx="9784080" cy="512063"/>
          </a:xfrm>
          <a:prstGeom prst="rect">
            <a:avLst/>
          </a:prstGeom>
          <a:noFill/>
        </p:spPr>
        <p:txBody>
          <a:bodyPr wrap="square" lIns="45720" rIns="45720" tIns="22860" bIns="22860" anchor="t">
            <a:spAutoFit/>
          </a:bodyPr>
          <a:lstStyle/>
          <a:p>
            <a:pPr algn="l">
              <a:lnSpc>
                <a:spcPct val="100000"/>
              </a:lnSpc>
            </a:pPr>
            <a:r>
              <a:rPr sz="1150" b="0" i="0" u="none">
                <a:solidFill>
                  <a:srgbClr val="3A4457"/>
                </a:solidFill>
                <a:latin typeface="DM Sans"/>
              </a:rPr>
              <a:t>Closed on time, reviewed, and available whenever anyone asks for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7724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77240"/>
            <a:ext cx="12191695" cy="54864"/>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515600" cy="411480"/>
          </a:xfrm>
          <a:prstGeom prst="rect">
            <a:avLst/>
          </a:prstGeom>
          <a:noFill/>
        </p:spPr>
        <p:txBody>
          <a:bodyPr wrap="square" lIns="45720" rIns="45720" tIns="22860" bIns="22860" anchor="t">
            <a:spAutoFit/>
          </a:bodyPr>
          <a:lstStyle/>
          <a:p>
            <a:pPr algn="l">
              <a:lnSpc>
                <a:spcPct val="100000"/>
              </a:lnSpc>
            </a:pPr>
            <a:r>
              <a:rPr sz="2200" b="1" i="0" u="none">
                <a:solidFill>
                  <a:srgbClr val="FFFFFF"/>
                </a:solidFill>
                <a:latin typeface="Horas"/>
              </a:rPr>
              <a:t>WHAT YOU'LL NEED, AND STRAIGHT ANSWERS</a:t>
            </a:r>
          </a:p>
        </p:txBody>
      </p:sp>
      <p:sp>
        <p:nvSpPr>
          <p:cNvPr id="6" name="TextBox 5"/>
          <p:cNvSpPr txBox="1"/>
          <p:nvPr/>
        </p:nvSpPr>
        <p:spPr>
          <a:xfrm>
            <a:off x="411480" y="457200"/>
            <a:ext cx="10515600" cy="274320"/>
          </a:xfrm>
          <a:prstGeom prst="rect">
            <a:avLst/>
          </a:prstGeom>
          <a:noFill/>
        </p:spPr>
        <p:txBody>
          <a:bodyPr wrap="square" lIns="45720" rIns="45720" tIns="22860" bIns="22860" anchor="t">
            <a:spAutoFit/>
          </a:bodyPr>
          <a:lstStyle/>
          <a:p>
            <a:pPr algn="l">
              <a:lnSpc>
                <a:spcPct val="100000"/>
              </a:lnSpc>
            </a:pPr>
            <a:r>
              <a:rPr sz="1100" b="0" i="1" u="none">
                <a:solidFill>
                  <a:srgbClr val="DBE4ED"/>
                </a:solidFill>
                <a:latin typeface="DM Sans"/>
              </a:rPr>
              <a:t>Most businesses already have all of it</a:t>
            </a:r>
          </a:p>
        </p:txBody>
      </p:sp>
      <p:sp>
        <p:nvSpPr>
          <p:cNvPr id="7" name="Rectangle 6"/>
          <p:cNvSpPr/>
          <p:nvPr/>
        </p:nvSpPr>
        <p:spPr>
          <a:xfrm>
            <a:off x="0" y="6519672"/>
            <a:ext cx="12191695" cy="45720"/>
          </a:xfrm>
          <a:prstGeom prst="rect">
            <a:avLst/>
          </a:prstGeom>
          <a:solidFill>
            <a:srgbClr val="DB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65392"/>
            <a:ext cx="12191695" cy="292608"/>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592824"/>
            <a:ext cx="7772400" cy="256032"/>
          </a:xfrm>
          <a:prstGeom prst="rect">
            <a:avLst/>
          </a:prstGeom>
          <a:noFill/>
        </p:spPr>
        <p:txBody>
          <a:bodyPr wrap="square" lIns="45720" rIns="45720" tIns="22860" bIns="22860" anchor="t">
            <a:spAutoFit/>
          </a:bodyPr>
          <a:lstStyle/>
          <a:p>
            <a:pPr algn="l">
              <a:lnSpc>
                <a:spcPct val="100000"/>
              </a:lnSpc>
            </a:pPr>
            <a:r>
              <a:rPr sz="900" b="0" i="0" u="none">
                <a:solidFill>
                  <a:srgbClr val="FFFFFF"/>
                </a:solidFill>
                <a:latin typeface="DM Sans"/>
              </a:rPr>
              <a:t>Atlas One  ·  Test Company LLC  ·  Financial Services</a:t>
            </a:r>
          </a:p>
        </p:txBody>
      </p:sp>
      <p:sp>
        <p:nvSpPr>
          <p:cNvPr id="10" name="TextBox 9"/>
          <p:cNvSpPr txBox="1"/>
          <p:nvPr/>
        </p:nvSpPr>
        <p:spPr>
          <a:xfrm>
            <a:off x="10058400" y="6592824"/>
            <a:ext cx="1737360" cy="256032"/>
          </a:xfrm>
          <a:prstGeom prst="rect">
            <a:avLst/>
          </a:prstGeom>
          <a:noFill/>
        </p:spPr>
        <p:txBody>
          <a:bodyPr wrap="square" lIns="45720" rIns="45720" tIns="22860" bIns="22860" anchor="t">
            <a:spAutoFit/>
          </a:bodyPr>
          <a:lstStyle/>
          <a:p>
            <a:pPr algn="r">
              <a:lnSpc>
                <a:spcPct val="100000"/>
              </a:lnSpc>
            </a:pPr>
            <a:r>
              <a:rPr sz="900" b="0" i="1" u="none">
                <a:solidFill>
                  <a:srgbClr val="DBE4ED"/>
                </a:solidFill>
                <a:latin typeface="DM Sans"/>
              </a:rPr>
              <a:t>Less paperwork. More time for what matters.</a:t>
            </a:r>
          </a:p>
        </p:txBody>
      </p:sp>
      <p:sp>
        <p:nvSpPr>
          <p:cNvPr id="11" name="TextBox 10"/>
          <p:cNvSpPr txBox="1"/>
          <p:nvPr/>
        </p:nvSpPr>
        <p:spPr>
          <a:xfrm>
            <a:off x="457200" y="1051560"/>
            <a:ext cx="5120640" cy="256032"/>
          </a:xfrm>
          <a:prstGeom prst="rect">
            <a:avLst/>
          </a:prstGeom>
          <a:noFill/>
        </p:spPr>
        <p:txBody>
          <a:bodyPr wrap="square" lIns="45720" rIns="45720" tIns="22860" bIns="22860" anchor="t">
            <a:spAutoFit/>
          </a:bodyPr>
          <a:lstStyle/>
          <a:p>
            <a:pPr algn="l">
              <a:lnSpc>
                <a:spcPct val="100000"/>
              </a:lnSpc>
            </a:pPr>
            <a:r>
              <a:rPr sz="1000" b="1" i="0" u="none">
                <a:solidFill>
                  <a:srgbClr val="23304D"/>
                </a:solidFill>
                <a:latin typeface="Horas"/>
              </a:rPr>
              <a:t>WHAT WE NEED FROM YOU</a:t>
            </a:r>
          </a:p>
        </p:txBody>
      </p:sp>
      <p:sp>
        <p:nvSpPr>
          <p:cNvPr id="12" name="Rectangle 11"/>
          <p:cNvSpPr/>
          <p:nvPr/>
        </p:nvSpPr>
        <p:spPr>
          <a:xfrm>
            <a:off x="457200" y="1325880"/>
            <a:ext cx="5120640" cy="4114800"/>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481328"/>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Access</a:t>
            </a:r>
          </a:p>
        </p:txBody>
      </p:sp>
      <p:sp>
        <p:nvSpPr>
          <p:cNvPr id="14" name="TextBox 13"/>
          <p:cNvSpPr txBox="1"/>
          <p:nvPr/>
        </p:nvSpPr>
        <p:spPr>
          <a:xfrm>
            <a:off x="2148840" y="1481328"/>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Read-only bank and credit card access, or statements</a:t>
            </a:r>
          </a:p>
        </p:txBody>
      </p:sp>
      <p:sp>
        <p:nvSpPr>
          <p:cNvPr id="15" name="TextBox 14"/>
          <p:cNvSpPr txBox="1"/>
          <p:nvPr/>
        </p:nvSpPr>
        <p:spPr>
          <a:xfrm>
            <a:off x="658368" y="2267712"/>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Software</a:t>
            </a:r>
          </a:p>
        </p:txBody>
      </p:sp>
      <p:sp>
        <p:nvSpPr>
          <p:cNvPr id="16" name="TextBox 15"/>
          <p:cNvSpPr txBox="1"/>
          <p:nvPr/>
        </p:nvSpPr>
        <p:spPr>
          <a:xfrm>
            <a:off x="2148840" y="2267712"/>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QuickBooks Online — we can move you or set it up</a:t>
            </a:r>
          </a:p>
        </p:txBody>
      </p:sp>
      <p:sp>
        <p:nvSpPr>
          <p:cNvPr id="17" name="TextBox 16"/>
          <p:cNvSpPr txBox="1"/>
          <p:nvPr/>
        </p:nvSpPr>
        <p:spPr>
          <a:xfrm>
            <a:off x="658368" y="3054096"/>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History</a:t>
            </a:r>
          </a:p>
        </p:txBody>
      </p:sp>
      <p:sp>
        <p:nvSpPr>
          <p:cNvPr id="18" name="TextBox 17"/>
          <p:cNvSpPr txBox="1"/>
          <p:nvPr/>
        </p:nvSpPr>
        <p:spPr>
          <a:xfrm>
            <a:off x="2148840" y="3054096"/>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Last filed return and current-year books, however messy</a:t>
            </a:r>
          </a:p>
        </p:txBody>
      </p:sp>
      <p:sp>
        <p:nvSpPr>
          <p:cNvPr id="19" name="TextBox 18"/>
          <p:cNvSpPr txBox="1"/>
          <p:nvPr/>
        </p:nvSpPr>
        <p:spPr>
          <a:xfrm>
            <a:off x="658368" y="3840480"/>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A contact</a:t>
            </a:r>
          </a:p>
        </p:txBody>
      </p:sp>
      <p:sp>
        <p:nvSpPr>
          <p:cNvPr id="20" name="TextBox 19"/>
          <p:cNvSpPr txBox="1"/>
          <p:nvPr/>
        </p:nvSpPr>
        <p:spPr>
          <a:xfrm>
            <a:off x="2148840" y="3840480"/>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One person who can answer a question about a transaction</a:t>
            </a:r>
          </a:p>
        </p:txBody>
      </p:sp>
      <p:sp>
        <p:nvSpPr>
          <p:cNvPr id="21" name="TextBox 20"/>
          <p:cNvSpPr txBox="1"/>
          <p:nvPr/>
        </p:nvSpPr>
        <p:spPr>
          <a:xfrm>
            <a:off x="658368" y="4626864"/>
            <a:ext cx="141732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Your time</a:t>
            </a:r>
          </a:p>
        </p:txBody>
      </p:sp>
      <p:sp>
        <p:nvSpPr>
          <p:cNvPr id="22" name="TextBox 21"/>
          <p:cNvSpPr txBox="1"/>
          <p:nvPr/>
        </p:nvSpPr>
        <p:spPr>
          <a:xfrm>
            <a:off x="2148840" y="4626864"/>
            <a:ext cx="3246120" cy="658368"/>
          </a:xfrm>
          <a:prstGeom prst="rect">
            <a:avLst/>
          </a:prstGeom>
          <a:noFill/>
        </p:spPr>
        <p:txBody>
          <a:bodyPr wrap="square" lIns="45720" rIns="45720" tIns="22860" bIns="22860" anchor="t">
            <a:spAutoFit/>
          </a:bodyPr>
          <a:lstStyle/>
          <a:p>
            <a:pPr algn="l">
              <a:lnSpc>
                <a:spcPct val="100000"/>
              </a:lnSpc>
            </a:pPr>
            <a:r>
              <a:rPr sz="1100" b="0" i="0" u="none">
                <a:solidFill>
                  <a:srgbClr val="3A4457"/>
                </a:solidFill>
                <a:latin typeface="DM Sans"/>
              </a:rPr>
              <a:t>About an hour a month once we are running</a:t>
            </a:r>
          </a:p>
        </p:txBody>
      </p:sp>
      <p:sp>
        <p:nvSpPr>
          <p:cNvPr id="23" name="TextBox 22"/>
          <p:cNvSpPr txBox="1"/>
          <p:nvPr/>
        </p:nvSpPr>
        <p:spPr>
          <a:xfrm>
            <a:off x="5943600" y="1051560"/>
            <a:ext cx="5806440" cy="256032"/>
          </a:xfrm>
          <a:prstGeom prst="rect">
            <a:avLst/>
          </a:prstGeom>
          <a:noFill/>
        </p:spPr>
        <p:txBody>
          <a:bodyPr wrap="square" lIns="45720" rIns="45720" tIns="22860" bIns="22860" anchor="t">
            <a:spAutoFit/>
          </a:bodyPr>
          <a:lstStyle/>
          <a:p>
            <a:pPr algn="l">
              <a:lnSpc>
                <a:spcPct val="100000"/>
              </a:lnSpc>
            </a:pPr>
            <a:r>
              <a:rPr sz="1000" b="1" i="0" u="none">
                <a:solidFill>
                  <a:srgbClr val="23304D"/>
                </a:solidFill>
                <a:latin typeface="Horas"/>
              </a:rPr>
              <a:t>STRAIGHT ANSWERS</a:t>
            </a:r>
          </a:p>
        </p:txBody>
      </p:sp>
      <p:sp>
        <p:nvSpPr>
          <p:cNvPr id="24" name="Rectangle 23"/>
          <p:cNvSpPr/>
          <p:nvPr/>
        </p:nvSpPr>
        <p:spPr>
          <a:xfrm>
            <a:off x="5943600" y="13258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0" y="13258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13898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What if our books are a mess?</a:t>
            </a:r>
          </a:p>
        </p:txBody>
      </p:sp>
      <p:sp>
        <p:nvSpPr>
          <p:cNvPr id="27" name="TextBox 26"/>
          <p:cNvSpPr txBox="1"/>
          <p:nvPr/>
        </p:nvSpPr>
        <p:spPr>
          <a:xfrm>
            <a:off x="6172200" y="16550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That is the normal starting point. Clean-up is scoped separately and quoted before we begin — no surprise invoice.</a:t>
            </a:r>
          </a:p>
        </p:txBody>
      </p:sp>
      <p:sp>
        <p:nvSpPr>
          <p:cNvPr id="28" name="Rectangle 27"/>
          <p:cNvSpPr/>
          <p:nvPr/>
        </p:nvSpPr>
        <p:spPr>
          <a:xfrm>
            <a:off x="5943600" y="23545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0" y="23545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0" y="24185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Do we have to switch software?</a:t>
            </a:r>
          </a:p>
        </p:txBody>
      </p:sp>
      <p:sp>
        <p:nvSpPr>
          <p:cNvPr id="31" name="TextBox 30"/>
          <p:cNvSpPr txBox="1"/>
          <p:nvPr/>
        </p:nvSpPr>
        <p:spPr>
          <a:xfrm>
            <a:off x="6172200" y="26837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No. If you are on QuickBooks Online we work in it. If you are on something else we will tell you honestly whether moving is worth it.</a:t>
            </a:r>
          </a:p>
        </p:txBody>
      </p:sp>
      <p:sp>
        <p:nvSpPr>
          <p:cNvPr id="32" name="Rectangle 31"/>
          <p:cNvSpPr/>
          <p:nvPr/>
        </p:nvSpPr>
        <p:spPr>
          <a:xfrm>
            <a:off x="5943600" y="33832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43600" y="33832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34472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Who actually does the work?</a:t>
            </a:r>
          </a:p>
        </p:txBody>
      </p:sp>
      <p:sp>
        <p:nvSpPr>
          <p:cNvPr id="35" name="TextBox 34"/>
          <p:cNvSpPr txBox="1"/>
          <p:nvPr/>
        </p:nvSpPr>
        <p:spPr>
          <a:xfrm>
            <a:off x="6172200" y="37124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A named person on our team, not a rotating queue. You will know who they are.</a:t>
            </a:r>
          </a:p>
        </p:txBody>
      </p:sp>
      <p:sp>
        <p:nvSpPr>
          <p:cNvPr id="36" name="Rectangle 35"/>
          <p:cNvSpPr/>
          <p:nvPr/>
        </p:nvSpPr>
        <p:spPr>
          <a:xfrm>
            <a:off x="5943600" y="4411980"/>
            <a:ext cx="5806440" cy="955547"/>
          </a:xfrm>
          <a:prstGeom prst="rect">
            <a:avLst/>
          </a:prstGeom>
          <a:solidFill>
            <a:srgbClr val="FFFFFF"/>
          </a:solidFill>
          <a:ln w="9525">
            <a:solidFill>
              <a:srgbClr val="DE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0" y="4411980"/>
            <a:ext cx="64008" cy="955547"/>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72200" y="4475988"/>
            <a:ext cx="5440680" cy="274320"/>
          </a:xfrm>
          <a:prstGeom prst="rect">
            <a:avLst/>
          </a:prstGeom>
          <a:noFill/>
        </p:spPr>
        <p:txBody>
          <a:bodyPr wrap="square" lIns="45720" rIns="45720" tIns="22860" bIns="22860" anchor="t">
            <a:spAutoFit/>
          </a:bodyPr>
          <a:lstStyle/>
          <a:p>
            <a:pPr algn="l">
              <a:lnSpc>
                <a:spcPct val="100000"/>
              </a:lnSpc>
            </a:pPr>
            <a:r>
              <a:rPr sz="1150" b="1" i="0" u="none">
                <a:solidFill>
                  <a:srgbClr val="23304D"/>
                </a:solidFill>
                <a:latin typeface="Horas"/>
              </a:rPr>
              <a:t>What happens at tax time?</a:t>
            </a:r>
          </a:p>
        </p:txBody>
      </p:sp>
      <p:sp>
        <p:nvSpPr>
          <p:cNvPr id="39" name="TextBox 38"/>
          <p:cNvSpPr txBox="1"/>
          <p:nvPr/>
        </p:nvSpPr>
        <p:spPr>
          <a:xfrm>
            <a:off x="6172200" y="4741164"/>
            <a:ext cx="5440680" cy="571500"/>
          </a:xfrm>
          <a:prstGeom prst="rect">
            <a:avLst/>
          </a:prstGeom>
          <a:noFill/>
        </p:spPr>
        <p:txBody>
          <a:bodyPr wrap="square" lIns="45720" rIns="45720" tIns="22860" bIns="22860" anchor="t">
            <a:spAutoFit/>
          </a:bodyPr>
          <a:lstStyle/>
          <a:p>
            <a:pPr algn="l">
              <a:lnSpc>
                <a:spcPct val="100000"/>
              </a:lnSpc>
            </a:pPr>
            <a:r>
              <a:rPr sz="1050" b="0" i="0" u="none">
                <a:solidFill>
                  <a:srgbClr val="3A4457"/>
                </a:solidFill>
                <a:latin typeface="DM Sans"/>
              </a:rPr>
              <a:t>Your CPA gets finished books, or we prepare the return ourselves. Either way nothing is reconstructed in March.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64008"/>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0"/>
            <a:ext cx="10881360" cy="731520"/>
          </a:xfrm>
          <a:prstGeom prst="rect">
            <a:avLst/>
          </a:prstGeom>
          <a:noFill/>
        </p:spPr>
        <p:txBody>
          <a:bodyPr wrap="square" lIns="45720" rIns="45720" tIns="22860" bIns="22860" anchor="t">
            <a:spAutoFit/>
          </a:bodyPr>
          <a:lstStyle/>
          <a:p>
            <a:pPr algn="ctr">
              <a:lnSpc>
                <a:spcPct val="100000"/>
              </a:lnSpc>
            </a:pPr>
            <a:r>
              <a:rPr sz="3800" b="1" i="0" u="none">
                <a:solidFill>
                  <a:srgbClr val="FFFFFF"/>
                </a:solidFill>
                <a:latin typeface="Horas"/>
              </a:rPr>
              <a:t>One Call Solves Everything</a:t>
            </a:r>
          </a:p>
        </p:txBody>
      </p:sp>
      <p:sp>
        <p:nvSpPr>
          <p:cNvPr id="5" name="TextBox 4"/>
          <p:cNvSpPr txBox="1"/>
          <p:nvPr/>
        </p:nvSpPr>
        <p:spPr>
          <a:xfrm>
            <a:off x="640080" y="1737360"/>
            <a:ext cx="10881360" cy="411480"/>
          </a:xfrm>
          <a:prstGeom prst="rect">
            <a:avLst/>
          </a:prstGeom>
          <a:noFill/>
        </p:spPr>
        <p:txBody>
          <a:bodyPr wrap="square" lIns="45720" rIns="45720" tIns="22860" bIns="22860" anchor="t">
            <a:spAutoFit/>
          </a:bodyPr>
          <a:lstStyle/>
          <a:p>
            <a:pPr algn="ctr">
              <a:lnSpc>
                <a:spcPct val="100000"/>
              </a:lnSpc>
            </a:pPr>
            <a:r>
              <a:rPr sz="1600" b="0" i="1" u="none">
                <a:solidFill>
                  <a:srgbClr val="DBE4ED"/>
                </a:solidFill>
                <a:latin typeface="DM Sans"/>
              </a:rPr>
              <a:t>Less paperwork. More time for what matters.</a:t>
            </a:r>
          </a:p>
        </p:txBody>
      </p:sp>
      <p:sp>
        <p:nvSpPr>
          <p:cNvPr id="6" name="Rectangle 5"/>
          <p:cNvSpPr/>
          <p:nvPr/>
        </p:nvSpPr>
        <p:spPr>
          <a:xfrm>
            <a:off x="3108960" y="4160520"/>
            <a:ext cx="5943600" cy="1371600"/>
          </a:xfrm>
          <a:prstGeom prst="rect">
            <a:avLst/>
          </a:prstGeom>
          <a:solidFill>
            <a:srgbClr val="788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4315968"/>
            <a:ext cx="5943600" cy="292608"/>
          </a:xfrm>
          <a:prstGeom prst="rect">
            <a:avLst/>
          </a:prstGeom>
          <a:noFill/>
        </p:spPr>
        <p:txBody>
          <a:bodyPr wrap="square" lIns="45720" rIns="45720" tIns="22860" bIns="22860" anchor="t">
            <a:spAutoFit/>
          </a:bodyPr>
          <a:lstStyle/>
          <a:p>
            <a:pPr algn="ctr">
              <a:lnSpc>
                <a:spcPct val="100000"/>
              </a:lnSpc>
            </a:pPr>
            <a:r>
              <a:rPr sz="1100" b="1" i="0" u="none">
                <a:solidFill>
                  <a:srgbClr val="FFFFFF"/>
                </a:solidFill>
                <a:latin typeface="Horas"/>
              </a:rPr>
              <a:t>NEXT STEP</a:t>
            </a:r>
          </a:p>
        </p:txBody>
      </p:sp>
      <p:sp>
        <p:nvSpPr>
          <p:cNvPr id="8" name="TextBox 7"/>
          <p:cNvSpPr txBox="1"/>
          <p:nvPr/>
        </p:nvSpPr>
        <p:spPr>
          <a:xfrm>
            <a:off x="3291840" y="4617720"/>
            <a:ext cx="5577840" cy="777240"/>
          </a:xfrm>
          <a:prstGeom prst="rect">
            <a:avLst/>
          </a:prstGeom>
          <a:noFill/>
        </p:spPr>
        <p:txBody>
          <a:bodyPr wrap="square" lIns="45720" rIns="45720" tIns="22860" bIns="22860" anchor="ctr">
            <a:spAutoFit/>
          </a:bodyPr>
          <a:lstStyle/>
          <a:p>
            <a:pPr algn="ctr">
              <a:lnSpc>
                <a:spcPct val="100000"/>
              </a:lnSpc>
            </a:pPr>
            <a:r>
              <a:rPr sz="1300" b="1" i="0" u="none">
                <a:solidFill>
                  <a:srgbClr val="FFFFFF"/>
                </a:solidFill>
                <a:latin typeface="DM Sans"/>
              </a:rPr>
              <a:t>Say yes and we start the review. It takes under an hour of your time to find out what this is worth.</a:t>
            </a:r>
          </a:p>
        </p:txBody>
      </p:sp>
      <p:sp>
        <p:nvSpPr>
          <p:cNvPr id="9" name="TextBox 8"/>
          <p:cNvSpPr txBox="1"/>
          <p:nvPr/>
        </p:nvSpPr>
        <p:spPr>
          <a:xfrm>
            <a:off x="640080" y="5943600"/>
            <a:ext cx="10881360" cy="457200"/>
          </a:xfrm>
          <a:prstGeom prst="rect">
            <a:avLst/>
          </a:prstGeom>
          <a:noFill/>
        </p:spPr>
        <p:txBody>
          <a:bodyPr wrap="square" lIns="45720" rIns="45720" tIns="22860" bIns="22860" anchor="t">
            <a:spAutoFit/>
          </a:bodyPr>
          <a:lstStyle/>
          <a:p>
            <a:pPr algn="ctr">
              <a:lnSpc>
                <a:spcPct val="100000"/>
              </a:lnSpc>
            </a:pPr>
            <a:r>
              <a:rPr sz="1200" b="0" i="0" u="none">
                <a:solidFill>
                  <a:srgbClr val="FFFFFF"/>
                </a:solidFill>
                <a:latin typeface="DM Sans"/>
              </a:rPr>
              <a:t>David Taylor  ·  380-CALL-A1S (380-225-5217)  ·  david@atlasonesolutions.com  ·  www.AtlasOneSolutions.com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