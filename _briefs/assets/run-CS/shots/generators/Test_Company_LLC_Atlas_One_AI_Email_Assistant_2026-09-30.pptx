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48840"/>
            <a:ext cx="12191695" cy="64008"/>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98448"/>
            <a:ext cx="8229600" cy="274320"/>
          </a:xfrm>
          <a:prstGeom prst="rect">
            <a:avLst/>
          </a:prstGeom>
          <a:noFill/>
        </p:spPr>
        <p:txBody>
          <a:bodyPr wrap="square" lIns="45720" rIns="45720" tIns="22860" bIns="22860" anchor="t">
            <a:spAutoFit/>
          </a:bodyPr>
          <a:lstStyle/>
          <a:p>
            <a:pPr algn="l">
              <a:lnSpc>
                <a:spcPct val="100000"/>
              </a:lnSpc>
            </a:pPr>
            <a:r>
              <a:rPr sz="1100" b="1" i="0" u="none">
                <a:solidFill>
                  <a:srgbClr val="788DE3"/>
                </a:solidFill>
                <a:latin typeface="Horas"/>
              </a:rPr>
              <a:t>TECHNOLOGY &amp; OPERATIONS</a:t>
            </a:r>
          </a:p>
        </p:txBody>
      </p:sp>
      <p:sp>
        <p:nvSpPr>
          <p:cNvPr id="5" name="TextBox 4"/>
          <p:cNvSpPr txBox="1"/>
          <p:nvPr/>
        </p:nvSpPr>
        <p:spPr>
          <a:xfrm>
            <a:off x="640080" y="1600200"/>
            <a:ext cx="10424160" cy="1371600"/>
          </a:xfrm>
          <a:prstGeom prst="rect">
            <a:avLst/>
          </a:prstGeom>
          <a:noFill/>
        </p:spPr>
        <p:txBody>
          <a:bodyPr wrap="square" lIns="45720" rIns="45720" tIns="22860" bIns="22860" anchor="t">
            <a:spAutoFit/>
          </a:bodyPr>
          <a:lstStyle/>
          <a:p>
            <a:pPr algn="l">
              <a:lnSpc>
                <a:spcPct val="100000"/>
              </a:lnSpc>
            </a:pPr>
            <a:r>
              <a:rPr sz="3400" b="1" i="0" u="none">
                <a:solidFill>
                  <a:srgbClr val="FFFFFF"/>
                </a:solidFill>
                <a:latin typeface="Horas"/>
              </a:rPr>
              <a:t>An assistant for your inbox that never sends anything without you.</a:t>
            </a:r>
          </a:p>
        </p:txBody>
      </p:sp>
      <p:sp>
        <p:nvSpPr>
          <p:cNvPr id="6" name="TextBox 5"/>
          <p:cNvSpPr txBox="1"/>
          <p:nvPr/>
        </p:nvSpPr>
        <p:spPr>
          <a:xfrm>
            <a:off x="640080" y="3063240"/>
            <a:ext cx="9692640" cy="1143000"/>
          </a:xfrm>
          <a:prstGeom prst="rect">
            <a:avLst/>
          </a:prstGeom>
          <a:noFill/>
        </p:spPr>
        <p:txBody>
          <a:bodyPr wrap="square" lIns="45720" rIns="45720" tIns="22860" bIns="22860" anchor="t">
            <a:spAutoFit/>
          </a:bodyPr>
          <a:lstStyle/>
          <a:p>
            <a:pPr algn="l">
              <a:lnSpc>
                <a:spcPct val="100000"/>
              </a:lnSpc>
            </a:pPr>
            <a:r>
              <a:rPr sz="1500" b="0" i="0" u="none">
                <a:solidFill>
                  <a:srgbClr val="DBE4ED"/>
                </a:solidFill>
                <a:latin typeface="DM Sans"/>
              </a:rPr>
              <a:t>A private AI assistant installed inside your own Microsoft 365 or Google Workspace. It reads what comes in, sorts what matters, drafts your replies and files your attachments — and you approve every word before it leaves.</a:t>
            </a:r>
          </a:p>
        </p:txBody>
      </p:sp>
      <p:sp>
        <p:nvSpPr>
          <p:cNvPr id="7" name="TextBox 6"/>
          <p:cNvSpPr txBox="1"/>
          <p:nvPr/>
        </p:nvSpPr>
        <p:spPr>
          <a:xfrm>
            <a:off x="640080" y="5029200"/>
            <a:ext cx="10058400" cy="274320"/>
          </a:xfrm>
          <a:prstGeom prst="rect">
            <a:avLst/>
          </a:prstGeom>
          <a:noFill/>
        </p:spPr>
        <p:txBody>
          <a:bodyPr wrap="square" lIns="45720" rIns="45720" tIns="22860" bIns="22860" anchor="t">
            <a:spAutoFit/>
          </a:bodyPr>
          <a:lstStyle/>
          <a:p>
            <a:pPr algn="l">
              <a:lnSpc>
                <a:spcPct val="100000"/>
              </a:lnSpc>
            </a:pPr>
            <a:r>
              <a:rPr sz="1000" b="1" i="0" u="none">
                <a:solidFill>
                  <a:srgbClr val="788DE3"/>
                </a:solidFill>
                <a:latin typeface="Horas"/>
              </a:rPr>
              <a:t>PREPARED FOR</a:t>
            </a:r>
          </a:p>
        </p:txBody>
      </p:sp>
      <p:sp>
        <p:nvSpPr>
          <p:cNvPr id="8" name="TextBox 7"/>
          <p:cNvSpPr txBox="1"/>
          <p:nvPr/>
        </p:nvSpPr>
        <p:spPr>
          <a:xfrm>
            <a:off x="640080" y="5285232"/>
            <a:ext cx="10058400" cy="384048"/>
          </a:xfrm>
          <a:prstGeom prst="rect">
            <a:avLst/>
          </a:prstGeom>
          <a:noFill/>
        </p:spPr>
        <p:txBody>
          <a:bodyPr wrap="square" lIns="45720" rIns="45720" tIns="22860" bIns="22860" anchor="t">
            <a:spAutoFit/>
          </a:bodyPr>
          <a:lstStyle/>
          <a:p>
            <a:pPr algn="l">
              <a:lnSpc>
                <a:spcPct val="100000"/>
              </a:lnSpc>
            </a:pPr>
            <a:r>
              <a:rPr sz="1700" b="1" i="0" u="none">
                <a:solidFill>
                  <a:srgbClr val="FFFFFF"/>
                </a:solidFill>
                <a:latin typeface="Horas"/>
              </a:rPr>
              <a:t>Test Company LLC</a:t>
            </a:r>
          </a:p>
        </p:txBody>
      </p:sp>
      <p:sp>
        <p:nvSpPr>
          <p:cNvPr id="9" name="TextBox 8"/>
          <p:cNvSpPr txBox="1"/>
          <p:nvPr/>
        </p:nvSpPr>
        <p:spPr>
          <a:xfrm>
            <a:off x="640080" y="5897880"/>
            <a:ext cx="10058400" cy="274320"/>
          </a:xfrm>
          <a:prstGeom prst="rect">
            <a:avLst/>
          </a:prstGeom>
          <a:noFill/>
        </p:spPr>
        <p:txBody>
          <a:bodyPr wrap="square" lIns="45720" rIns="45720" tIns="22860" bIns="22860" anchor="t">
            <a:spAutoFit/>
          </a:bodyPr>
          <a:lstStyle/>
          <a:p>
            <a:pPr algn="l">
              <a:lnSpc>
                <a:spcPct val="100000"/>
              </a:lnSpc>
            </a:pPr>
            <a:r>
              <a:rPr sz="1000" b="1" i="0" u="none">
                <a:solidFill>
                  <a:srgbClr val="788DE3"/>
                </a:solidFill>
                <a:latin typeface="Horas"/>
              </a:rPr>
              <a:t>PRESENTED BY</a:t>
            </a:r>
          </a:p>
        </p:txBody>
      </p:sp>
      <p:sp>
        <p:nvSpPr>
          <p:cNvPr id="10" name="TextBox 9"/>
          <p:cNvSpPr txBox="1"/>
          <p:nvPr/>
        </p:nvSpPr>
        <p:spPr>
          <a:xfrm>
            <a:off x="640080" y="6153912"/>
            <a:ext cx="10058400" cy="274320"/>
          </a:xfrm>
          <a:prstGeom prst="rect">
            <a:avLst/>
          </a:prstGeom>
          <a:noFill/>
        </p:spPr>
        <p:txBody>
          <a:bodyPr wrap="square" lIns="45720" rIns="45720" tIns="22860" bIns="22860" anchor="t">
            <a:spAutoFit/>
          </a:bodyPr>
          <a:lstStyle/>
          <a:p>
            <a:pPr algn="l">
              <a:lnSpc>
                <a:spcPct val="100000"/>
              </a:lnSpc>
            </a:pPr>
            <a:r>
              <a:rPr sz="1150" b="0" i="0" u="none">
                <a:solidFill>
                  <a:srgbClr val="FFFFFF"/>
                </a:solidFill>
                <a:latin typeface="DM Sans"/>
              </a:rPr>
              <a:t>David Taylor  ·  380-CALL-A1S (380-225-5217)  ·  david@atlasonesolutions.com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515600" cy="411480"/>
          </a:xfrm>
          <a:prstGeom prst="rect">
            <a:avLst/>
          </a:prstGeom>
          <a:noFill/>
        </p:spPr>
        <p:txBody>
          <a:bodyPr wrap="square" lIns="45720" rIns="45720" tIns="22860" bIns="22860" anchor="t">
            <a:spAutoFit/>
          </a:bodyPr>
          <a:lstStyle/>
          <a:p>
            <a:pPr algn="l">
              <a:lnSpc>
                <a:spcPct val="100000"/>
              </a:lnSpc>
            </a:pPr>
            <a:r>
              <a:rPr sz="2200" b="1" i="0" u="none">
                <a:solidFill>
                  <a:srgbClr val="FFFFFF"/>
                </a:solidFill>
                <a:latin typeface="Horas"/>
              </a:rPr>
              <a:t>THE PROBLEM</a:t>
            </a:r>
          </a:p>
        </p:txBody>
      </p:sp>
      <p:sp>
        <p:nvSpPr>
          <p:cNvPr id="6" name="TextBox 5"/>
          <p:cNvSpPr txBox="1"/>
          <p:nvPr/>
        </p:nvSpPr>
        <p:spPr>
          <a:xfrm>
            <a:off x="411480" y="457200"/>
            <a:ext cx="10515600" cy="274320"/>
          </a:xfrm>
          <a:prstGeom prst="rect">
            <a:avLst/>
          </a:prstGeom>
          <a:noFill/>
        </p:spPr>
        <p:txBody>
          <a:bodyPr wrap="square" lIns="45720" rIns="45720" tIns="22860" bIns="22860" anchor="t">
            <a:spAutoFit/>
          </a:bodyPr>
          <a:lstStyle/>
          <a:p>
            <a:pPr algn="l">
              <a:lnSpc>
                <a:spcPct val="100000"/>
              </a:lnSpc>
            </a:pPr>
            <a:r>
              <a:rPr sz="1100" b="0" i="1" u="none">
                <a:solidFill>
                  <a:srgbClr val="DBE4ED"/>
                </a:solidFill>
                <a:latin typeface="DM Sans"/>
              </a:rPr>
              <a:t>Why this exists</a:t>
            </a:r>
          </a:p>
        </p:txBody>
      </p:sp>
      <p:sp>
        <p:nvSpPr>
          <p:cNvPr id="7" name="Rectangle 6"/>
          <p:cNvSpPr/>
          <p:nvPr/>
        </p:nvSpPr>
        <p:spPr>
          <a:xfrm>
            <a:off x="0" y="6519672"/>
            <a:ext cx="12191695" cy="45720"/>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65392"/>
            <a:ext cx="12191695" cy="292608"/>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592824"/>
            <a:ext cx="7772400" cy="256032"/>
          </a:xfrm>
          <a:prstGeom prst="rect">
            <a:avLst/>
          </a:prstGeom>
          <a:noFill/>
        </p:spPr>
        <p:txBody>
          <a:bodyPr wrap="square" lIns="45720" rIns="45720" tIns="22860" bIns="22860" anchor="t">
            <a:spAutoFit/>
          </a:bodyPr>
          <a:lstStyle/>
          <a:p>
            <a:pPr algn="l">
              <a:lnSpc>
                <a:spcPct val="100000"/>
              </a:lnSpc>
            </a:pPr>
            <a:r>
              <a:rPr sz="900" b="0" i="0" u="none">
                <a:solidFill>
                  <a:srgbClr val="FFFFFF"/>
                </a:solidFill>
                <a:latin typeface="DM Sans"/>
              </a:rPr>
              <a:t>Atlas One  ·  Test Company LLC  ·  Technology &amp; Operations</a:t>
            </a:r>
          </a:p>
        </p:txBody>
      </p:sp>
      <p:sp>
        <p:nvSpPr>
          <p:cNvPr id="10" name="TextBox 9"/>
          <p:cNvSpPr txBox="1"/>
          <p:nvPr/>
        </p:nvSpPr>
        <p:spPr>
          <a:xfrm>
            <a:off x="10058400" y="6592824"/>
            <a:ext cx="1737360" cy="256032"/>
          </a:xfrm>
          <a:prstGeom prst="rect">
            <a:avLst/>
          </a:prstGeom>
          <a:noFill/>
        </p:spPr>
        <p:txBody>
          <a:bodyPr wrap="square" lIns="45720" rIns="45720" tIns="22860" bIns="22860" anchor="t">
            <a:spAutoFit/>
          </a:bodyPr>
          <a:lstStyle/>
          <a:p>
            <a:pPr algn="r">
              <a:lnSpc>
                <a:spcPct val="100000"/>
              </a:lnSpc>
            </a:pPr>
            <a:r>
              <a:rPr sz="900" b="0" i="1" u="none">
                <a:solidFill>
                  <a:srgbClr val="DBE4ED"/>
                </a:solidFill>
                <a:latin typeface="DM Sans"/>
              </a:rPr>
              <a:t>Less paperwork. More time for what matters.</a:t>
            </a:r>
          </a:p>
        </p:txBody>
      </p:sp>
      <p:sp>
        <p:nvSpPr>
          <p:cNvPr id="11" name="Rectangle 10"/>
          <p:cNvSpPr/>
          <p:nvPr/>
        </p:nvSpPr>
        <p:spPr>
          <a:xfrm>
            <a:off x="822960" y="1554480"/>
            <a:ext cx="10515600" cy="2286000"/>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1828800"/>
            <a:ext cx="9784080" cy="1005840"/>
          </a:xfrm>
          <a:prstGeom prst="rect">
            <a:avLst/>
          </a:prstGeom>
          <a:noFill/>
        </p:spPr>
        <p:txBody>
          <a:bodyPr wrap="square" lIns="45720" rIns="45720" tIns="22860" bIns="22860" anchor="ctr">
            <a:spAutoFit/>
          </a:bodyPr>
          <a:lstStyle/>
          <a:p>
            <a:pPr algn="l">
              <a:lnSpc>
                <a:spcPct val="100000"/>
              </a:lnSpc>
            </a:pPr>
            <a:r>
              <a:rPr sz="2200" b="1" i="0" u="none">
                <a:solidFill>
                  <a:srgbClr val="FFFFFF"/>
                </a:solidFill>
                <a:latin typeface="Horas"/>
              </a:rPr>
              <a:t>The average owner spends a third of the workday in email. Most of it is not decisions — it is sorting, chasing, filing and retyping the same four replies.</a:t>
            </a:r>
          </a:p>
        </p:txBody>
      </p:sp>
      <p:sp>
        <p:nvSpPr>
          <p:cNvPr id="13" name="TextBox 12"/>
          <p:cNvSpPr txBox="1"/>
          <p:nvPr/>
        </p:nvSpPr>
        <p:spPr>
          <a:xfrm>
            <a:off x="1188720" y="2834640"/>
            <a:ext cx="9784080" cy="868680"/>
          </a:xfrm>
          <a:prstGeom prst="rect">
            <a:avLst/>
          </a:prstGeom>
          <a:noFill/>
        </p:spPr>
        <p:txBody>
          <a:bodyPr wrap="square" lIns="45720" rIns="45720" tIns="22860" bIns="22860" anchor="ctr">
            <a:spAutoFit/>
          </a:bodyPr>
          <a:lstStyle/>
          <a:p>
            <a:pPr algn="l">
              <a:lnSpc>
                <a:spcPct val="100000"/>
              </a:lnSpc>
            </a:pPr>
            <a:r>
              <a:rPr sz="1300" b="0" i="0" u="none">
                <a:solidFill>
                  <a:srgbClr val="DBE4ED"/>
                </a:solidFill>
                <a:latin typeface="DM Sans"/>
              </a:rPr>
              <a:t>A full-time executive assistant runs $5,000 or more a month. Most businesses your size cannot justify one, so the work lands on the owner. This is the part of that job that can be handled without a hire.</a:t>
            </a:r>
          </a:p>
        </p:txBody>
      </p:sp>
      <p:sp>
        <p:nvSpPr>
          <p:cNvPr id="14" name="Rectangle 13"/>
          <p:cNvSpPr/>
          <p:nvPr/>
        </p:nvSpPr>
        <p:spPr>
          <a:xfrm>
            <a:off x="822960" y="4160520"/>
            <a:ext cx="10515600" cy="8229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434840"/>
            <a:ext cx="10515600" cy="457200"/>
          </a:xfrm>
          <a:prstGeom prst="rect">
            <a:avLst/>
          </a:prstGeom>
          <a:noFill/>
        </p:spPr>
        <p:txBody>
          <a:bodyPr wrap="square" lIns="45720" rIns="45720" tIns="22860" bIns="22860" anchor="t">
            <a:spAutoFit/>
          </a:bodyPr>
          <a:lstStyle/>
          <a:p>
            <a:pPr algn="ctr">
              <a:lnSpc>
                <a:spcPct val="100000"/>
              </a:lnSpc>
            </a:pPr>
            <a:r>
              <a:rPr sz="1700" b="1" i="0" u="none">
                <a:solidFill>
                  <a:srgbClr val="23304D"/>
                </a:solidFill>
                <a:latin typeface="Horas"/>
              </a:rPr>
              <a:t>You keep the send button</a:t>
            </a:r>
          </a:p>
        </p:txBody>
      </p:sp>
      <p:sp>
        <p:nvSpPr>
          <p:cNvPr id="16" name="TextBox 15"/>
          <p:cNvSpPr txBox="1"/>
          <p:nvPr/>
        </p:nvSpPr>
        <p:spPr>
          <a:xfrm>
            <a:off x="1463040" y="4892040"/>
            <a:ext cx="9235440" cy="914400"/>
          </a:xfrm>
          <a:prstGeom prst="rect">
            <a:avLst/>
          </a:prstGeom>
          <a:noFill/>
        </p:spPr>
        <p:txBody>
          <a:bodyPr wrap="square" lIns="45720" rIns="45720" tIns="22860" bIns="22860" anchor="t">
            <a:spAutoFit/>
          </a:bodyPr>
          <a:lstStyle/>
          <a:p>
            <a:pPr algn="ctr">
              <a:lnSpc>
                <a:spcPct val="100000"/>
              </a:lnSpc>
            </a:pPr>
            <a:r>
              <a:rPr sz="1250" b="0" i="0" u="none">
                <a:solidFill>
                  <a:srgbClr val="3A4457"/>
                </a:solidFill>
                <a:latin typeface="DM Sans"/>
              </a:rPr>
              <a:t>The assistant classifies, drafts and files. It does not send, does not delete, and does not commit to anything on your behalf. Every outbound message waits in an approval queue until you release it, and you can edit any draft first.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515600" cy="411480"/>
          </a:xfrm>
          <a:prstGeom prst="rect">
            <a:avLst/>
          </a:prstGeom>
          <a:noFill/>
        </p:spPr>
        <p:txBody>
          <a:bodyPr wrap="square" lIns="45720" rIns="45720" tIns="22860" bIns="22860" anchor="t">
            <a:spAutoFit/>
          </a:bodyPr>
          <a:lstStyle/>
          <a:p>
            <a:pPr algn="l">
              <a:lnSpc>
                <a:spcPct val="100000"/>
              </a:lnSpc>
            </a:pPr>
            <a:r>
              <a:rPr sz="2200" b="1" i="0" u="none">
                <a:solidFill>
                  <a:srgbClr val="FFFFFF"/>
                </a:solidFill>
                <a:latin typeface="Horas"/>
              </a:rPr>
              <a:t>WHAT IT DOES</a:t>
            </a:r>
          </a:p>
        </p:txBody>
      </p:sp>
      <p:sp>
        <p:nvSpPr>
          <p:cNvPr id="6" name="TextBox 5"/>
          <p:cNvSpPr txBox="1"/>
          <p:nvPr/>
        </p:nvSpPr>
        <p:spPr>
          <a:xfrm>
            <a:off x="411480" y="457200"/>
            <a:ext cx="10515600" cy="274320"/>
          </a:xfrm>
          <a:prstGeom prst="rect">
            <a:avLst/>
          </a:prstGeom>
          <a:noFill/>
        </p:spPr>
        <p:txBody>
          <a:bodyPr wrap="square" lIns="45720" rIns="45720" tIns="22860" bIns="22860" anchor="t">
            <a:spAutoFit/>
          </a:bodyPr>
          <a:lstStyle/>
          <a:p>
            <a:pPr algn="l">
              <a:lnSpc>
                <a:spcPct val="100000"/>
              </a:lnSpc>
            </a:pPr>
            <a:r>
              <a:rPr sz="1100" b="0" i="1" u="none">
                <a:solidFill>
                  <a:srgbClr val="DBE4ED"/>
                </a:solidFill>
                <a:latin typeface="DM Sans"/>
              </a:rPr>
              <a:t>Four jobs, running against your business</a:t>
            </a:r>
          </a:p>
        </p:txBody>
      </p:sp>
      <p:sp>
        <p:nvSpPr>
          <p:cNvPr id="7" name="Rectangle 6"/>
          <p:cNvSpPr/>
          <p:nvPr/>
        </p:nvSpPr>
        <p:spPr>
          <a:xfrm>
            <a:off x="0" y="6519672"/>
            <a:ext cx="12191695" cy="45720"/>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65392"/>
            <a:ext cx="12191695" cy="292608"/>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592824"/>
            <a:ext cx="7772400" cy="256032"/>
          </a:xfrm>
          <a:prstGeom prst="rect">
            <a:avLst/>
          </a:prstGeom>
          <a:noFill/>
        </p:spPr>
        <p:txBody>
          <a:bodyPr wrap="square" lIns="45720" rIns="45720" tIns="22860" bIns="22860" anchor="t">
            <a:spAutoFit/>
          </a:bodyPr>
          <a:lstStyle/>
          <a:p>
            <a:pPr algn="l">
              <a:lnSpc>
                <a:spcPct val="100000"/>
              </a:lnSpc>
            </a:pPr>
            <a:r>
              <a:rPr sz="900" b="0" i="0" u="none">
                <a:solidFill>
                  <a:srgbClr val="FFFFFF"/>
                </a:solidFill>
                <a:latin typeface="DM Sans"/>
              </a:rPr>
              <a:t>Atlas One  ·  Test Company LLC  ·  Technology &amp; Operations</a:t>
            </a:r>
          </a:p>
        </p:txBody>
      </p:sp>
      <p:sp>
        <p:nvSpPr>
          <p:cNvPr id="10" name="TextBox 9"/>
          <p:cNvSpPr txBox="1"/>
          <p:nvPr/>
        </p:nvSpPr>
        <p:spPr>
          <a:xfrm>
            <a:off x="10058400" y="6592824"/>
            <a:ext cx="1737360" cy="256032"/>
          </a:xfrm>
          <a:prstGeom prst="rect">
            <a:avLst/>
          </a:prstGeom>
          <a:noFill/>
        </p:spPr>
        <p:txBody>
          <a:bodyPr wrap="square" lIns="45720" rIns="45720" tIns="22860" bIns="22860" anchor="t">
            <a:spAutoFit/>
          </a:bodyPr>
          <a:lstStyle/>
          <a:p>
            <a:pPr algn="r">
              <a:lnSpc>
                <a:spcPct val="100000"/>
              </a:lnSpc>
            </a:pPr>
            <a:r>
              <a:rPr sz="900" b="0" i="1" u="none">
                <a:solidFill>
                  <a:srgbClr val="DBE4ED"/>
                </a:solidFill>
                <a:latin typeface="DM Sans"/>
              </a:rPr>
              <a:t>Less paperwork. More time for what matters.</a:t>
            </a:r>
          </a:p>
        </p:txBody>
      </p:sp>
      <p:sp>
        <p:nvSpPr>
          <p:cNvPr id="11" name="Rectangle 10"/>
          <p:cNvSpPr/>
          <p:nvPr/>
        </p:nvSpPr>
        <p:spPr>
          <a:xfrm>
            <a:off x="457200" y="1234440"/>
            <a:ext cx="5577840" cy="2194560"/>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234440"/>
            <a:ext cx="5577840" cy="8229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490472"/>
            <a:ext cx="5029200" cy="274320"/>
          </a:xfrm>
          <a:prstGeom prst="rect">
            <a:avLst/>
          </a:prstGeom>
          <a:noFill/>
        </p:spPr>
        <p:txBody>
          <a:bodyPr wrap="square" lIns="45720" rIns="45720" tIns="22860" bIns="22860" anchor="t">
            <a:spAutoFit/>
          </a:bodyPr>
          <a:lstStyle/>
          <a:p>
            <a:pPr algn="l">
              <a:lnSpc>
                <a:spcPct val="100000"/>
              </a:lnSpc>
            </a:pPr>
            <a:r>
              <a:rPr sz="1100" b="1" i="0" u="none">
                <a:solidFill>
                  <a:srgbClr val="788DE3"/>
                </a:solidFill>
                <a:latin typeface="Horas"/>
              </a:rPr>
              <a:t>01</a:t>
            </a:r>
          </a:p>
        </p:txBody>
      </p:sp>
      <p:sp>
        <p:nvSpPr>
          <p:cNvPr id="14" name="TextBox 13"/>
          <p:cNvSpPr txBox="1"/>
          <p:nvPr/>
        </p:nvSpPr>
        <p:spPr>
          <a:xfrm>
            <a:off x="731520" y="1801368"/>
            <a:ext cx="5029200" cy="384048"/>
          </a:xfrm>
          <a:prstGeom prst="rect">
            <a:avLst/>
          </a:prstGeom>
          <a:noFill/>
        </p:spPr>
        <p:txBody>
          <a:bodyPr wrap="square" lIns="45720" rIns="45720" tIns="22860" bIns="22860" anchor="t">
            <a:spAutoFit/>
          </a:bodyPr>
          <a:lstStyle/>
          <a:p>
            <a:pPr algn="l">
              <a:lnSpc>
                <a:spcPct val="100000"/>
              </a:lnSpc>
            </a:pPr>
            <a:r>
              <a:rPr sz="1800" b="1" i="0" u="none">
                <a:solidFill>
                  <a:srgbClr val="23304D"/>
                </a:solidFill>
                <a:latin typeface="Horas"/>
              </a:rPr>
              <a:t>Triage</a:t>
            </a:r>
          </a:p>
        </p:txBody>
      </p:sp>
      <p:sp>
        <p:nvSpPr>
          <p:cNvPr id="15" name="TextBox 14"/>
          <p:cNvSpPr txBox="1"/>
          <p:nvPr/>
        </p:nvSpPr>
        <p:spPr>
          <a:xfrm>
            <a:off x="731520" y="2240280"/>
            <a:ext cx="5029200" cy="1005840"/>
          </a:xfrm>
          <a:prstGeom prst="rect">
            <a:avLst/>
          </a:prstGeom>
          <a:noFill/>
        </p:spPr>
        <p:txBody>
          <a:bodyPr wrap="square" lIns="45720" rIns="45720" tIns="22860" bIns="22860" anchor="t">
            <a:spAutoFit/>
          </a:bodyPr>
          <a:lstStyle/>
          <a:p>
            <a:pPr algn="l">
              <a:lnSpc>
                <a:spcPct val="100000"/>
              </a:lnSpc>
            </a:pPr>
            <a:r>
              <a:rPr sz="1200" b="0" i="0" u="none">
                <a:solidFill>
                  <a:srgbClr val="3A4457"/>
                </a:solidFill>
                <a:latin typeface="DM Sans"/>
              </a:rPr>
              <a:t>Every message read and sorted as it arrives — needs you, waiting on approval, or noise. You open a queue, not an inbox.</a:t>
            </a:r>
          </a:p>
        </p:txBody>
      </p:sp>
      <p:sp>
        <p:nvSpPr>
          <p:cNvPr id="16" name="Rectangle 15"/>
          <p:cNvSpPr/>
          <p:nvPr/>
        </p:nvSpPr>
        <p:spPr>
          <a:xfrm>
            <a:off x="6263640" y="1234440"/>
            <a:ext cx="5577840" cy="2194560"/>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234440"/>
            <a:ext cx="5577840" cy="8229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1490472"/>
            <a:ext cx="5029200" cy="274320"/>
          </a:xfrm>
          <a:prstGeom prst="rect">
            <a:avLst/>
          </a:prstGeom>
          <a:noFill/>
        </p:spPr>
        <p:txBody>
          <a:bodyPr wrap="square" lIns="45720" rIns="45720" tIns="22860" bIns="22860" anchor="t">
            <a:spAutoFit/>
          </a:bodyPr>
          <a:lstStyle/>
          <a:p>
            <a:pPr algn="l">
              <a:lnSpc>
                <a:spcPct val="100000"/>
              </a:lnSpc>
            </a:pPr>
            <a:r>
              <a:rPr sz="1100" b="1" i="0" u="none">
                <a:solidFill>
                  <a:srgbClr val="788DE3"/>
                </a:solidFill>
                <a:latin typeface="Horas"/>
              </a:rPr>
              <a:t>02</a:t>
            </a:r>
          </a:p>
        </p:txBody>
      </p:sp>
      <p:sp>
        <p:nvSpPr>
          <p:cNvPr id="19" name="TextBox 18"/>
          <p:cNvSpPr txBox="1"/>
          <p:nvPr/>
        </p:nvSpPr>
        <p:spPr>
          <a:xfrm>
            <a:off x="6537960" y="1801368"/>
            <a:ext cx="5029200" cy="384048"/>
          </a:xfrm>
          <a:prstGeom prst="rect">
            <a:avLst/>
          </a:prstGeom>
          <a:noFill/>
        </p:spPr>
        <p:txBody>
          <a:bodyPr wrap="square" lIns="45720" rIns="45720" tIns="22860" bIns="22860" anchor="t">
            <a:spAutoFit/>
          </a:bodyPr>
          <a:lstStyle/>
          <a:p>
            <a:pPr algn="l">
              <a:lnSpc>
                <a:spcPct val="100000"/>
              </a:lnSpc>
            </a:pPr>
            <a:r>
              <a:rPr sz="1800" b="1" i="0" u="none">
                <a:solidFill>
                  <a:srgbClr val="23304D"/>
                </a:solidFill>
                <a:latin typeface="Horas"/>
              </a:rPr>
              <a:t>Draft</a:t>
            </a:r>
          </a:p>
        </p:txBody>
      </p:sp>
      <p:sp>
        <p:nvSpPr>
          <p:cNvPr id="20" name="TextBox 19"/>
          <p:cNvSpPr txBox="1"/>
          <p:nvPr/>
        </p:nvSpPr>
        <p:spPr>
          <a:xfrm>
            <a:off x="6537960" y="2240280"/>
            <a:ext cx="5029200" cy="1005840"/>
          </a:xfrm>
          <a:prstGeom prst="rect">
            <a:avLst/>
          </a:prstGeom>
          <a:noFill/>
        </p:spPr>
        <p:txBody>
          <a:bodyPr wrap="square" lIns="45720" rIns="45720" tIns="22860" bIns="22860" anchor="t">
            <a:spAutoFit/>
          </a:bodyPr>
          <a:lstStyle/>
          <a:p>
            <a:pPr algn="l">
              <a:lnSpc>
                <a:spcPct val="100000"/>
              </a:lnSpc>
            </a:pPr>
            <a:r>
              <a:rPr sz="1200" b="0" i="0" u="none">
                <a:solidFill>
                  <a:srgbClr val="3A4457"/>
                </a:solidFill>
                <a:latin typeface="DM Sans"/>
              </a:rPr>
              <a:t>Replies written in your voice, using your business context, held for your approval. Nothing is ever sent automatically.</a:t>
            </a:r>
          </a:p>
        </p:txBody>
      </p:sp>
      <p:sp>
        <p:nvSpPr>
          <p:cNvPr id="21" name="Rectangle 20"/>
          <p:cNvSpPr/>
          <p:nvPr/>
        </p:nvSpPr>
        <p:spPr>
          <a:xfrm>
            <a:off x="457200" y="3611880"/>
            <a:ext cx="5577840" cy="2194560"/>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611880"/>
            <a:ext cx="5577840" cy="8229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867912"/>
            <a:ext cx="5029200" cy="274320"/>
          </a:xfrm>
          <a:prstGeom prst="rect">
            <a:avLst/>
          </a:prstGeom>
          <a:noFill/>
        </p:spPr>
        <p:txBody>
          <a:bodyPr wrap="square" lIns="45720" rIns="45720" tIns="22860" bIns="22860" anchor="t">
            <a:spAutoFit/>
          </a:bodyPr>
          <a:lstStyle/>
          <a:p>
            <a:pPr algn="l">
              <a:lnSpc>
                <a:spcPct val="100000"/>
              </a:lnSpc>
            </a:pPr>
            <a:r>
              <a:rPr sz="1100" b="1" i="0" u="none">
                <a:solidFill>
                  <a:srgbClr val="788DE3"/>
                </a:solidFill>
                <a:latin typeface="Horas"/>
              </a:rPr>
              <a:t>03</a:t>
            </a:r>
          </a:p>
        </p:txBody>
      </p:sp>
      <p:sp>
        <p:nvSpPr>
          <p:cNvPr id="24" name="TextBox 23"/>
          <p:cNvSpPr txBox="1"/>
          <p:nvPr/>
        </p:nvSpPr>
        <p:spPr>
          <a:xfrm>
            <a:off x="731520" y="4178808"/>
            <a:ext cx="5029200" cy="384048"/>
          </a:xfrm>
          <a:prstGeom prst="rect">
            <a:avLst/>
          </a:prstGeom>
          <a:noFill/>
        </p:spPr>
        <p:txBody>
          <a:bodyPr wrap="square" lIns="45720" rIns="45720" tIns="22860" bIns="22860" anchor="t">
            <a:spAutoFit/>
          </a:bodyPr>
          <a:lstStyle/>
          <a:p>
            <a:pPr algn="l">
              <a:lnSpc>
                <a:spcPct val="100000"/>
              </a:lnSpc>
            </a:pPr>
            <a:r>
              <a:rPr sz="1800" b="1" i="0" u="none">
                <a:solidFill>
                  <a:srgbClr val="23304D"/>
                </a:solidFill>
                <a:latin typeface="Horas"/>
              </a:rPr>
              <a:t>File</a:t>
            </a:r>
          </a:p>
        </p:txBody>
      </p:sp>
      <p:sp>
        <p:nvSpPr>
          <p:cNvPr id="25" name="TextBox 24"/>
          <p:cNvSpPr txBox="1"/>
          <p:nvPr/>
        </p:nvSpPr>
        <p:spPr>
          <a:xfrm>
            <a:off x="731520" y="4617720"/>
            <a:ext cx="5029200" cy="1005840"/>
          </a:xfrm>
          <a:prstGeom prst="rect">
            <a:avLst/>
          </a:prstGeom>
          <a:noFill/>
        </p:spPr>
        <p:txBody>
          <a:bodyPr wrap="square" lIns="45720" rIns="45720" tIns="22860" bIns="22860" anchor="t">
            <a:spAutoFit/>
          </a:bodyPr>
          <a:lstStyle/>
          <a:p>
            <a:pPr algn="l">
              <a:lnSpc>
                <a:spcPct val="100000"/>
              </a:lnSpc>
            </a:pPr>
            <a:r>
              <a:rPr sz="1200" b="0" i="0" u="none">
                <a:solidFill>
                  <a:srgbClr val="3A4457"/>
                </a:solidFill>
                <a:latin typeface="DM Sans"/>
              </a:rPr>
              <a:t>Attachments recognized and filed to the right client or project folder, so the document is where you would look for it.</a:t>
            </a:r>
          </a:p>
        </p:txBody>
      </p:sp>
      <p:sp>
        <p:nvSpPr>
          <p:cNvPr id="26" name="Rectangle 25"/>
          <p:cNvSpPr/>
          <p:nvPr/>
        </p:nvSpPr>
        <p:spPr>
          <a:xfrm>
            <a:off x="6263640" y="3611880"/>
            <a:ext cx="5577840" cy="2194560"/>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3640" y="3611880"/>
            <a:ext cx="5577840" cy="8229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3867912"/>
            <a:ext cx="5029200" cy="274320"/>
          </a:xfrm>
          <a:prstGeom prst="rect">
            <a:avLst/>
          </a:prstGeom>
          <a:noFill/>
        </p:spPr>
        <p:txBody>
          <a:bodyPr wrap="square" lIns="45720" rIns="45720" tIns="22860" bIns="22860" anchor="t">
            <a:spAutoFit/>
          </a:bodyPr>
          <a:lstStyle/>
          <a:p>
            <a:pPr algn="l">
              <a:lnSpc>
                <a:spcPct val="100000"/>
              </a:lnSpc>
            </a:pPr>
            <a:r>
              <a:rPr sz="1100" b="1" i="0" u="none">
                <a:solidFill>
                  <a:srgbClr val="788DE3"/>
                </a:solidFill>
                <a:latin typeface="Horas"/>
              </a:rPr>
              <a:t>04</a:t>
            </a:r>
          </a:p>
        </p:txBody>
      </p:sp>
      <p:sp>
        <p:nvSpPr>
          <p:cNvPr id="29" name="TextBox 28"/>
          <p:cNvSpPr txBox="1"/>
          <p:nvPr/>
        </p:nvSpPr>
        <p:spPr>
          <a:xfrm>
            <a:off x="6537960" y="4178808"/>
            <a:ext cx="5029200" cy="384048"/>
          </a:xfrm>
          <a:prstGeom prst="rect">
            <a:avLst/>
          </a:prstGeom>
          <a:noFill/>
        </p:spPr>
        <p:txBody>
          <a:bodyPr wrap="square" lIns="45720" rIns="45720" tIns="22860" bIns="22860" anchor="t">
            <a:spAutoFit/>
          </a:bodyPr>
          <a:lstStyle/>
          <a:p>
            <a:pPr algn="l">
              <a:lnSpc>
                <a:spcPct val="100000"/>
              </a:lnSpc>
            </a:pPr>
            <a:r>
              <a:rPr sz="1800" b="1" i="0" u="none">
                <a:solidFill>
                  <a:srgbClr val="23304D"/>
                </a:solidFill>
                <a:latin typeface="Horas"/>
              </a:rPr>
              <a:t>Report</a:t>
            </a:r>
          </a:p>
        </p:txBody>
      </p:sp>
      <p:sp>
        <p:nvSpPr>
          <p:cNvPr id="30" name="TextBox 29"/>
          <p:cNvSpPr txBox="1"/>
          <p:nvPr/>
        </p:nvSpPr>
        <p:spPr>
          <a:xfrm>
            <a:off x="6537960" y="4617720"/>
            <a:ext cx="5029200" cy="1005840"/>
          </a:xfrm>
          <a:prstGeom prst="rect">
            <a:avLst/>
          </a:prstGeom>
          <a:noFill/>
        </p:spPr>
        <p:txBody>
          <a:bodyPr wrap="square" lIns="45720" rIns="45720" tIns="22860" bIns="22860" anchor="t">
            <a:spAutoFit/>
          </a:bodyPr>
          <a:lstStyle/>
          <a:p>
            <a:pPr algn="l">
              <a:lnSpc>
                <a:spcPct val="100000"/>
              </a:lnSpc>
            </a:pPr>
            <a:r>
              <a:rPr sz="1200" b="0" i="0" u="none">
                <a:solidFill>
                  <a:srgbClr val="3A4457"/>
                </a:solidFill>
                <a:latin typeface="DM Sans"/>
              </a:rPr>
              <a:t>A running record of what came in, what was drafted, what was filed and where — so nothing disappears without a trace.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515600" cy="411480"/>
          </a:xfrm>
          <a:prstGeom prst="rect">
            <a:avLst/>
          </a:prstGeom>
          <a:noFill/>
        </p:spPr>
        <p:txBody>
          <a:bodyPr wrap="square" lIns="45720" rIns="45720" tIns="22860" bIns="22860" anchor="t">
            <a:spAutoFit/>
          </a:bodyPr>
          <a:lstStyle/>
          <a:p>
            <a:pPr algn="l">
              <a:lnSpc>
                <a:spcPct val="100000"/>
              </a:lnSpc>
            </a:pPr>
            <a:r>
              <a:rPr sz="2200" b="1" i="0" u="none">
                <a:solidFill>
                  <a:srgbClr val="FFFFFF"/>
                </a:solidFill>
                <a:latin typeface="Horas"/>
              </a:rPr>
              <a:t>INVESTMENT</a:t>
            </a:r>
          </a:p>
        </p:txBody>
      </p:sp>
      <p:sp>
        <p:nvSpPr>
          <p:cNvPr id="6" name="TextBox 5"/>
          <p:cNvSpPr txBox="1"/>
          <p:nvPr/>
        </p:nvSpPr>
        <p:spPr>
          <a:xfrm>
            <a:off x="411480" y="457200"/>
            <a:ext cx="10515600" cy="274320"/>
          </a:xfrm>
          <a:prstGeom prst="rect">
            <a:avLst/>
          </a:prstGeom>
          <a:noFill/>
        </p:spPr>
        <p:txBody>
          <a:bodyPr wrap="square" lIns="45720" rIns="45720" tIns="22860" bIns="22860" anchor="t">
            <a:spAutoFit/>
          </a:bodyPr>
          <a:lstStyle/>
          <a:p>
            <a:pPr algn="l">
              <a:lnSpc>
                <a:spcPct val="100000"/>
              </a:lnSpc>
            </a:pPr>
            <a:r>
              <a:rPr sz="1100" b="0" i="1" u="none">
                <a:solidFill>
                  <a:srgbClr val="DBE4ED"/>
                </a:solidFill>
                <a:latin typeface="DM Sans"/>
              </a:rPr>
              <a:t>What it costs, stated plainly</a:t>
            </a:r>
          </a:p>
        </p:txBody>
      </p:sp>
      <p:sp>
        <p:nvSpPr>
          <p:cNvPr id="7" name="Rectangle 6"/>
          <p:cNvSpPr/>
          <p:nvPr/>
        </p:nvSpPr>
        <p:spPr>
          <a:xfrm>
            <a:off x="0" y="6519672"/>
            <a:ext cx="12191695" cy="45720"/>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65392"/>
            <a:ext cx="12191695" cy="292608"/>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592824"/>
            <a:ext cx="7772400" cy="256032"/>
          </a:xfrm>
          <a:prstGeom prst="rect">
            <a:avLst/>
          </a:prstGeom>
          <a:noFill/>
        </p:spPr>
        <p:txBody>
          <a:bodyPr wrap="square" lIns="45720" rIns="45720" tIns="22860" bIns="22860" anchor="t">
            <a:spAutoFit/>
          </a:bodyPr>
          <a:lstStyle/>
          <a:p>
            <a:pPr algn="l">
              <a:lnSpc>
                <a:spcPct val="100000"/>
              </a:lnSpc>
            </a:pPr>
            <a:r>
              <a:rPr sz="900" b="0" i="0" u="none">
                <a:solidFill>
                  <a:srgbClr val="FFFFFF"/>
                </a:solidFill>
                <a:latin typeface="DM Sans"/>
              </a:rPr>
              <a:t>Atlas One  ·  Test Company LLC  ·  Technology &amp; Operations</a:t>
            </a:r>
          </a:p>
        </p:txBody>
      </p:sp>
      <p:sp>
        <p:nvSpPr>
          <p:cNvPr id="10" name="TextBox 9"/>
          <p:cNvSpPr txBox="1"/>
          <p:nvPr/>
        </p:nvSpPr>
        <p:spPr>
          <a:xfrm>
            <a:off x="10058400" y="6592824"/>
            <a:ext cx="1737360" cy="256032"/>
          </a:xfrm>
          <a:prstGeom prst="rect">
            <a:avLst/>
          </a:prstGeom>
          <a:noFill/>
        </p:spPr>
        <p:txBody>
          <a:bodyPr wrap="square" lIns="45720" rIns="45720" tIns="22860" bIns="22860" anchor="t">
            <a:spAutoFit/>
          </a:bodyPr>
          <a:lstStyle/>
          <a:p>
            <a:pPr algn="r">
              <a:lnSpc>
                <a:spcPct val="100000"/>
              </a:lnSpc>
            </a:pPr>
            <a:r>
              <a:rPr sz="900" b="0" i="1" u="none">
                <a:solidFill>
                  <a:srgbClr val="DBE4ED"/>
                </a:solidFill>
                <a:latin typeface="DM Sans"/>
              </a:rPr>
              <a:t>Less paperwork. More time for what matters.</a:t>
            </a:r>
          </a:p>
        </p:txBody>
      </p:sp>
      <p:sp>
        <p:nvSpPr>
          <p:cNvPr id="11" name="Rectangle 10"/>
          <p:cNvSpPr/>
          <p:nvPr/>
        </p:nvSpPr>
        <p:spPr>
          <a:xfrm>
            <a:off x="457200" y="1188720"/>
            <a:ext cx="4114800" cy="2377440"/>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371600"/>
            <a:ext cx="3566160" cy="274320"/>
          </a:xfrm>
          <a:prstGeom prst="rect">
            <a:avLst/>
          </a:prstGeom>
          <a:noFill/>
        </p:spPr>
        <p:txBody>
          <a:bodyPr wrap="square" lIns="45720" rIns="45720" tIns="22860" bIns="22860" anchor="t">
            <a:spAutoFit/>
          </a:bodyPr>
          <a:lstStyle/>
          <a:p>
            <a:pPr algn="l">
              <a:lnSpc>
                <a:spcPct val="100000"/>
              </a:lnSpc>
            </a:pPr>
            <a:r>
              <a:rPr sz="1050" b="1" i="0" u="none">
                <a:solidFill>
                  <a:srgbClr val="23304D"/>
                </a:solidFill>
                <a:latin typeface="Horas"/>
              </a:rPr>
              <a:t>MANAGED SERVICE</a:t>
            </a:r>
          </a:p>
        </p:txBody>
      </p:sp>
      <p:sp>
        <p:nvSpPr>
          <p:cNvPr id="13" name="TextBox 12"/>
          <p:cNvSpPr txBox="1"/>
          <p:nvPr/>
        </p:nvSpPr>
        <p:spPr>
          <a:xfrm>
            <a:off x="731520" y="1664208"/>
            <a:ext cx="3566160" cy="841248"/>
          </a:xfrm>
          <a:prstGeom prst="rect">
            <a:avLst/>
          </a:prstGeom>
          <a:noFill/>
        </p:spPr>
        <p:txBody>
          <a:bodyPr wrap="square" lIns="45720" rIns="45720" tIns="22860" bIns="22860" anchor="ctr">
            <a:spAutoFit/>
          </a:bodyPr>
          <a:lstStyle/>
          <a:p>
            <a:pPr algn="l">
              <a:lnSpc>
                <a:spcPct val="100000"/>
              </a:lnSpc>
            </a:pPr>
            <a:r>
              <a:rPr sz="4000" b="1" i="0" u="none">
                <a:solidFill>
                  <a:srgbClr val="23304D"/>
                </a:solidFill>
                <a:latin typeface="Horas"/>
              </a:rPr>
              <a:t>$249</a:t>
            </a:r>
          </a:p>
        </p:txBody>
      </p:sp>
      <p:sp>
        <p:nvSpPr>
          <p:cNvPr id="14" name="TextBox 13"/>
          <p:cNvSpPr txBox="1"/>
          <p:nvPr/>
        </p:nvSpPr>
        <p:spPr>
          <a:xfrm>
            <a:off x="731520" y="2697480"/>
            <a:ext cx="3566160" cy="365760"/>
          </a:xfrm>
          <a:prstGeom prst="rect">
            <a:avLst/>
          </a:prstGeom>
          <a:noFill/>
        </p:spPr>
        <p:txBody>
          <a:bodyPr wrap="square" lIns="45720" rIns="45720" tIns="22860" bIns="22860" anchor="t">
            <a:spAutoFit/>
          </a:bodyPr>
          <a:lstStyle/>
          <a:p>
            <a:pPr algn="l">
              <a:lnSpc>
                <a:spcPct val="100000"/>
              </a:lnSpc>
            </a:pPr>
            <a:r>
              <a:rPr sz="1300" b="0" i="0" u="none">
                <a:solidFill>
                  <a:srgbClr val="3A4457"/>
                </a:solidFill>
                <a:latin typeface="DM Sans"/>
              </a:rPr>
              <a:t>/ month, Essentials (1 mailbox)</a:t>
            </a:r>
          </a:p>
        </p:txBody>
      </p:sp>
      <p:sp>
        <p:nvSpPr>
          <p:cNvPr id="15" name="TextBox 14"/>
          <p:cNvSpPr txBox="1"/>
          <p:nvPr/>
        </p:nvSpPr>
        <p:spPr>
          <a:xfrm>
            <a:off x="457200" y="3794760"/>
            <a:ext cx="4114800" cy="2011680"/>
          </a:xfrm>
          <a:prstGeom prst="rect">
            <a:avLst/>
          </a:prstGeom>
          <a:noFill/>
        </p:spPr>
        <p:txBody>
          <a:bodyPr wrap="square" lIns="45720" rIns="45720" tIns="22860" bIns="22860" anchor="t">
            <a:spAutoFit/>
          </a:bodyPr>
          <a:lstStyle/>
          <a:p>
            <a:pPr algn="l">
              <a:lnSpc>
                <a:spcPct val="100000"/>
              </a:lnSpc>
            </a:pPr>
            <a:r>
              <a:rPr sz="1150" b="0" i="1" u="none">
                <a:solidFill>
                  <a:srgbClr val="5C6780"/>
                </a:solidFill>
                <a:latin typeface="DM Sans"/>
              </a:rPr>
              <a:t>Pricing assumes typical business email volume. Unusually high volume or multi-entity routing is quoted after the discovery review.</a:t>
            </a:r>
          </a:p>
        </p:txBody>
      </p:sp>
      <p:sp>
        <p:nvSpPr>
          <p:cNvPr id="16" name="Rectangle 15"/>
          <p:cNvSpPr/>
          <p:nvPr/>
        </p:nvSpPr>
        <p:spPr>
          <a:xfrm>
            <a:off x="4846320" y="1188720"/>
            <a:ext cx="4434840" cy="676656"/>
          </a:xfrm>
          <a:prstGeom prst="rect">
            <a:avLst/>
          </a:prstGeom>
          <a:solidFill>
            <a:srgbClr val="23304D"/>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56048" y="1188720"/>
            <a:ext cx="4215384" cy="676656"/>
          </a:xfrm>
          <a:prstGeom prst="rect">
            <a:avLst/>
          </a:prstGeom>
          <a:noFill/>
        </p:spPr>
        <p:txBody>
          <a:bodyPr wrap="square" lIns="45720" rIns="45720" tIns="22860" bIns="22860" anchor="ctr">
            <a:spAutoFit/>
          </a:bodyPr>
          <a:lstStyle/>
          <a:p>
            <a:pPr algn="l">
              <a:lnSpc>
                <a:spcPct val="100000"/>
              </a:lnSpc>
            </a:pPr>
            <a:r>
              <a:rPr sz="1200" b="1" i="0" u="none">
                <a:solidFill>
                  <a:srgbClr val="FFFFFF"/>
                </a:solidFill>
                <a:latin typeface="Horas"/>
              </a:rPr>
              <a:t>What's included</a:t>
            </a:r>
          </a:p>
        </p:txBody>
      </p:sp>
      <p:sp>
        <p:nvSpPr>
          <p:cNvPr id="18" name="Rectangle 17"/>
          <p:cNvSpPr/>
          <p:nvPr/>
        </p:nvSpPr>
        <p:spPr>
          <a:xfrm>
            <a:off x="9281160" y="1188720"/>
            <a:ext cx="2468880" cy="676656"/>
          </a:xfrm>
          <a:prstGeom prst="rect">
            <a:avLst/>
          </a:prstGeom>
          <a:solidFill>
            <a:srgbClr val="23304D"/>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90888" y="1188720"/>
            <a:ext cx="2249424" cy="676656"/>
          </a:xfrm>
          <a:prstGeom prst="rect">
            <a:avLst/>
          </a:prstGeom>
          <a:noFill/>
        </p:spPr>
        <p:txBody>
          <a:bodyPr wrap="square" lIns="45720" rIns="45720" tIns="22860" bIns="22860" anchor="ctr">
            <a:spAutoFit/>
          </a:bodyPr>
          <a:lstStyle/>
          <a:p>
            <a:pPr algn="r">
              <a:lnSpc>
                <a:spcPct val="100000"/>
              </a:lnSpc>
            </a:pPr>
            <a:r>
              <a:rPr sz="1200" b="1" i="0" u="none">
                <a:solidFill>
                  <a:srgbClr val="FFFFFF"/>
                </a:solidFill>
                <a:latin typeface="Horas"/>
              </a:rPr>
              <a:t/>
            </a:r>
          </a:p>
        </p:txBody>
      </p:sp>
      <p:sp>
        <p:nvSpPr>
          <p:cNvPr id="20" name="Rectangle 19"/>
          <p:cNvSpPr/>
          <p:nvPr/>
        </p:nvSpPr>
        <p:spPr>
          <a:xfrm>
            <a:off x="4846320" y="1865376"/>
            <a:ext cx="4434840" cy="676656"/>
          </a:xfrm>
          <a:prstGeom prst="rect">
            <a:avLst/>
          </a:prstGeom>
          <a:solidFill>
            <a:srgbClr val="FAFAF8"/>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56048" y="1865376"/>
            <a:ext cx="4215384" cy="676656"/>
          </a:xfrm>
          <a:prstGeom prst="rect">
            <a:avLst/>
          </a:prstGeom>
          <a:noFill/>
        </p:spPr>
        <p:txBody>
          <a:bodyPr wrap="square" lIns="45720" rIns="45720" tIns="22860" bIns="22860" anchor="ctr">
            <a:spAutoFit/>
          </a:bodyPr>
          <a:lstStyle/>
          <a:p>
            <a:pPr algn="l">
              <a:lnSpc>
                <a:spcPct val="100000"/>
              </a:lnSpc>
            </a:pPr>
            <a:r>
              <a:rPr sz="1100" b="0" i="0" u="none">
                <a:solidFill>
                  <a:srgbClr val="17202F"/>
                </a:solidFill>
                <a:latin typeface="DM Sans"/>
              </a:rPr>
              <a:t>Essentials, 1 mailbox, 30 minutes support a month</a:t>
            </a:r>
          </a:p>
        </p:txBody>
      </p:sp>
      <p:sp>
        <p:nvSpPr>
          <p:cNvPr id="22" name="Rectangle 21"/>
          <p:cNvSpPr/>
          <p:nvPr/>
        </p:nvSpPr>
        <p:spPr>
          <a:xfrm>
            <a:off x="9281160" y="1865376"/>
            <a:ext cx="2468880" cy="676656"/>
          </a:xfrm>
          <a:prstGeom prst="rect">
            <a:avLst/>
          </a:prstGeom>
          <a:solidFill>
            <a:srgbClr val="FAFAF8"/>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90888" y="1865376"/>
            <a:ext cx="2249424" cy="676656"/>
          </a:xfrm>
          <a:prstGeom prst="rect">
            <a:avLst/>
          </a:prstGeom>
          <a:noFill/>
        </p:spPr>
        <p:txBody>
          <a:bodyPr wrap="square" lIns="45720" rIns="45720" tIns="22860" bIns="22860" anchor="ctr">
            <a:spAutoFit/>
          </a:bodyPr>
          <a:lstStyle/>
          <a:p>
            <a:pPr algn="r">
              <a:lnSpc>
                <a:spcPct val="100000"/>
              </a:lnSpc>
            </a:pPr>
            <a:r>
              <a:rPr sz="1100" b="0" i="0" u="none">
                <a:solidFill>
                  <a:srgbClr val="17202F"/>
                </a:solidFill>
                <a:latin typeface="DM Sans"/>
              </a:rPr>
              <a:t>$249 / mo</a:t>
            </a:r>
          </a:p>
        </p:txBody>
      </p:sp>
      <p:sp>
        <p:nvSpPr>
          <p:cNvPr id="24" name="Rectangle 23"/>
          <p:cNvSpPr/>
          <p:nvPr/>
        </p:nvSpPr>
        <p:spPr>
          <a:xfrm>
            <a:off x="4846320" y="2542032"/>
            <a:ext cx="4434840" cy="676656"/>
          </a:xfrm>
          <a:prstGeom prst="rect">
            <a:avLst/>
          </a:prstGeom>
          <a:solidFill>
            <a:srgbClr val="FFFFFF"/>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56048" y="2542032"/>
            <a:ext cx="4215384" cy="676656"/>
          </a:xfrm>
          <a:prstGeom prst="rect">
            <a:avLst/>
          </a:prstGeom>
          <a:noFill/>
        </p:spPr>
        <p:txBody>
          <a:bodyPr wrap="square" lIns="45720" rIns="45720" tIns="22860" bIns="22860" anchor="ctr">
            <a:spAutoFit/>
          </a:bodyPr>
          <a:lstStyle/>
          <a:p>
            <a:pPr algn="l">
              <a:lnSpc>
                <a:spcPct val="100000"/>
              </a:lnSpc>
            </a:pPr>
            <a:r>
              <a:rPr sz="1100" b="0" i="0" u="none">
                <a:solidFill>
                  <a:srgbClr val="17202F"/>
                </a:solidFill>
                <a:latin typeface="DM Sans"/>
              </a:rPr>
              <a:t>Professional, up to 3 mailboxes, 1 hour support a month</a:t>
            </a:r>
          </a:p>
        </p:txBody>
      </p:sp>
      <p:sp>
        <p:nvSpPr>
          <p:cNvPr id="26" name="Rectangle 25"/>
          <p:cNvSpPr/>
          <p:nvPr/>
        </p:nvSpPr>
        <p:spPr>
          <a:xfrm>
            <a:off x="9281160" y="2542032"/>
            <a:ext cx="2468880" cy="676656"/>
          </a:xfrm>
          <a:prstGeom prst="rect">
            <a:avLst/>
          </a:prstGeom>
          <a:solidFill>
            <a:srgbClr val="FFFFFF"/>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90888" y="2542032"/>
            <a:ext cx="2249424" cy="676656"/>
          </a:xfrm>
          <a:prstGeom prst="rect">
            <a:avLst/>
          </a:prstGeom>
          <a:noFill/>
        </p:spPr>
        <p:txBody>
          <a:bodyPr wrap="square" lIns="45720" rIns="45720" tIns="22860" bIns="22860" anchor="ctr">
            <a:spAutoFit/>
          </a:bodyPr>
          <a:lstStyle/>
          <a:p>
            <a:pPr algn="r">
              <a:lnSpc>
                <a:spcPct val="100000"/>
              </a:lnSpc>
            </a:pPr>
            <a:r>
              <a:rPr sz="1100" b="0" i="0" u="none">
                <a:solidFill>
                  <a:srgbClr val="17202F"/>
                </a:solidFill>
                <a:latin typeface="DM Sans"/>
              </a:rPr>
              <a:t>$499 / mo</a:t>
            </a:r>
          </a:p>
        </p:txBody>
      </p:sp>
      <p:sp>
        <p:nvSpPr>
          <p:cNvPr id="28" name="Rectangle 27"/>
          <p:cNvSpPr/>
          <p:nvPr/>
        </p:nvSpPr>
        <p:spPr>
          <a:xfrm>
            <a:off x="4846320" y="3218688"/>
            <a:ext cx="4434840" cy="676656"/>
          </a:xfrm>
          <a:prstGeom prst="rect">
            <a:avLst/>
          </a:prstGeom>
          <a:solidFill>
            <a:srgbClr val="FAFAF8"/>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6048" y="3218688"/>
            <a:ext cx="4215384" cy="676656"/>
          </a:xfrm>
          <a:prstGeom prst="rect">
            <a:avLst/>
          </a:prstGeom>
          <a:noFill/>
        </p:spPr>
        <p:txBody>
          <a:bodyPr wrap="square" lIns="45720" rIns="45720" tIns="22860" bIns="22860" anchor="ctr">
            <a:spAutoFit/>
          </a:bodyPr>
          <a:lstStyle/>
          <a:p>
            <a:pPr algn="l">
              <a:lnSpc>
                <a:spcPct val="100000"/>
              </a:lnSpc>
            </a:pPr>
            <a:r>
              <a:rPr sz="1100" b="0" i="0" u="none">
                <a:solidFill>
                  <a:srgbClr val="17202F"/>
                </a:solidFill>
                <a:latin typeface="DM Sans"/>
              </a:rPr>
              <a:t>Each additional mailbox</a:t>
            </a:r>
          </a:p>
        </p:txBody>
      </p:sp>
      <p:sp>
        <p:nvSpPr>
          <p:cNvPr id="30" name="Rectangle 29"/>
          <p:cNvSpPr/>
          <p:nvPr/>
        </p:nvSpPr>
        <p:spPr>
          <a:xfrm>
            <a:off x="9281160" y="3218688"/>
            <a:ext cx="2468880" cy="676656"/>
          </a:xfrm>
          <a:prstGeom prst="rect">
            <a:avLst/>
          </a:prstGeom>
          <a:solidFill>
            <a:srgbClr val="FAFAF8"/>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90888" y="3218688"/>
            <a:ext cx="2249424" cy="676656"/>
          </a:xfrm>
          <a:prstGeom prst="rect">
            <a:avLst/>
          </a:prstGeom>
          <a:noFill/>
        </p:spPr>
        <p:txBody>
          <a:bodyPr wrap="square" lIns="45720" rIns="45720" tIns="22860" bIns="22860" anchor="ctr">
            <a:spAutoFit/>
          </a:bodyPr>
          <a:lstStyle/>
          <a:p>
            <a:pPr algn="r">
              <a:lnSpc>
                <a:spcPct val="100000"/>
              </a:lnSpc>
            </a:pPr>
            <a:r>
              <a:rPr sz="1100" b="0" i="0" u="none">
                <a:solidFill>
                  <a:srgbClr val="17202F"/>
                </a:solidFill>
                <a:latin typeface="DM Sans"/>
              </a:rPr>
              <a:t>$75 / mo</a:t>
            </a:r>
          </a:p>
        </p:txBody>
      </p:sp>
      <p:sp>
        <p:nvSpPr>
          <p:cNvPr id="32" name="Rectangle 31"/>
          <p:cNvSpPr/>
          <p:nvPr/>
        </p:nvSpPr>
        <p:spPr>
          <a:xfrm>
            <a:off x="4846320" y="3895344"/>
            <a:ext cx="4434840" cy="676656"/>
          </a:xfrm>
          <a:prstGeom prst="rect">
            <a:avLst/>
          </a:prstGeom>
          <a:solidFill>
            <a:srgbClr val="FFFFFF"/>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56048" y="3895344"/>
            <a:ext cx="4215384" cy="676656"/>
          </a:xfrm>
          <a:prstGeom prst="rect">
            <a:avLst/>
          </a:prstGeom>
          <a:noFill/>
        </p:spPr>
        <p:txBody>
          <a:bodyPr wrap="square" lIns="45720" rIns="45720" tIns="22860" bIns="22860" anchor="ctr">
            <a:spAutoFit/>
          </a:bodyPr>
          <a:lstStyle/>
          <a:p>
            <a:pPr algn="l">
              <a:lnSpc>
                <a:spcPct val="100000"/>
              </a:lnSpc>
            </a:pPr>
            <a:r>
              <a:rPr sz="1100" b="0" i="0" u="none">
                <a:solidFill>
                  <a:srgbClr val="17202F"/>
                </a:solidFill>
                <a:latin typeface="DM Sans"/>
              </a:rPr>
              <a:t>One-time setup &amp; configuration</a:t>
            </a:r>
          </a:p>
        </p:txBody>
      </p:sp>
      <p:sp>
        <p:nvSpPr>
          <p:cNvPr id="34" name="Rectangle 33"/>
          <p:cNvSpPr/>
          <p:nvPr/>
        </p:nvSpPr>
        <p:spPr>
          <a:xfrm>
            <a:off x="9281160" y="3895344"/>
            <a:ext cx="2468880" cy="676656"/>
          </a:xfrm>
          <a:prstGeom prst="rect">
            <a:avLst/>
          </a:prstGeom>
          <a:solidFill>
            <a:srgbClr val="FFFFFF"/>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90888" y="3895344"/>
            <a:ext cx="2249424" cy="676656"/>
          </a:xfrm>
          <a:prstGeom prst="rect">
            <a:avLst/>
          </a:prstGeom>
          <a:noFill/>
        </p:spPr>
        <p:txBody>
          <a:bodyPr wrap="square" lIns="45720" rIns="45720" tIns="22860" bIns="22860" anchor="ctr">
            <a:spAutoFit/>
          </a:bodyPr>
          <a:lstStyle/>
          <a:p>
            <a:pPr algn="r">
              <a:lnSpc>
                <a:spcPct val="100000"/>
              </a:lnSpc>
            </a:pPr>
            <a:r>
              <a:rPr sz="1100" b="0" i="0" u="none">
                <a:solidFill>
                  <a:srgbClr val="17202F"/>
                </a:solidFill>
                <a:latin typeface="DM Sans"/>
              </a:rPr>
              <a:t>$750, or $999 for complex multi mailbox rollouts</a:t>
            </a:r>
          </a:p>
        </p:txBody>
      </p:sp>
      <p:sp>
        <p:nvSpPr>
          <p:cNvPr id="36" name="Rectangle 35"/>
          <p:cNvSpPr/>
          <p:nvPr/>
        </p:nvSpPr>
        <p:spPr>
          <a:xfrm>
            <a:off x="4846320" y="4572000"/>
            <a:ext cx="4434840" cy="676656"/>
          </a:xfrm>
          <a:prstGeom prst="rect">
            <a:avLst/>
          </a:prstGeom>
          <a:solidFill>
            <a:srgbClr val="FAFAF8"/>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56048" y="4572000"/>
            <a:ext cx="4215384" cy="676656"/>
          </a:xfrm>
          <a:prstGeom prst="rect">
            <a:avLst/>
          </a:prstGeom>
          <a:noFill/>
        </p:spPr>
        <p:txBody>
          <a:bodyPr wrap="square" lIns="45720" rIns="45720" tIns="22860" bIns="22860" anchor="ctr">
            <a:spAutoFit/>
          </a:bodyPr>
          <a:lstStyle/>
          <a:p>
            <a:pPr algn="l">
              <a:lnSpc>
                <a:spcPct val="100000"/>
              </a:lnSpc>
            </a:pPr>
            <a:r>
              <a:rPr sz="1100" b="0" i="0" u="none">
                <a:solidFill>
                  <a:srgbClr val="17202F"/>
                </a:solidFill>
                <a:latin typeface="DM Sans"/>
              </a:rPr>
              <a:t>Initial term</a:t>
            </a:r>
          </a:p>
        </p:txBody>
      </p:sp>
      <p:sp>
        <p:nvSpPr>
          <p:cNvPr id="38" name="Rectangle 37"/>
          <p:cNvSpPr/>
          <p:nvPr/>
        </p:nvSpPr>
        <p:spPr>
          <a:xfrm>
            <a:off x="9281160" y="4572000"/>
            <a:ext cx="2468880" cy="676656"/>
          </a:xfrm>
          <a:prstGeom prst="rect">
            <a:avLst/>
          </a:prstGeom>
          <a:solidFill>
            <a:srgbClr val="FAFAF8"/>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90888" y="4572000"/>
            <a:ext cx="2249424" cy="676656"/>
          </a:xfrm>
          <a:prstGeom prst="rect">
            <a:avLst/>
          </a:prstGeom>
          <a:noFill/>
        </p:spPr>
        <p:txBody>
          <a:bodyPr wrap="square" lIns="45720" rIns="45720" tIns="22860" bIns="22860" anchor="ctr">
            <a:spAutoFit/>
          </a:bodyPr>
          <a:lstStyle/>
          <a:p>
            <a:pPr algn="r">
              <a:lnSpc>
                <a:spcPct val="100000"/>
              </a:lnSpc>
            </a:pPr>
            <a:r>
              <a:rPr sz="1100" b="0" i="0" u="none">
                <a:solidFill>
                  <a:srgbClr val="17202F"/>
                </a:solidFill>
                <a:latin typeface="DM Sans"/>
              </a:rPr>
              <a:t>12 months</a:t>
            </a:r>
          </a:p>
        </p:txBody>
      </p:sp>
      <p:sp>
        <p:nvSpPr>
          <p:cNvPr id="40" name="Rectangle 39"/>
          <p:cNvSpPr/>
          <p:nvPr/>
        </p:nvSpPr>
        <p:spPr>
          <a:xfrm>
            <a:off x="4846320" y="5248656"/>
            <a:ext cx="4434840" cy="676656"/>
          </a:xfrm>
          <a:prstGeom prst="rect">
            <a:avLst/>
          </a:prstGeom>
          <a:solidFill>
            <a:srgbClr val="FFFFFF"/>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56048" y="5248656"/>
            <a:ext cx="4215384" cy="676656"/>
          </a:xfrm>
          <a:prstGeom prst="rect">
            <a:avLst/>
          </a:prstGeom>
          <a:noFill/>
        </p:spPr>
        <p:txBody>
          <a:bodyPr wrap="square" lIns="45720" rIns="45720" tIns="22860" bIns="22860" anchor="ctr">
            <a:spAutoFit/>
          </a:bodyPr>
          <a:lstStyle/>
          <a:p>
            <a:pPr algn="l">
              <a:lnSpc>
                <a:spcPct val="100000"/>
              </a:lnSpc>
            </a:pPr>
            <a:r>
              <a:rPr sz="1100" b="0" i="0" u="none">
                <a:solidFill>
                  <a:srgbClr val="17202F"/>
                </a:solidFill>
                <a:latin typeface="DM Sans"/>
              </a:rPr>
              <a:t>Ongoing support, tuning &amp; updates</a:t>
            </a:r>
          </a:p>
        </p:txBody>
      </p:sp>
      <p:sp>
        <p:nvSpPr>
          <p:cNvPr id="42" name="Rectangle 41"/>
          <p:cNvSpPr/>
          <p:nvPr/>
        </p:nvSpPr>
        <p:spPr>
          <a:xfrm>
            <a:off x="9281160" y="5248656"/>
            <a:ext cx="2468880" cy="676656"/>
          </a:xfrm>
          <a:prstGeom prst="rect">
            <a:avLst/>
          </a:prstGeom>
          <a:solidFill>
            <a:srgbClr val="FFFFFF"/>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90888" y="5248656"/>
            <a:ext cx="2249424" cy="676656"/>
          </a:xfrm>
          <a:prstGeom prst="rect">
            <a:avLst/>
          </a:prstGeom>
          <a:noFill/>
        </p:spPr>
        <p:txBody>
          <a:bodyPr wrap="square" lIns="45720" rIns="45720" tIns="22860" bIns="22860" anchor="ctr">
            <a:spAutoFit/>
          </a:bodyPr>
          <a:lstStyle/>
          <a:p>
            <a:pPr algn="r">
              <a:lnSpc>
                <a:spcPct val="100000"/>
              </a:lnSpc>
            </a:pPr>
            <a:r>
              <a:rPr sz="1100" b="0" i="0" u="none">
                <a:solidFill>
                  <a:srgbClr val="17202F"/>
                </a:solidFill>
                <a:latin typeface="DM Sans"/>
              </a:rPr>
              <a:t>Included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515600" cy="411480"/>
          </a:xfrm>
          <a:prstGeom prst="rect">
            <a:avLst/>
          </a:prstGeom>
          <a:noFill/>
        </p:spPr>
        <p:txBody>
          <a:bodyPr wrap="square" lIns="45720" rIns="45720" tIns="22860" bIns="22860" anchor="t">
            <a:spAutoFit/>
          </a:bodyPr>
          <a:lstStyle/>
          <a:p>
            <a:pPr algn="l">
              <a:lnSpc>
                <a:spcPct val="100000"/>
              </a:lnSpc>
            </a:pPr>
            <a:r>
              <a:rPr sz="2200" b="1" i="0" u="none">
                <a:solidFill>
                  <a:srgbClr val="FFFFFF"/>
                </a:solidFill>
                <a:latin typeface="Horas"/>
              </a:rPr>
              <a:t>HOW IT GETS BUILT</a:t>
            </a:r>
          </a:p>
        </p:txBody>
      </p:sp>
      <p:sp>
        <p:nvSpPr>
          <p:cNvPr id="6" name="TextBox 5"/>
          <p:cNvSpPr txBox="1"/>
          <p:nvPr/>
        </p:nvSpPr>
        <p:spPr>
          <a:xfrm>
            <a:off x="411480" y="457200"/>
            <a:ext cx="10515600" cy="274320"/>
          </a:xfrm>
          <a:prstGeom prst="rect">
            <a:avLst/>
          </a:prstGeom>
          <a:noFill/>
        </p:spPr>
        <p:txBody>
          <a:bodyPr wrap="square" lIns="45720" rIns="45720" tIns="22860" bIns="22860" anchor="t">
            <a:spAutoFit/>
          </a:bodyPr>
          <a:lstStyle/>
          <a:p>
            <a:pPr algn="l">
              <a:lnSpc>
                <a:spcPct val="100000"/>
              </a:lnSpc>
            </a:pPr>
            <a:r>
              <a:rPr sz="1100" b="0" i="1" u="none">
                <a:solidFill>
                  <a:srgbClr val="DBE4ED"/>
                </a:solidFill>
                <a:latin typeface="DM Sans"/>
              </a:rPr>
              <a:t>Most of it on our side</a:t>
            </a:r>
          </a:p>
        </p:txBody>
      </p:sp>
      <p:sp>
        <p:nvSpPr>
          <p:cNvPr id="7" name="Rectangle 6"/>
          <p:cNvSpPr/>
          <p:nvPr/>
        </p:nvSpPr>
        <p:spPr>
          <a:xfrm>
            <a:off x="0" y="6519672"/>
            <a:ext cx="12191695" cy="45720"/>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65392"/>
            <a:ext cx="12191695" cy="292608"/>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592824"/>
            <a:ext cx="7772400" cy="256032"/>
          </a:xfrm>
          <a:prstGeom prst="rect">
            <a:avLst/>
          </a:prstGeom>
          <a:noFill/>
        </p:spPr>
        <p:txBody>
          <a:bodyPr wrap="square" lIns="45720" rIns="45720" tIns="22860" bIns="22860" anchor="t">
            <a:spAutoFit/>
          </a:bodyPr>
          <a:lstStyle/>
          <a:p>
            <a:pPr algn="l">
              <a:lnSpc>
                <a:spcPct val="100000"/>
              </a:lnSpc>
            </a:pPr>
            <a:r>
              <a:rPr sz="900" b="0" i="0" u="none">
                <a:solidFill>
                  <a:srgbClr val="FFFFFF"/>
                </a:solidFill>
                <a:latin typeface="DM Sans"/>
              </a:rPr>
              <a:t>Atlas One  ·  Test Company LLC  ·  Technology &amp; Operations</a:t>
            </a:r>
          </a:p>
        </p:txBody>
      </p:sp>
      <p:sp>
        <p:nvSpPr>
          <p:cNvPr id="10" name="TextBox 9"/>
          <p:cNvSpPr txBox="1"/>
          <p:nvPr/>
        </p:nvSpPr>
        <p:spPr>
          <a:xfrm>
            <a:off x="10058400" y="6592824"/>
            <a:ext cx="1737360" cy="256032"/>
          </a:xfrm>
          <a:prstGeom prst="rect">
            <a:avLst/>
          </a:prstGeom>
          <a:noFill/>
        </p:spPr>
        <p:txBody>
          <a:bodyPr wrap="square" lIns="45720" rIns="45720" tIns="22860" bIns="22860" anchor="t">
            <a:spAutoFit/>
          </a:bodyPr>
          <a:lstStyle/>
          <a:p>
            <a:pPr algn="r">
              <a:lnSpc>
                <a:spcPct val="100000"/>
              </a:lnSpc>
            </a:pPr>
            <a:r>
              <a:rPr sz="900" b="0" i="1" u="none">
                <a:solidFill>
                  <a:srgbClr val="DBE4ED"/>
                </a:solidFill>
                <a:latin typeface="DM Sans"/>
              </a:rPr>
              <a:t>Less paperwork. More time for what matters.</a:t>
            </a:r>
          </a:p>
        </p:txBody>
      </p:sp>
      <p:sp>
        <p:nvSpPr>
          <p:cNvPr id="11" name="Rectangle 10"/>
          <p:cNvSpPr/>
          <p:nvPr/>
        </p:nvSpPr>
        <p:spPr>
          <a:xfrm>
            <a:off x="1051560" y="1188720"/>
            <a:ext cx="10332720" cy="932687"/>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453895"/>
            <a:ext cx="402336" cy="40233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453895"/>
            <a:ext cx="402336" cy="402336"/>
          </a:xfrm>
          <a:prstGeom prst="rect">
            <a:avLst/>
          </a:prstGeom>
          <a:noFill/>
        </p:spPr>
        <p:txBody>
          <a:bodyPr wrap="square" lIns="45720" rIns="45720" tIns="22860" bIns="22860" anchor="ctr">
            <a:spAutoFit/>
          </a:bodyPr>
          <a:lstStyle/>
          <a:p>
            <a:pPr algn="ctr">
              <a:lnSpc>
                <a:spcPct val="100000"/>
              </a:lnSpc>
            </a:pPr>
            <a:r>
              <a:rPr sz="1300" b="1" i="0" u="none">
                <a:solidFill>
                  <a:srgbClr val="FFFFFF"/>
                </a:solidFill>
                <a:latin typeface="Horas"/>
              </a:rPr>
              <a:t>1</a:t>
            </a:r>
          </a:p>
        </p:txBody>
      </p:sp>
      <p:sp>
        <p:nvSpPr>
          <p:cNvPr id="14" name="TextBox 13"/>
          <p:cNvSpPr txBox="1"/>
          <p:nvPr/>
        </p:nvSpPr>
        <p:spPr>
          <a:xfrm>
            <a:off x="1325880" y="1261872"/>
            <a:ext cx="9784080" cy="292608"/>
          </a:xfrm>
          <a:prstGeom prst="rect">
            <a:avLst/>
          </a:prstGeom>
          <a:noFill/>
        </p:spPr>
        <p:txBody>
          <a:bodyPr wrap="square" lIns="45720" rIns="45720" tIns="22860" bIns="22860" anchor="t">
            <a:spAutoFit/>
          </a:bodyPr>
          <a:lstStyle/>
          <a:p>
            <a:pPr algn="l">
              <a:lnSpc>
                <a:spcPct val="100000"/>
              </a:lnSpc>
            </a:pPr>
            <a:r>
              <a:rPr sz="1350" b="1" i="0" u="none">
                <a:solidFill>
                  <a:srgbClr val="23304D"/>
                </a:solidFill>
                <a:latin typeface="Horas"/>
              </a:rPr>
              <a:t>Discovery review</a:t>
            </a:r>
          </a:p>
        </p:txBody>
      </p:sp>
      <p:sp>
        <p:nvSpPr>
          <p:cNvPr id="15" name="TextBox 14"/>
          <p:cNvSpPr txBox="1"/>
          <p:nvPr/>
        </p:nvSpPr>
        <p:spPr>
          <a:xfrm>
            <a:off x="1325880" y="1554480"/>
            <a:ext cx="9784080" cy="512063"/>
          </a:xfrm>
          <a:prstGeom prst="rect">
            <a:avLst/>
          </a:prstGeom>
          <a:noFill/>
        </p:spPr>
        <p:txBody>
          <a:bodyPr wrap="square" lIns="45720" rIns="45720" tIns="22860" bIns="22860" anchor="t">
            <a:spAutoFit/>
          </a:bodyPr>
          <a:lstStyle/>
          <a:p>
            <a:pPr algn="l">
              <a:lnSpc>
                <a:spcPct val="100000"/>
              </a:lnSpc>
            </a:pPr>
            <a:r>
              <a:rPr sz="1150" b="0" i="0" u="none">
                <a:solidFill>
                  <a:srgbClr val="3A4457"/>
                </a:solidFill>
                <a:latin typeface="DM Sans"/>
              </a:rPr>
              <a:t>Your actual mail volume, who handles what, and where documents are supposed to end up. About 45 minutes.</a:t>
            </a:r>
          </a:p>
        </p:txBody>
      </p:sp>
      <p:sp>
        <p:nvSpPr>
          <p:cNvPr id="16" name="Rectangle 15"/>
          <p:cNvSpPr/>
          <p:nvPr/>
        </p:nvSpPr>
        <p:spPr>
          <a:xfrm>
            <a:off x="1051560" y="2212848"/>
            <a:ext cx="10332720" cy="932687"/>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478023"/>
            <a:ext cx="402336" cy="40233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478023"/>
            <a:ext cx="402336" cy="402336"/>
          </a:xfrm>
          <a:prstGeom prst="rect">
            <a:avLst/>
          </a:prstGeom>
          <a:noFill/>
        </p:spPr>
        <p:txBody>
          <a:bodyPr wrap="square" lIns="45720" rIns="45720" tIns="22860" bIns="22860" anchor="ctr">
            <a:spAutoFit/>
          </a:bodyPr>
          <a:lstStyle/>
          <a:p>
            <a:pPr algn="ctr">
              <a:lnSpc>
                <a:spcPct val="100000"/>
              </a:lnSpc>
            </a:pPr>
            <a:r>
              <a:rPr sz="1300" b="1" i="0" u="none">
                <a:solidFill>
                  <a:srgbClr val="FFFFFF"/>
                </a:solidFill>
                <a:latin typeface="Horas"/>
              </a:rPr>
              <a:t>2</a:t>
            </a:r>
          </a:p>
        </p:txBody>
      </p:sp>
      <p:sp>
        <p:nvSpPr>
          <p:cNvPr id="19" name="TextBox 18"/>
          <p:cNvSpPr txBox="1"/>
          <p:nvPr/>
        </p:nvSpPr>
        <p:spPr>
          <a:xfrm>
            <a:off x="1325880" y="2286000"/>
            <a:ext cx="9784080" cy="292608"/>
          </a:xfrm>
          <a:prstGeom prst="rect">
            <a:avLst/>
          </a:prstGeom>
          <a:noFill/>
        </p:spPr>
        <p:txBody>
          <a:bodyPr wrap="square" lIns="45720" rIns="45720" tIns="22860" bIns="22860" anchor="t">
            <a:spAutoFit/>
          </a:bodyPr>
          <a:lstStyle/>
          <a:p>
            <a:pPr algn="l">
              <a:lnSpc>
                <a:spcPct val="100000"/>
              </a:lnSpc>
            </a:pPr>
            <a:r>
              <a:rPr sz="1350" b="1" i="0" u="none">
                <a:solidFill>
                  <a:srgbClr val="23304D"/>
                </a:solidFill>
                <a:latin typeface="Horas"/>
              </a:rPr>
              <a:t>Install &amp; connect</a:t>
            </a:r>
          </a:p>
        </p:txBody>
      </p:sp>
      <p:sp>
        <p:nvSpPr>
          <p:cNvPr id="20" name="TextBox 19"/>
          <p:cNvSpPr txBox="1"/>
          <p:nvPr/>
        </p:nvSpPr>
        <p:spPr>
          <a:xfrm>
            <a:off x="1325880" y="2578608"/>
            <a:ext cx="9784080" cy="512063"/>
          </a:xfrm>
          <a:prstGeom prst="rect">
            <a:avLst/>
          </a:prstGeom>
          <a:noFill/>
        </p:spPr>
        <p:txBody>
          <a:bodyPr wrap="square" lIns="45720" rIns="45720" tIns="22860" bIns="22860" anchor="t">
            <a:spAutoFit/>
          </a:bodyPr>
          <a:lstStyle/>
          <a:p>
            <a:pPr algn="l">
              <a:lnSpc>
                <a:spcPct val="100000"/>
              </a:lnSpc>
            </a:pPr>
            <a:r>
              <a:rPr sz="1150" b="0" i="0" u="none">
                <a:solidFill>
                  <a:srgbClr val="3A4457"/>
                </a:solidFill>
                <a:latin typeface="DM Sans"/>
              </a:rPr>
              <a:t>We register the application in your tenant, connect the mailboxes with your administrator's approval, and link storage and CRM.</a:t>
            </a:r>
          </a:p>
        </p:txBody>
      </p:sp>
      <p:sp>
        <p:nvSpPr>
          <p:cNvPr id="21" name="Rectangle 20"/>
          <p:cNvSpPr/>
          <p:nvPr/>
        </p:nvSpPr>
        <p:spPr>
          <a:xfrm>
            <a:off x="1051560" y="3236976"/>
            <a:ext cx="10332720" cy="932687"/>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3502151"/>
            <a:ext cx="402336" cy="40233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3502151"/>
            <a:ext cx="402336" cy="402336"/>
          </a:xfrm>
          <a:prstGeom prst="rect">
            <a:avLst/>
          </a:prstGeom>
          <a:noFill/>
        </p:spPr>
        <p:txBody>
          <a:bodyPr wrap="square" lIns="45720" rIns="45720" tIns="22860" bIns="22860" anchor="ctr">
            <a:spAutoFit/>
          </a:bodyPr>
          <a:lstStyle/>
          <a:p>
            <a:pPr algn="ctr">
              <a:lnSpc>
                <a:spcPct val="100000"/>
              </a:lnSpc>
            </a:pPr>
            <a:r>
              <a:rPr sz="1300" b="1" i="0" u="none">
                <a:solidFill>
                  <a:srgbClr val="FFFFFF"/>
                </a:solidFill>
                <a:latin typeface="Horas"/>
              </a:rPr>
              <a:t>3</a:t>
            </a:r>
          </a:p>
        </p:txBody>
      </p:sp>
      <p:sp>
        <p:nvSpPr>
          <p:cNvPr id="24" name="TextBox 23"/>
          <p:cNvSpPr txBox="1"/>
          <p:nvPr/>
        </p:nvSpPr>
        <p:spPr>
          <a:xfrm>
            <a:off x="1325880" y="3310128"/>
            <a:ext cx="9784080" cy="292608"/>
          </a:xfrm>
          <a:prstGeom prst="rect">
            <a:avLst/>
          </a:prstGeom>
          <a:noFill/>
        </p:spPr>
        <p:txBody>
          <a:bodyPr wrap="square" lIns="45720" rIns="45720" tIns="22860" bIns="22860" anchor="t">
            <a:spAutoFit/>
          </a:bodyPr>
          <a:lstStyle/>
          <a:p>
            <a:pPr algn="l">
              <a:lnSpc>
                <a:spcPct val="100000"/>
              </a:lnSpc>
            </a:pPr>
            <a:r>
              <a:rPr sz="1350" b="1" i="0" u="none">
                <a:solidFill>
                  <a:srgbClr val="23304D"/>
                </a:solidFill>
                <a:latin typeface="Horas"/>
              </a:rPr>
              <a:t>Teach it your business</a:t>
            </a:r>
          </a:p>
        </p:txBody>
      </p:sp>
      <p:sp>
        <p:nvSpPr>
          <p:cNvPr id="25" name="TextBox 24"/>
          <p:cNvSpPr txBox="1"/>
          <p:nvPr/>
        </p:nvSpPr>
        <p:spPr>
          <a:xfrm>
            <a:off x="1325880" y="3602736"/>
            <a:ext cx="9784080" cy="512063"/>
          </a:xfrm>
          <a:prstGeom prst="rect">
            <a:avLst/>
          </a:prstGeom>
          <a:noFill/>
        </p:spPr>
        <p:txBody>
          <a:bodyPr wrap="square" lIns="45720" rIns="45720" tIns="22860" bIns="22860" anchor="t">
            <a:spAutoFit/>
          </a:bodyPr>
          <a:lstStyle/>
          <a:p>
            <a:pPr algn="l">
              <a:lnSpc>
                <a:spcPct val="100000"/>
              </a:lnSpc>
            </a:pPr>
            <a:r>
              <a:rPr sz="1150" b="0" i="0" u="none">
                <a:solidFill>
                  <a:srgbClr val="3A4457"/>
                </a:solidFill>
                <a:latin typeface="DM Sans"/>
              </a:rPr>
              <a:t>Your services, people, clients and standard replies loaded, then tuned until it sounds like you rather than like software.</a:t>
            </a:r>
          </a:p>
        </p:txBody>
      </p:sp>
      <p:sp>
        <p:nvSpPr>
          <p:cNvPr id="26" name="Rectangle 25"/>
          <p:cNvSpPr/>
          <p:nvPr/>
        </p:nvSpPr>
        <p:spPr>
          <a:xfrm>
            <a:off x="1051560" y="4261103"/>
            <a:ext cx="10332720" cy="932687"/>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4526278"/>
            <a:ext cx="402336" cy="40233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4526278"/>
            <a:ext cx="402336" cy="402336"/>
          </a:xfrm>
          <a:prstGeom prst="rect">
            <a:avLst/>
          </a:prstGeom>
          <a:noFill/>
        </p:spPr>
        <p:txBody>
          <a:bodyPr wrap="square" lIns="45720" rIns="45720" tIns="22860" bIns="22860" anchor="ctr">
            <a:spAutoFit/>
          </a:bodyPr>
          <a:lstStyle/>
          <a:p>
            <a:pPr algn="ctr">
              <a:lnSpc>
                <a:spcPct val="100000"/>
              </a:lnSpc>
            </a:pPr>
            <a:r>
              <a:rPr sz="1300" b="1" i="0" u="none">
                <a:solidFill>
                  <a:srgbClr val="FFFFFF"/>
                </a:solidFill>
                <a:latin typeface="Horas"/>
              </a:rPr>
              <a:t>4</a:t>
            </a:r>
          </a:p>
        </p:txBody>
      </p:sp>
      <p:sp>
        <p:nvSpPr>
          <p:cNvPr id="29" name="TextBox 28"/>
          <p:cNvSpPr txBox="1"/>
          <p:nvPr/>
        </p:nvSpPr>
        <p:spPr>
          <a:xfrm>
            <a:off x="1325880" y="4334255"/>
            <a:ext cx="9784080" cy="292608"/>
          </a:xfrm>
          <a:prstGeom prst="rect">
            <a:avLst/>
          </a:prstGeom>
          <a:noFill/>
        </p:spPr>
        <p:txBody>
          <a:bodyPr wrap="square" lIns="45720" rIns="45720" tIns="22860" bIns="22860" anchor="t">
            <a:spAutoFit/>
          </a:bodyPr>
          <a:lstStyle/>
          <a:p>
            <a:pPr algn="l">
              <a:lnSpc>
                <a:spcPct val="100000"/>
              </a:lnSpc>
            </a:pPr>
            <a:r>
              <a:rPr sz="1350" b="1" i="0" u="none">
                <a:solidFill>
                  <a:srgbClr val="23304D"/>
                </a:solidFill>
                <a:latin typeface="Horas"/>
              </a:rPr>
              <a:t>Shadow week</a:t>
            </a:r>
          </a:p>
        </p:txBody>
      </p:sp>
      <p:sp>
        <p:nvSpPr>
          <p:cNvPr id="30" name="TextBox 29"/>
          <p:cNvSpPr txBox="1"/>
          <p:nvPr/>
        </p:nvSpPr>
        <p:spPr>
          <a:xfrm>
            <a:off x="1325880" y="4626863"/>
            <a:ext cx="9784080" cy="512063"/>
          </a:xfrm>
          <a:prstGeom prst="rect">
            <a:avLst/>
          </a:prstGeom>
          <a:noFill/>
        </p:spPr>
        <p:txBody>
          <a:bodyPr wrap="square" lIns="45720" rIns="45720" tIns="22860" bIns="22860" anchor="t">
            <a:spAutoFit/>
          </a:bodyPr>
          <a:lstStyle/>
          <a:p>
            <a:pPr algn="l">
              <a:lnSpc>
                <a:spcPct val="100000"/>
              </a:lnSpc>
            </a:pPr>
            <a:r>
              <a:rPr sz="1150" b="0" i="0" u="none">
                <a:solidFill>
                  <a:srgbClr val="3A4457"/>
                </a:solidFill>
                <a:latin typeface="DM Sans"/>
              </a:rPr>
              <a:t>It runs alongside your normal routine while you approve or correct every draft. The corrections are the training.</a:t>
            </a:r>
          </a:p>
        </p:txBody>
      </p:sp>
      <p:sp>
        <p:nvSpPr>
          <p:cNvPr id="31" name="Rectangle 30"/>
          <p:cNvSpPr/>
          <p:nvPr/>
        </p:nvSpPr>
        <p:spPr>
          <a:xfrm>
            <a:off x="1051560" y="5285231"/>
            <a:ext cx="10332720" cy="932687"/>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5550406"/>
            <a:ext cx="402336" cy="40233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5550406"/>
            <a:ext cx="402336" cy="402336"/>
          </a:xfrm>
          <a:prstGeom prst="rect">
            <a:avLst/>
          </a:prstGeom>
          <a:noFill/>
        </p:spPr>
        <p:txBody>
          <a:bodyPr wrap="square" lIns="45720" rIns="45720" tIns="22860" bIns="22860" anchor="ctr">
            <a:spAutoFit/>
          </a:bodyPr>
          <a:lstStyle/>
          <a:p>
            <a:pPr algn="ctr">
              <a:lnSpc>
                <a:spcPct val="100000"/>
              </a:lnSpc>
            </a:pPr>
            <a:r>
              <a:rPr sz="1300" b="1" i="0" u="none">
                <a:solidFill>
                  <a:srgbClr val="FFFFFF"/>
                </a:solidFill>
                <a:latin typeface="Horas"/>
              </a:rPr>
              <a:t>5</a:t>
            </a:r>
          </a:p>
        </p:txBody>
      </p:sp>
      <p:sp>
        <p:nvSpPr>
          <p:cNvPr id="34" name="TextBox 33"/>
          <p:cNvSpPr txBox="1"/>
          <p:nvPr/>
        </p:nvSpPr>
        <p:spPr>
          <a:xfrm>
            <a:off x="1325880" y="5358383"/>
            <a:ext cx="9784080" cy="292608"/>
          </a:xfrm>
          <a:prstGeom prst="rect">
            <a:avLst/>
          </a:prstGeom>
          <a:noFill/>
        </p:spPr>
        <p:txBody>
          <a:bodyPr wrap="square" lIns="45720" rIns="45720" tIns="22860" bIns="22860" anchor="t">
            <a:spAutoFit/>
          </a:bodyPr>
          <a:lstStyle/>
          <a:p>
            <a:pPr algn="l">
              <a:lnSpc>
                <a:spcPct val="100000"/>
              </a:lnSpc>
            </a:pPr>
            <a:r>
              <a:rPr sz="1350" b="1" i="0" u="none">
                <a:solidFill>
                  <a:srgbClr val="23304D"/>
                </a:solidFill>
                <a:latin typeface="Horas"/>
              </a:rPr>
              <a:t>Live &amp; supported</a:t>
            </a:r>
          </a:p>
        </p:txBody>
      </p:sp>
      <p:sp>
        <p:nvSpPr>
          <p:cNvPr id="35" name="TextBox 34"/>
          <p:cNvSpPr txBox="1"/>
          <p:nvPr/>
        </p:nvSpPr>
        <p:spPr>
          <a:xfrm>
            <a:off x="1325880" y="5650991"/>
            <a:ext cx="9784080" cy="512063"/>
          </a:xfrm>
          <a:prstGeom prst="rect">
            <a:avLst/>
          </a:prstGeom>
          <a:noFill/>
        </p:spPr>
        <p:txBody>
          <a:bodyPr wrap="square" lIns="45720" rIns="45720" tIns="22860" bIns="22860" anchor="t">
            <a:spAutoFit/>
          </a:bodyPr>
          <a:lstStyle/>
          <a:p>
            <a:pPr algn="l">
              <a:lnSpc>
                <a:spcPct val="100000"/>
              </a:lnSpc>
            </a:pPr>
            <a:r>
              <a:rPr sz="1150" b="0" i="0" u="none">
                <a:solidFill>
                  <a:srgbClr val="3A4457"/>
                </a:solidFill>
                <a:latin typeface="DM Sans"/>
              </a:rPr>
              <a:t>You work from the queue instead of the inbox. We keep tuning as the business changes — that is what the monthly covers.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515600" cy="411480"/>
          </a:xfrm>
          <a:prstGeom prst="rect">
            <a:avLst/>
          </a:prstGeom>
          <a:noFill/>
        </p:spPr>
        <p:txBody>
          <a:bodyPr wrap="square" lIns="45720" rIns="45720" tIns="22860" bIns="22860" anchor="t">
            <a:spAutoFit/>
          </a:bodyPr>
          <a:lstStyle/>
          <a:p>
            <a:pPr algn="l">
              <a:lnSpc>
                <a:spcPct val="100000"/>
              </a:lnSpc>
            </a:pPr>
            <a:r>
              <a:rPr sz="2200" b="1" i="0" u="none">
                <a:solidFill>
                  <a:srgbClr val="FFFFFF"/>
                </a:solidFill>
                <a:latin typeface="Horas"/>
              </a:rPr>
              <a:t>WHAT YOU'LL NEED, AND STRAIGHT ANSWERS</a:t>
            </a:r>
          </a:p>
        </p:txBody>
      </p:sp>
      <p:sp>
        <p:nvSpPr>
          <p:cNvPr id="6" name="TextBox 5"/>
          <p:cNvSpPr txBox="1"/>
          <p:nvPr/>
        </p:nvSpPr>
        <p:spPr>
          <a:xfrm>
            <a:off x="411480" y="457200"/>
            <a:ext cx="10515600" cy="274320"/>
          </a:xfrm>
          <a:prstGeom prst="rect">
            <a:avLst/>
          </a:prstGeom>
          <a:noFill/>
        </p:spPr>
        <p:txBody>
          <a:bodyPr wrap="square" lIns="45720" rIns="45720" tIns="22860" bIns="22860" anchor="t">
            <a:spAutoFit/>
          </a:bodyPr>
          <a:lstStyle/>
          <a:p>
            <a:pPr algn="l">
              <a:lnSpc>
                <a:spcPct val="100000"/>
              </a:lnSpc>
            </a:pPr>
            <a:r>
              <a:rPr sz="1100" b="0" i="1" u="none">
                <a:solidFill>
                  <a:srgbClr val="DBE4ED"/>
                </a:solidFill>
                <a:latin typeface="DM Sans"/>
              </a:rPr>
              <a:t>Most businesses already have all of it</a:t>
            </a:r>
          </a:p>
        </p:txBody>
      </p:sp>
      <p:sp>
        <p:nvSpPr>
          <p:cNvPr id="7" name="Rectangle 6"/>
          <p:cNvSpPr/>
          <p:nvPr/>
        </p:nvSpPr>
        <p:spPr>
          <a:xfrm>
            <a:off x="0" y="6519672"/>
            <a:ext cx="12191695" cy="45720"/>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65392"/>
            <a:ext cx="12191695" cy="292608"/>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592824"/>
            <a:ext cx="7772400" cy="256032"/>
          </a:xfrm>
          <a:prstGeom prst="rect">
            <a:avLst/>
          </a:prstGeom>
          <a:noFill/>
        </p:spPr>
        <p:txBody>
          <a:bodyPr wrap="square" lIns="45720" rIns="45720" tIns="22860" bIns="22860" anchor="t">
            <a:spAutoFit/>
          </a:bodyPr>
          <a:lstStyle/>
          <a:p>
            <a:pPr algn="l">
              <a:lnSpc>
                <a:spcPct val="100000"/>
              </a:lnSpc>
            </a:pPr>
            <a:r>
              <a:rPr sz="900" b="0" i="0" u="none">
                <a:solidFill>
                  <a:srgbClr val="FFFFFF"/>
                </a:solidFill>
                <a:latin typeface="DM Sans"/>
              </a:rPr>
              <a:t>Atlas One  ·  Test Company LLC  ·  Technology &amp; Operations</a:t>
            </a:r>
          </a:p>
        </p:txBody>
      </p:sp>
      <p:sp>
        <p:nvSpPr>
          <p:cNvPr id="10" name="TextBox 9"/>
          <p:cNvSpPr txBox="1"/>
          <p:nvPr/>
        </p:nvSpPr>
        <p:spPr>
          <a:xfrm>
            <a:off x="10058400" y="6592824"/>
            <a:ext cx="1737360" cy="256032"/>
          </a:xfrm>
          <a:prstGeom prst="rect">
            <a:avLst/>
          </a:prstGeom>
          <a:noFill/>
        </p:spPr>
        <p:txBody>
          <a:bodyPr wrap="square" lIns="45720" rIns="45720" tIns="22860" bIns="22860" anchor="t">
            <a:spAutoFit/>
          </a:bodyPr>
          <a:lstStyle/>
          <a:p>
            <a:pPr algn="r">
              <a:lnSpc>
                <a:spcPct val="100000"/>
              </a:lnSpc>
            </a:pPr>
            <a:r>
              <a:rPr sz="900" b="0" i="1" u="none">
                <a:solidFill>
                  <a:srgbClr val="DBE4ED"/>
                </a:solidFill>
                <a:latin typeface="DM Sans"/>
              </a:rPr>
              <a:t>Less paperwork. More time for what matters.</a:t>
            </a:r>
          </a:p>
        </p:txBody>
      </p:sp>
      <p:sp>
        <p:nvSpPr>
          <p:cNvPr id="11" name="TextBox 10"/>
          <p:cNvSpPr txBox="1"/>
          <p:nvPr/>
        </p:nvSpPr>
        <p:spPr>
          <a:xfrm>
            <a:off x="457200" y="1051560"/>
            <a:ext cx="5120640" cy="256032"/>
          </a:xfrm>
          <a:prstGeom prst="rect">
            <a:avLst/>
          </a:prstGeom>
          <a:noFill/>
        </p:spPr>
        <p:txBody>
          <a:bodyPr wrap="square" lIns="45720" rIns="45720" tIns="22860" bIns="22860" anchor="t">
            <a:spAutoFit/>
          </a:bodyPr>
          <a:lstStyle/>
          <a:p>
            <a:pPr algn="l">
              <a:lnSpc>
                <a:spcPct val="100000"/>
              </a:lnSpc>
            </a:pPr>
            <a:r>
              <a:rPr sz="1000" b="1" i="0" u="none">
                <a:solidFill>
                  <a:srgbClr val="23304D"/>
                </a:solidFill>
                <a:latin typeface="Horas"/>
              </a:rPr>
              <a:t>WHAT WE NEED FROM YOU</a:t>
            </a:r>
          </a:p>
        </p:txBody>
      </p:sp>
      <p:sp>
        <p:nvSpPr>
          <p:cNvPr id="12" name="Rectangle 11"/>
          <p:cNvSpPr/>
          <p:nvPr/>
        </p:nvSpPr>
        <p:spPr>
          <a:xfrm>
            <a:off x="457200" y="1325880"/>
            <a:ext cx="5120640" cy="4114800"/>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481328"/>
            <a:ext cx="1417320" cy="274320"/>
          </a:xfrm>
          <a:prstGeom prst="rect">
            <a:avLst/>
          </a:prstGeom>
          <a:noFill/>
        </p:spPr>
        <p:txBody>
          <a:bodyPr wrap="square" lIns="45720" rIns="45720" tIns="22860" bIns="22860" anchor="t">
            <a:spAutoFit/>
          </a:bodyPr>
          <a:lstStyle/>
          <a:p>
            <a:pPr algn="l">
              <a:lnSpc>
                <a:spcPct val="100000"/>
              </a:lnSpc>
            </a:pPr>
            <a:r>
              <a:rPr sz="1150" b="1" i="0" u="none">
                <a:solidFill>
                  <a:srgbClr val="23304D"/>
                </a:solidFill>
                <a:latin typeface="Horas"/>
              </a:rPr>
              <a:t>Email</a:t>
            </a:r>
          </a:p>
        </p:txBody>
      </p:sp>
      <p:sp>
        <p:nvSpPr>
          <p:cNvPr id="14" name="TextBox 13"/>
          <p:cNvSpPr txBox="1"/>
          <p:nvPr/>
        </p:nvSpPr>
        <p:spPr>
          <a:xfrm>
            <a:off x="2148840" y="1481328"/>
            <a:ext cx="3246120" cy="658368"/>
          </a:xfrm>
          <a:prstGeom prst="rect">
            <a:avLst/>
          </a:prstGeom>
          <a:noFill/>
        </p:spPr>
        <p:txBody>
          <a:bodyPr wrap="square" lIns="45720" rIns="45720" tIns="22860" bIns="22860" anchor="t">
            <a:spAutoFit/>
          </a:bodyPr>
          <a:lstStyle/>
          <a:p>
            <a:pPr algn="l">
              <a:lnSpc>
                <a:spcPct val="100000"/>
              </a:lnSpc>
            </a:pPr>
            <a:r>
              <a:rPr sz="1100" b="0" i="0" u="none">
                <a:solidFill>
                  <a:srgbClr val="3A4457"/>
                </a:solidFill>
                <a:latin typeface="DM Sans"/>
              </a:rPr>
              <a:t>Microsoft 365 Business Standard or above, or Google Workspace</a:t>
            </a:r>
          </a:p>
        </p:txBody>
      </p:sp>
      <p:sp>
        <p:nvSpPr>
          <p:cNvPr id="15" name="TextBox 14"/>
          <p:cNvSpPr txBox="1"/>
          <p:nvPr/>
        </p:nvSpPr>
        <p:spPr>
          <a:xfrm>
            <a:off x="658368" y="2267712"/>
            <a:ext cx="1417320" cy="274320"/>
          </a:xfrm>
          <a:prstGeom prst="rect">
            <a:avLst/>
          </a:prstGeom>
          <a:noFill/>
        </p:spPr>
        <p:txBody>
          <a:bodyPr wrap="square" lIns="45720" rIns="45720" tIns="22860" bIns="22860" anchor="t">
            <a:spAutoFit/>
          </a:bodyPr>
          <a:lstStyle/>
          <a:p>
            <a:pPr algn="l">
              <a:lnSpc>
                <a:spcPct val="100000"/>
              </a:lnSpc>
            </a:pPr>
            <a:r>
              <a:rPr sz="1150" b="1" i="0" u="none">
                <a:solidFill>
                  <a:srgbClr val="23304D"/>
                </a:solidFill>
                <a:latin typeface="Horas"/>
              </a:rPr>
              <a:t>Administrator</a:t>
            </a:r>
          </a:p>
        </p:txBody>
      </p:sp>
      <p:sp>
        <p:nvSpPr>
          <p:cNvPr id="16" name="TextBox 15"/>
          <p:cNvSpPr txBox="1"/>
          <p:nvPr/>
        </p:nvSpPr>
        <p:spPr>
          <a:xfrm>
            <a:off x="2148840" y="2267712"/>
            <a:ext cx="3246120" cy="658368"/>
          </a:xfrm>
          <a:prstGeom prst="rect">
            <a:avLst/>
          </a:prstGeom>
          <a:noFill/>
        </p:spPr>
        <p:txBody>
          <a:bodyPr wrap="square" lIns="45720" rIns="45720" tIns="22860" bIns="22860" anchor="t">
            <a:spAutoFit/>
          </a:bodyPr>
          <a:lstStyle/>
          <a:p>
            <a:pPr algn="l">
              <a:lnSpc>
                <a:spcPct val="100000"/>
              </a:lnSpc>
            </a:pPr>
            <a:r>
              <a:rPr sz="1100" b="0" i="0" u="none">
                <a:solidFill>
                  <a:srgbClr val="3A4457"/>
                </a:solidFill>
                <a:latin typeface="DM Sans"/>
              </a:rPr>
              <a:t>Someone who can approve an application connection</a:t>
            </a:r>
          </a:p>
        </p:txBody>
      </p:sp>
      <p:sp>
        <p:nvSpPr>
          <p:cNvPr id="17" name="TextBox 16"/>
          <p:cNvSpPr txBox="1"/>
          <p:nvPr/>
        </p:nvSpPr>
        <p:spPr>
          <a:xfrm>
            <a:off x="658368" y="3054096"/>
            <a:ext cx="1417320" cy="274320"/>
          </a:xfrm>
          <a:prstGeom prst="rect">
            <a:avLst/>
          </a:prstGeom>
          <a:noFill/>
        </p:spPr>
        <p:txBody>
          <a:bodyPr wrap="square" lIns="45720" rIns="45720" tIns="22860" bIns="22860" anchor="t">
            <a:spAutoFit/>
          </a:bodyPr>
          <a:lstStyle/>
          <a:p>
            <a:pPr algn="l">
              <a:lnSpc>
                <a:spcPct val="100000"/>
              </a:lnSpc>
            </a:pPr>
            <a:r>
              <a:rPr sz="1150" b="1" i="0" u="none">
                <a:solidFill>
                  <a:srgbClr val="23304D"/>
                </a:solidFill>
                <a:latin typeface="Horas"/>
              </a:rPr>
              <a:t>Storage</a:t>
            </a:r>
          </a:p>
        </p:txBody>
      </p:sp>
      <p:sp>
        <p:nvSpPr>
          <p:cNvPr id="18" name="TextBox 17"/>
          <p:cNvSpPr txBox="1"/>
          <p:nvPr/>
        </p:nvSpPr>
        <p:spPr>
          <a:xfrm>
            <a:off x="2148840" y="3054096"/>
            <a:ext cx="3246120" cy="658368"/>
          </a:xfrm>
          <a:prstGeom prst="rect">
            <a:avLst/>
          </a:prstGeom>
          <a:noFill/>
        </p:spPr>
        <p:txBody>
          <a:bodyPr wrap="square" lIns="45720" rIns="45720" tIns="22860" bIns="22860" anchor="t">
            <a:spAutoFit/>
          </a:bodyPr>
          <a:lstStyle/>
          <a:p>
            <a:pPr algn="l">
              <a:lnSpc>
                <a:spcPct val="100000"/>
              </a:lnSpc>
            </a:pPr>
            <a:r>
              <a:rPr sz="1100" b="0" i="0" u="none">
                <a:solidFill>
                  <a:srgbClr val="3A4457"/>
                </a:solidFill>
                <a:latin typeface="DM Sans"/>
              </a:rPr>
              <a:t>SharePoint, OneDrive or Google Drive with a folder structure</a:t>
            </a:r>
          </a:p>
        </p:txBody>
      </p:sp>
      <p:sp>
        <p:nvSpPr>
          <p:cNvPr id="19" name="TextBox 18"/>
          <p:cNvSpPr txBox="1"/>
          <p:nvPr/>
        </p:nvSpPr>
        <p:spPr>
          <a:xfrm>
            <a:off x="658368" y="3840480"/>
            <a:ext cx="1417320" cy="274320"/>
          </a:xfrm>
          <a:prstGeom prst="rect">
            <a:avLst/>
          </a:prstGeom>
          <a:noFill/>
        </p:spPr>
        <p:txBody>
          <a:bodyPr wrap="square" lIns="45720" rIns="45720" tIns="22860" bIns="22860" anchor="t">
            <a:spAutoFit/>
          </a:bodyPr>
          <a:lstStyle/>
          <a:p>
            <a:pPr algn="l">
              <a:lnSpc>
                <a:spcPct val="100000"/>
              </a:lnSpc>
            </a:pPr>
            <a:r>
              <a:rPr sz="1150" b="1" i="0" u="none">
                <a:solidFill>
                  <a:srgbClr val="23304D"/>
                </a:solidFill>
                <a:latin typeface="Horas"/>
              </a:rPr>
              <a:t>CRM</a:t>
            </a:r>
          </a:p>
        </p:txBody>
      </p:sp>
      <p:sp>
        <p:nvSpPr>
          <p:cNvPr id="20" name="TextBox 19"/>
          <p:cNvSpPr txBox="1"/>
          <p:nvPr/>
        </p:nvSpPr>
        <p:spPr>
          <a:xfrm>
            <a:off x="2148840" y="3840480"/>
            <a:ext cx="3246120" cy="658368"/>
          </a:xfrm>
          <a:prstGeom prst="rect">
            <a:avLst/>
          </a:prstGeom>
          <a:noFill/>
        </p:spPr>
        <p:txBody>
          <a:bodyPr wrap="square" lIns="45720" rIns="45720" tIns="22860" bIns="22860" anchor="t">
            <a:spAutoFit/>
          </a:bodyPr>
          <a:lstStyle/>
          <a:p>
            <a:pPr algn="l">
              <a:lnSpc>
                <a:spcPct val="100000"/>
              </a:lnSpc>
            </a:pPr>
            <a:r>
              <a:rPr sz="1100" b="0" i="0" u="none">
                <a:solidFill>
                  <a:srgbClr val="3A4457"/>
                </a:solidFill>
                <a:latin typeface="DM Sans"/>
              </a:rPr>
              <a:t>Optional — connected if you have one, works fine without</a:t>
            </a:r>
          </a:p>
        </p:txBody>
      </p:sp>
      <p:sp>
        <p:nvSpPr>
          <p:cNvPr id="21" name="TextBox 20"/>
          <p:cNvSpPr txBox="1"/>
          <p:nvPr/>
        </p:nvSpPr>
        <p:spPr>
          <a:xfrm>
            <a:off x="658368" y="4626864"/>
            <a:ext cx="1417320" cy="274320"/>
          </a:xfrm>
          <a:prstGeom prst="rect">
            <a:avLst/>
          </a:prstGeom>
          <a:noFill/>
        </p:spPr>
        <p:txBody>
          <a:bodyPr wrap="square" lIns="45720" rIns="45720" tIns="22860" bIns="22860" anchor="t">
            <a:spAutoFit/>
          </a:bodyPr>
          <a:lstStyle/>
          <a:p>
            <a:pPr algn="l">
              <a:lnSpc>
                <a:spcPct val="100000"/>
              </a:lnSpc>
            </a:pPr>
            <a:r>
              <a:rPr sz="1150" b="1" i="0" u="none">
                <a:solidFill>
                  <a:srgbClr val="23304D"/>
                </a:solidFill>
                <a:latin typeface="Horas"/>
              </a:rPr>
              <a:t>Your time</a:t>
            </a:r>
          </a:p>
        </p:txBody>
      </p:sp>
      <p:sp>
        <p:nvSpPr>
          <p:cNvPr id="22" name="TextBox 21"/>
          <p:cNvSpPr txBox="1"/>
          <p:nvPr/>
        </p:nvSpPr>
        <p:spPr>
          <a:xfrm>
            <a:off x="2148840" y="4626864"/>
            <a:ext cx="3246120" cy="658368"/>
          </a:xfrm>
          <a:prstGeom prst="rect">
            <a:avLst/>
          </a:prstGeom>
          <a:noFill/>
        </p:spPr>
        <p:txBody>
          <a:bodyPr wrap="square" lIns="45720" rIns="45720" tIns="22860" bIns="22860" anchor="t">
            <a:spAutoFit/>
          </a:bodyPr>
          <a:lstStyle/>
          <a:p>
            <a:pPr algn="l">
              <a:lnSpc>
                <a:spcPct val="100000"/>
              </a:lnSpc>
            </a:pPr>
            <a:r>
              <a:rPr sz="1100" b="0" i="0" u="none">
                <a:solidFill>
                  <a:srgbClr val="3A4457"/>
                </a:solidFill>
                <a:latin typeface="DM Sans"/>
              </a:rPr>
              <a:t>About two hours total, plus reviewing drafts in shadow week</a:t>
            </a:r>
          </a:p>
        </p:txBody>
      </p:sp>
      <p:sp>
        <p:nvSpPr>
          <p:cNvPr id="23" name="TextBox 22"/>
          <p:cNvSpPr txBox="1"/>
          <p:nvPr/>
        </p:nvSpPr>
        <p:spPr>
          <a:xfrm>
            <a:off x="5943600" y="1051560"/>
            <a:ext cx="5806440" cy="256032"/>
          </a:xfrm>
          <a:prstGeom prst="rect">
            <a:avLst/>
          </a:prstGeom>
          <a:noFill/>
        </p:spPr>
        <p:txBody>
          <a:bodyPr wrap="square" lIns="45720" rIns="45720" tIns="22860" bIns="22860" anchor="t">
            <a:spAutoFit/>
          </a:bodyPr>
          <a:lstStyle/>
          <a:p>
            <a:pPr algn="l">
              <a:lnSpc>
                <a:spcPct val="100000"/>
              </a:lnSpc>
            </a:pPr>
            <a:r>
              <a:rPr sz="1000" b="1" i="0" u="none">
                <a:solidFill>
                  <a:srgbClr val="23304D"/>
                </a:solidFill>
                <a:latin typeface="Horas"/>
              </a:rPr>
              <a:t>STRAIGHT ANSWERS</a:t>
            </a:r>
          </a:p>
        </p:txBody>
      </p:sp>
      <p:sp>
        <p:nvSpPr>
          <p:cNvPr id="24" name="Rectangle 23"/>
          <p:cNvSpPr/>
          <p:nvPr/>
        </p:nvSpPr>
        <p:spPr>
          <a:xfrm>
            <a:off x="5943600" y="1325880"/>
            <a:ext cx="5806440" cy="955547"/>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0" y="1325880"/>
            <a:ext cx="64008" cy="955547"/>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72200" y="1389888"/>
            <a:ext cx="5440680" cy="274320"/>
          </a:xfrm>
          <a:prstGeom prst="rect">
            <a:avLst/>
          </a:prstGeom>
          <a:noFill/>
        </p:spPr>
        <p:txBody>
          <a:bodyPr wrap="square" lIns="45720" rIns="45720" tIns="22860" bIns="22860" anchor="t">
            <a:spAutoFit/>
          </a:bodyPr>
          <a:lstStyle/>
          <a:p>
            <a:pPr algn="l">
              <a:lnSpc>
                <a:spcPct val="100000"/>
              </a:lnSpc>
            </a:pPr>
            <a:r>
              <a:rPr sz="1150" b="1" i="0" u="none">
                <a:solidFill>
                  <a:srgbClr val="23304D"/>
                </a:solidFill>
                <a:latin typeface="Horas"/>
              </a:rPr>
              <a:t>Will it send something embarrassing?</a:t>
            </a:r>
          </a:p>
        </p:txBody>
      </p:sp>
      <p:sp>
        <p:nvSpPr>
          <p:cNvPr id="27" name="TextBox 26"/>
          <p:cNvSpPr txBox="1"/>
          <p:nvPr/>
        </p:nvSpPr>
        <p:spPr>
          <a:xfrm>
            <a:off x="6172200" y="1655064"/>
            <a:ext cx="5440680" cy="571500"/>
          </a:xfrm>
          <a:prstGeom prst="rect">
            <a:avLst/>
          </a:prstGeom>
          <a:noFill/>
        </p:spPr>
        <p:txBody>
          <a:bodyPr wrap="square" lIns="45720" rIns="45720" tIns="22860" bIns="22860" anchor="t">
            <a:spAutoFit/>
          </a:bodyPr>
          <a:lstStyle/>
          <a:p>
            <a:pPr algn="l">
              <a:lnSpc>
                <a:spcPct val="100000"/>
              </a:lnSpc>
            </a:pPr>
            <a:r>
              <a:rPr sz="1050" b="0" i="0" u="none">
                <a:solidFill>
                  <a:srgbClr val="3A4457"/>
                </a:solidFill>
                <a:latin typeface="DM Sans"/>
              </a:rPr>
              <a:t>It cannot send anything. Every draft waits for you. The worst case is a draft you delete in one click.</a:t>
            </a:r>
          </a:p>
        </p:txBody>
      </p:sp>
      <p:sp>
        <p:nvSpPr>
          <p:cNvPr id="28" name="Rectangle 27"/>
          <p:cNvSpPr/>
          <p:nvPr/>
        </p:nvSpPr>
        <p:spPr>
          <a:xfrm>
            <a:off x="5943600" y="2354580"/>
            <a:ext cx="5806440" cy="955547"/>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943600" y="2354580"/>
            <a:ext cx="64008" cy="955547"/>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72200" y="2418588"/>
            <a:ext cx="5440680" cy="274320"/>
          </a:xfrm>
          <a:prstGeom prst="rect">
            <a:avLst/>
          </a:prstGeom>
          <a:noFill/>
        </p:spPr>
        <p:txBody>
          <a:bodyPr wrap="square" lIns="45720" rIns="45720" tIns="22860" bIns="22860" anchor="t">
            <a:spAutoFit/>
          </a:bodyPr>
          <a:lstStyle/>
          <a:p>
            <a:pPr algn="l">
              <a:lnSpc>
                <a:spcPct val="100000"/>
              </a:lnSpc>
            </a:pPr>
            <a:r>
              <a:rPr sz="1150" b="1" i="0" u="none">
                <a:solidFill>
                  <a:srgbClr val="23304D"/>
                </a:solidFill>
                <a:latin typeface="Horas"/>
              </a:rPr>
              <a:t>What if it files something in the wrong place?</a:t>
            </a:r>
          </a:p>
        </p:txBody>
      </p:sp>
      <p:sp>
        <p:nvSpPr>
          <p:cNvPr id="31" name="TextBox 30"/>
          <p:cNvSpPr txBox="1"/>
          <p:nvPr/>
        </p:nvSpPr>
        <p:spPr>
          <a:xfrm>
            <a:off x="6172200" y="2683764"/>
            <a:ext cx="5440680" cy="571500"/>
          </a:xfrm>
          <a:prstGeom prst="rect">
            <a:avLst/>
          </a:prstGeom>
          <a:noFill/>
        </p:spPr>
        <p:txBody>
          <a:bodyPr wrap="square" lIns="45720" rIns="45720" tIns="22860" bIns="22860" anchor="t">
            <a:spAutoFit/>
          </a:bodyPr>
          <a:lstStyle/>
          <a:p>
            <a:pPr algn="l">
              <a:lnSpc>
                <a:spcPct val="100000"/>
              </a:lnSpc>
            </a:pPr>
            <a:r>
              <a:rPr sz="1050" b="0" i="0" u="none">
                <a:solidFill>
                  <a:srgbClr val="3A4457"/>
                </a:solidFill>
                <a:latin typeface="DM Sans"/>
              </a:rPr>
              <a:t>Filing is logged and reversible, and the report shows exactly where everything went. Misfiles get corrected during shadow week and it learns from the correction.</a:t>
            </a:r>
          </a:p>
        </p:txBody>
      </p:sp>
      <p:sp>
        <p:nvSpPr>
          <p:cNvPr id="32" name="Rectangle 31"/>
          <p:cNvSpPr/>
          <p:nvPr/>
        </p:nvSpPr>
        <p:spPr>
          <a:xfrm>
            <a:off x="5943600" y="3383280"/>
            <a:ext cx="5806440" cy="955547"/>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943600" y="3383280"/>
            <a:ext cx="64008" cy="955547"/>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72200" y="3447288"/>
            <a:ext cx="5440680" cy="274320"/>
          </a:xfrm>
          <a:prstGeom prst="rect">
            <a:avLst/>
          </a:prstGeom>
          <a:noFill/>
        </p:spPr>
        <p:txBody>
          <a:bodyPr wrap="square" lIns="45720" rIns="45720" tIns="22860" bIns="22860" anchor="t">
            <a:spAutoFit/>
          </a:bodyPr>
          <a:lstStyle/>
          <a:p>
            <a:pPr algn="l">
              <a:lnSpc>
                <a:spcPct val="100000"/>
              </a:lnSpc>
            </a:pPr>
            <a:r>
              <a:rPr sz="1150" b="1" i="0" u="none">
                <a:solidFill>
                  <a:srgbClr val="23304D"/>
                </a:solidFill>
                <a:latin typeface="Horas"/>
              </a:rPr>
              <a:t>Where does our data live?</a:t>
            </a:r>
          </a:p>
        </p:txBody>
      </p:sp>
      <p:sp>
        <p:nvSpPr>
          <p:cNvPr id="35" name="TextBox 34"/>
          <p:cNvSpPr txBox="1"/>
          <p:nvPr/>
        </p:nvSpPr>
        <p:spPr>
          <a:xfrm>
            <a:off x="6172200" y="3712464"/>
            <a:ext cx="5440680" cy="571500"/>
          </a:xfrm>
          <a:prstGeom prst="rect">
            <a:avLst/>
          </a:prstGeom>
          <a:noFill/>
        </p:spPr>
        <p:txBody>
          <a:bodyPr wrap="square" lIns="45720" rIns="45720" tIns="22860" bIns="22860" anchor="t">
            <a:spAutoFit/>
          </a:bodyPr>
          <a:lstStyle/>
          <a:p>
            <a:pPr algn="l">
              <a:lnSpc>
                <a:spcPct val="100000"/>
              </a:lnSpc>
            </a:pPr>
            <a:r>
              <a:rPr sz="1050" b="0" i="0" u="none">
                <a:solidFill>
                  <a:srgbClr val="3A4457"/>
                </a:solidFill>
                <a:latin typeface="DM Sans"/>
              </a:rPr>
              <a:t>Inside your own tenant. Your email is not copied to a shared platform, not pooled with other customers, and not used to train anything.</a:t>
            </a:r>
          </a:p>
        </p:txBody>
      </p:sp>
      <p:sp>
        <p:nvSpPr>
          <p:cNvPr id="36" name="Rectangle 35"/>
          <p:cNvSpPr/>
          <p:nvPr/>
        </p:nvSpPr>
        <p:spPr>
          <a:xfrm>
            <a:off x="5943600" y="4411980"/>
            <a:ext cx="5806440" cy="955547"/>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943600" y="4411980"/>
            <a:ext cx="64008" cy="955547"/>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72200" y="4475988"/>
            <a:ext cx="5440680" cy="274320"/>
          </a:xfrm>
          <a:prstGeom prst="rect">
            <a:avLst/>
          </a:prstGeom>
          <a:noFill/>
        </p:spPr>
        <p:txBody>
          <a:bodyPr wrap="square" lIns="45720" rIns="45720" tIns="22860" bIns="22860" anchor="t">
            <a:spAutoFit/>
          </a:bodyPr>
          <a:lstStyle/>
          <a:p>
            <a:pPr algn="l">
              <a:lnSpc>
                <a:spcPct val="100000"/>
              </a:lnSpc>
            </a:pPr>
            <a:r>
              <a:rPr sz="1150" b="1" i="0" u="none">
                <a:solidFill>
                  <a:srgbClr val="23304D"/>
                </a:solidFill>
                <a:latin typeface="Horas"/>
              </a:rPr>
              <a:t>What happens if we stop?</a:t>
            </a:r>
          </a:p>
        </p:txBody>
      </p:sp>
      <p:sp>
        <p:nvSpPr>
          <p:cNvPr id="39" name="TextBox 38"/>
          <p:cNvSpPr txBox="1"/>
          <p:nvPr/>
        </p:nvSpPr>
        <p:spPr>
          <a:xfrm>
            <a:off x="6172200" y="4741164"/>
            <a:ext cx="5440680" cy="571500"/>
          </a:xfrm>
          <a:prstGeom prst="rect">
            <a:avLst/>
          </a:prstGeom>
          <a:noFill/>
        </p:spPr>
        <p:txBody>
          <a:bodyPr wrap="square" lIns="45720" rIns="45720" tIns="22860" bIns="22860" anchor="t">
            <a:spAutoFit/>
          </a:bodyPr>
          <a:lstStyle/>
          <a:p>
            <a:pPr algn="l">
              <a:lnSpc>
                <a:spcPct val="100000"/>
              </a:lnSpc>
            </a:pPr>
            <a:r>
              <a:rPr sz="1050" b="0" i="0" u="none">
                <a:solidFill>
                  <a:srgbClr val="3A4457"/>
                </a:solidFill>
                <a:latin typeface="DM Sans"/>
              </a:rPr>
              <a:t>The instance is yours to shut down. Your mail, documents and folders are untouched, because they never moved.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12191695" cy="64008"/>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0"/>
            <a:ext cx="10881360" cy="731520"/>
          </a:xfrm>
          <a:prstGeom prst="rect">
            <a:avLst/>
          </a:prstGeom>
          <a:noFill/>
        </p:spPr>
        <p:txBody>
          <a:bodyPr wrap="square" lIns="45720" rIns="45720" tIns="22860" bIns="22860" anchor="t">
            <a:spAutoFit/>
          </a:bodyPr>
          <a:lstStyle/>
          <a:p>
            <a:pPr algn="ctr">
              <a:lnSpc>
                <a:spcPct val="100000"/>
              </a:lnSpc>
            </a:pPr>
            <a:r>
              <a:rPr sz="3800" b="1" i="0" u="none">
                <a:solidFill>
                  <a:srgbClr val="FFFFFF"/>
                </a:solidFill>
                <a:latin typeface="Horas"/>
              </a:rPr>
              <a:t>One Call Solves Everything</a:t>
            </a:r>
          </a:p>
        </p:txBody>
      </p:sp>
      <p:sp>
        <p:nvSpPr>
          <p:cNvPr id="5" name="TextBox 4"/>
          <p:cNvSpPr txBox="1"/>
          <p:nvPr/>
        </p:nvSpPr>
        <p:spPr>
          <a:xfrm>
            <a:off x="640080" y="1737360"/>
            <a:ext cx="10881360" cy="411480"/>
          </a:xfrm>
          <a:prstGeom prst="rect">
            <a:avLst/>
          </a:prstGeom>
          <a:noFill/>
        </p:spPr>
        <p:txBody>
          <a:bodyPr wrap="square" lIns="45720" rIns="45720" tIns="22860" bIns="22860" anchor="t">
            <a:spAutoFit/>
          </a:bodyPr>
          <a:lstStyle/>
          <a:p>
            <a:pPr algn="ctr">
              <a:lnSpc>
                <a:spcPct val="100000"/>
              </a:lnSpc>
            </a:pPr>
            <a:r>
              <a:rPr sz="1600" b="0" i="1" u="none">
                <a:solidFill>
                  <a:srgbClr val="DBE4ED"/>
                </a:solidFill>
                <a:latin typeface="DM Sans"/>
              </a:rPr>
              <a:t>Less paperwork. More time for what matters.</a:t>
            </a:r>
          </a:p>
        </p:txBody>
      </p:sp>
      <p:sp>
        <p:nvSpPr>
          <p:cNvPr id="6" name="Rectangle 5"/>
          <p:cNvSpPr/>
          <p:nvPr/>
        </p:nvSpPr>
        <p:spPr>
          <a:xfrm>
            <a:off x="3108960" y="4160520"/>
            <a:ext cx="5943600" cy="1371600"/>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0" y="4315968"/>
            <a:ext cx="5943600" cy="292608"/>
          </a:xfrm>
          <a:prstGeom prst="rect">
            <a:avLst/>
          </a:prstGeom>
          <a:noFill/>
        </p:spPr>
        <p:txBody>
          <a:bodyPr wrap="square" lIns="45720" rIns="45720" tIns="22860" bIns="22860" anchor="t">
            <a:spAutoFit/>
          </a:bodyPr>
          <a:lstStyle/>
          <a:p>
            <a:pPr algn="ctr">
              <a:lnSpc>
                <a:spcPct val="100000"/>
              </a:lnSpc>
            </a:pPr>
            <a:r>
              <a:rPr sz="1100" b="1" i="0" u="none">
                <a:solidFill>
                  <a:srgbClr val="FFFFFF"/>
                </a:solidFill>
                <a:latin typeface="Horas"/>
              </a:rPr>
              <a:t>NEXT STEP</a:t>
            </a:r>
          </a:p>
        </p:txBody>
      </p:sp>
      <p:sp>
        <p:nvSpPr>
          <p:cNvPr id="8" name="TextBox 7"/>
          <p:cNvSpPr txBox="1"/>
          <p:nvPr/>
        </p:nvSpPr>
        <p:spPr>
          <a:xfrm>
            <a:off x="3291840" y="4617720"/>
            <a:ext cx="5577840" cy="777240"/>
          </a:xfrm>
          <a:prstGeom prst="rect">
            <a:avLst/>
          </a:prstGeom>
          <a:noFill/>
        </p:spPr>
        <p:txBody>
          <a:bodyPr wrap="square" lIns="45720" rIns="45720" tIns="22860" bIns="22860" anchor="ctr">
            <a:spAutoFit/>
          </a:bodyPr>
          <a:lstStyle/>
          <a:p>
            <a:pPr algn="ctr">
              <a:lnSpc>
                <a:spcPct val="100000"/>
              </a:lnSpc>
            </a:pPr>
            <a:r>
              <a:rPr sz="1300" b="1" i="0" u="none">
                <a:solidFill>
                  <a:srgbClr val="FFFFFF"/>
                </a:solidFill>
                <a:latin typeface="DM Sans"/>
              </a:rPr>
              <a:t>Say yes and we start the review. It takes under an hour of your time to find out what this is worth.</a:t>
            </a:r>
          </a:p>
        </p:txBody>
      </p:sp>
      <p:sp>
        <p:nvSpPr>
          <p:cNvPr id="9" name="TextBox 8"/>
          <p:cNvSpPr txBox="1"/>
          <p:nvPr/>
        </p:nvSpPr>
        <p:spPr>
          <a:xfrm>
            <a:off x="640080" y="5943600"/>
            <a:ext cx="10881360" cy="457200"/>
          </a:xfrm>
          <a:prstGeom prst="rect">
            <a:avLst/>
          </a:prstGeom>
          <a:noFill/>
        </p:spPr>
        <p:txBody>
          <a:bodyPr wrap="square" lIns="45720" rIns="45720" tIns="22860" bIns="22860" anchor="t">
            <a:spAutoFit/>
          </a:bodyPr>
          <a:lstStyle/>
          <a:p>
            <a:pPr algn="ctr">
              <a:lnSpc>
                <a:spcPct val="100000"/>
              </a:lnSpc>
            </a:pPr>
            <a:r>
              <a:rPr sz="1200" b="0" i="0" u="none">
                <a:solidFill>
                  <a:srgbClr val="FFFFFF"/>
                </a:solidFill>
                <a:latin typeface="DM Sans"/>
              </a:rPr>
              <a:t>David Taylor  ·  380-CALL-A1S (380-225-5217)  ·  david@atlasonesolutions.com  ·  www.AtlasOneSolutions.com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