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64008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8229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788DE3"/>
                </a:solidFill>
                <a:latin typeface="Horas"/>
              </a:rPr>
              <a:t>RISK &amp; INSURANCE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424160" cy="13716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 u="none">
                <a:solidFill>
                  <a:srgbClr val="FFFFFF"/>
                </a:solidFill>
                <a:latin typeface="Horas"/>
              </a:rPr>
              <a:t>Most workers' comp audits are wrong in the carrier's favor.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9692640" cy="11430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u="none">
                <a:solidFill>
                  <a:srgbClr val="DBE4ED"/>
                </a:solidFill>
                <a:latin typeface="DM Sans"/>
              </a:rPr>
              <a:t>We read the policy, the class codes, the modifier and the audit worksheet — and recover what was overcharged. No recovery, no fee.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0584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788DE3"/>
                </a:solidFill>
                <a:latin typeface="Horas"/>
              </a:rPr>
              <a:t>PREPARED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85232"/>
            <a:ext cx="10058400" cy="38404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u="none">
                <a:solidFill>
                  <a:srgbClr val="FFFFFF"/>
                </a:solidFill>
                <a:latin typeface="Horas"/>
              </a:rPr>
              <a:t>Test Company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788DE3"/>
                </a:solidFill>
                <a:latin typeface="Horas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u="none">
                <a:solidFill>
                  <a:srgbClr val="FFFFFF"/>
                </a:solidFill>
                <a:latin typeface="DM Sans"/>
              </a:rPr>
              <a:t>David Taylor  ·  380-CALL-A1S (380-225-5217)  ·  david@atlasonesolutions.com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Why this exists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Risk &amp; Insurance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554480"/>
            <a:ext cx="10515600" cy="228600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828800"/>
            <a:ext cx="9784080" cy="10058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An audit is prepared by the carrier, on the carrier's forms, using the carrier's classifications. Almost nobody checks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34640"/>
            <a:ext cx="9784080" cy="8686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u="none">
                <a:solidFill>
                  <a:srgbClr val="DBE4ED"/>
                </a:solidFill>
                <a:latin typeface="DM Sans"/>
              </a:rPr>
              <a:t>Payroll gets assigned to the wrong class code. Overtime premium is not stripped. Subcontractors with valid certificates are charged as employees. Officer payroll is not capped. Each one quietly raises a premium that then compounds through your experience modifier for three years.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160520"/>
            <a:ext cx="10515600" cy="8229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 u="none">
                <a:solidFill>
                  <a:srgbClr val="23304D"/>
                </a:solidFill>
                <a:latin typeface="Horas"/>
              </a:rPr>
              <a:t>No recovery, no fee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892040"/>
            <a:ext cx="9235440" cy="9144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 u="none">
                <a:solidFill>
                  <a:srgbClr val="3A4457"/>
                </a:solidFill>
                <a:latin typeface="DM Sans"/>
              </a:rPr>
              <a:t>We work the review on contingency. If nothing was overcharged you owe nothing. If something was, our fee is 25% of what comes back and you keep the rest — plus the corrected modifier, which is usually worth more over three years than the refund itself.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Four jobs, running against your business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Risk &amp; Insurance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55778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34440"/>
            <a:ext cx="5577840" cy="8229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90472"/>
            <a:ext cx="50292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788DE3"/>
                </a:solidFill>
                <a:latin typeface="Hor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01368"/>
            <a:ext cx="5029200" cy="38404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u="none">
                <a:solidFill>
                  <a:srgbClr val="23304D"/>
                </a:solidFill>
                <a:latin typeface="Horas"/>
              </a:rPr>
              <a:t>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240280"/>
            <a:ext cx="5029200" cy="10058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u="none">
                <a:solidFill>
                  <a:srgbClr val="3A4457"/>
                </a:solidFill>
                <a:latin typeface="DM Sans"/>
              </a:rPr>
              <a:t>Every code checked against the work actually performed, not what was written at binding.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234440"/>
            <a:ext cx="55778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234440"/>
            <a:ext cx="5577840" cy="8229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490472"/>
            <a:ext cx="50292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788DE3"/>
                </a:solidFill>
                <a:latin typeface="Hor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801368"/>
            <a:ext cx="5029200" cy="38404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u="none">
                <a:solidFill>
                  <a:srgbClr val="23304D"/>
                </a:solidFill>
                <a:latin typeface="Horas"/>
              </a:rPr>
              <a:t>Payroll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240280"/>
            <a:ext cx="5029200" cy="10058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u="none">
                <a:solidFill>
                  <a:srgbClr val="3A4457"/>
                </a:solidFill>
                <a:latin typeface="DM Sans"/>
              </a:rPr>
              <a:t>Overtime premium removed, officer caps applied, and payroll assigned to the right code.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55778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11880"/>
            <a:ext cx="5577840" cy="8229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867912"/>
            <a:ext cx="50292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788DE3"/>
                </a:solidFill>
                <a:latin typeface="Hor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78808"/>
            <a:ext cx="5029200" cy="38404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u="none">
                <a:solidFill>
                  <a:srgbClr val="23304D"/>
                </a:solidFill>
                <a:latin typeface="Horas"/>
              </a:rPr>
              <a:t>Subcontractors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5029200" cy="10058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u="none">
                <a:solidFill>
                  <a:srgbClr val="3A4457"/>
                </a:solidFill>
                <a:latin typeface="DM Sans"/>
              </a:rPr>
              <a:t>Certificates matched to charges, so nobody is paying premium on a properly insured sub.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611880"/>
            <a:ext cx="55778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611880"/>
            <a:ext cx="5577840" cy="8229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867912"/>
            <a:ext cx="50292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788DE3"/>
                </a:solidFill>
                <a:latin typeface="Hora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178808"/>
            <a:ext cx="5029200" cy="38404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u="none">
                <a:solidFill>
                  <a:srgbClr val="23304D"/>
                </a:solidFill>
                <a:latin typeface="Horas"/>
              </a:rPr>
              <a:t>Experience modifier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617720"/>
            <a:ext cx="5029200" cy="10058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u="none">
                <a:solidFill>
                  <a:srgbClr val="3A4457"/>
                </a:solidFill>
                <a:latin typeface="DM Sans"/>
              </a:rPr>
              <a:t>Recalculated from corrected data — the part that keeps costing you after the refund clears.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What it costs, stated plainly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Risk &amp; Insurance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4114800" cy="237744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0"/>
            <a:ext cx="356616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23304D"/>
                </a:solidFill>
                <a:latin typeface="Horas"/>
              </a:rPr>
              <a:t>CONTINGENCY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3566160" cy="8412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u="none">
                <a:solidFill>
                  <a:srgbClr val="23304D"/>
                </a:solidFill>
                <a:latin typeface="Horas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356616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u="none">
                <a:solidFill>
                  <a:srgbClr val="3A4457"/>
                </a:solidFill>
                <a:latin typeface="DM Sans"/>
              </a:rPr>
              <a:t>of recovered 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94760"/>
            <a:ext cx="4114800" cy="20116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 u="none">
                <a:solidFill>
                  <a:srgbClr val="5C6780"/>
                </a:solidFill>
                <a:latin typeface="DM Sans"/>
              </a:rPr>
              <a:t>Most states allow recovery on closed audits going back three years. The sooner a period is reviewed the more of it is still open.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188720"/>
            <a:ext cx="4434840" cy="676656"/>
          </a:xfrm>
          <a:prstGeom prst="rect">
            <a:avLst/>
          </a:prstGeom>
          <a:solidFill>
            <a:srgbClr val="23304D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048" y="1188720"/>
            <a:ext cx="421538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>What's included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188720"/>
            <a:ext cx="2468880" cy="676656"/>
          </a:xfrm>
          <a:prstGeom prst="rect">
            <a:avLst/>
          </a:prstGeom>
          <a:solidFill>
            <a:srgbClr val="23304D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1188720"/>
            <a:ext cx="224942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865376"/>
            <a:ext cx="4434840" cy="676656"/>
          </a:xfrm>
          <a:prstGeom prst="rect">
            <a:avLst/>
          </a:prstGeom>
          <a:solidFill>
            <a:srgbClr val="FAFAF8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1865376"/>
            <a:ext cx="421538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Audit review — contingency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1865376"/>
            <a:ext cx="2468880" cy="676656"/>
          </a:xfrm>
          <a:prstGeom prst="rect">
            <a:avLst/>
          </a:prstGeom>
          <a:solidFill>
            <a:srgbClr val="FAFAF8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90888" y="1865376"/>
            <a:ext cx="224942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25% of recovery, nothing if none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542032"/>
            <a:ext cx="44348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6048" y="2542032"/>
            <a:ext cx="421538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If no recovery is found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2542032"/>
            <a:ext cx="24688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90888" y="2542032"/>
            <a:ext cx="224942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Nothing owed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3218688"/>
            <a:ext cx="4434840" cy="676656"/>
          </a:xfrm>
          <a:prstGeom prst="rect">
            <a:avLst/>
          </a:prstGeom>
          <a:solidFill>
            <a:srgbClr val="FAFAF8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56048" y="3218688"/>
            <a:ext cx="421538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Class code &amp; modifier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3218688"/>
            <a:ext cx="2468880" cy="676656"/>
          </a:xfrm>
          <a:prstGeom prst="rect">
            <a:avLst/>
          </a:prstGeom>
          <a:solidFill>
            <a:srgbClr val="FAFAF8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90888" y="3218688"/>
            <a:ext cx="224942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Included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895344"/>
            <a:ext cx="44348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6048" y="3895344"/>
            <a:ext cx="421538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Carrier dispute handled end to end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3895344"/>
            <a:ext cx="24688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90888" y="3895344"/>
            <a:ext cx="224942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Included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4572000"/>
            <a:ext cx="4434840" cy="676656"/>
          </a:xfrm>
          <a:prstGeom prst="rect">
            <a:avLst/>
          </a:prstGeom>
          <a:solidFill>
            <a:srgbClr val="FAFAF8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56048" y="4572000"/>
            <a:ext cx="421538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Prior three policy periods reviewed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1160" y="4572000"/>
            <a:ext cx="2468880" cy="676656"/>
          </a:xfrm>
          <a:prstGeom prst="rect">
            <a:avLst/>
          </a:prstGeom>
          <a:solidFill>
            <a:srgbClr val="FAFAF8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90888" y="4572000"/>
            <a:ext cx="224942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Included where records exist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HOW IT GETS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Most of it on our side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Risk &amp; Insurance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1188720"/>
            <a:ext cx="10332720" cy="932687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53895"/>
            <a:ext cx="402336" cy="40233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53895"/>
            <a:ext cx="402336" cy="40233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Hora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261872"/>
            <a:ext cx="9784080" cy="29260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u="none">
                <a:solidFill>
                  <a:srgbClr val="23304D"/>
                </a:solidFill>
                <a:latin typeface="Horas"/>
              </a:rPr>
              <a:t>Send the paperwork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554480"/>
            <a:ext cx="9784080" cy="512063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u="none">
                <a:solidFill>
                  <a:srgbClr val="3A4457"/>
                </a:solidFill>
                <a:latin typeface="DM Sans"/>
              </a:rPr>
              <a:t>Dec pages, audit worksheets and payroll registers for the periods in question. Nothing else needed from you.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2212848"/>
            <a:ext cx="10332720" cy="932687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478023"/>
            <a:ext cx="402336" cy="40233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78023"/>
            <a:ext cx="402336" cy="40233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Hora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286000"/>
            <a:ext cx="9784080" cy="29260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u="none">
                <a:solidFill>
                  <a:srgbClr val="23304D"/>
                </a:solidFill>
                <a:latin typeface="Horas"/>
              </a:rP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578608"/>
            <a:ext cx="9784080" cy="512063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u="none">
                <a:solidFill>
                  <a:srgbClr val="3A4457"/>
                </a:solidFill>
                <a:latin typeface="DM Sans"/>
              </a:rPr>
              <a:t>Classification, payroll, subcontractors and modifier checked line by 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3236976"/>
            <a:ext cx="10332720" cy="932687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502151"/>
            <a:ext cx="402336" cy="40233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502151"/>
            <a:ext cx="402336" cy="40233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Hora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310128"/>
            <a:ext cx="9784080" cy="29260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u="none">
                <a:solidFill>
                  <a:srgbClr val="23304D"/>
                </a:solidFill>
                <a:latin typeface="Horas"/>
              </a:rPr>
              <a:t>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602736"/>
            <a:ext cx="9784080" cy="512063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u="none">
                <a:solidFill>
                  <a:srgbClr val="3A4457"/>
                </a:solidFill>
                <a:latin typeface="DM Sans"/>
              </a:rPr>
              <a:t>A written report of what was overcharged and what it is worth.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" y="4261103"/>
            <a:ext cx="10332720" cy="932687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526278"/>
            <a:ext cx="402336" cy="40233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526278"/>
            <a:ext cx="402336" cy="40233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Hora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334255"/>
            <a:ext cx="9784080" cy="29260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u="none">
                <a:solidFill>
                  <a:srgbClr val="23304D"/>
                </a:solidFill>
                <a:latin typeface="Horas"/>
              </a:rPr>
              <a:t>Dispute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626863"/>
            <a:ext cx="9784080" cy="512063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u="none">
                <a:solidFill>
                  <a:srgbClr val="3A4457"/>
                </a:solidFill>
                <a:latin typeface="DM Sans"/>
              </a:rPr>
              <a:t>We take it to the carrier and the rating bureau, and handle the exchange.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60" y="5285231"/>
            <a:ext cx="10332720" cy="932687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550406"/>
            <a:ext cx="402336" cy="40233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550406"/>
            <a:ext cx="402336" cy="40233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Hora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358383"/>
            <a:ext cx="9784080" cy="29260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u="none">
                <a:solidFill>
                  <a:srgbClr val="23304D"/>
                </a:solidFill>
                <a:latin typeface="Horas"/>
              </a:rPr>
              <a:t>Recovery &amp; correction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650991"/>
            <a:ext cx="9784080" cy="512063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u="none">
                <a:solidFill>
                  <a:srgbClr val="3A4457"/>
                </a:solidFill>
                <a:latin typeface="DM Sans"/>
              </a:rPr>
              <a:t>Refund issued and the modifier corrected going forward.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WHAT YOU'LL NEED, AND STRAIGHT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Most businesses already have all of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Risk &amp; Insurance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512064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WHAT WE NEED FROM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51206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481328"/>
            <a:ext cx="141732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Dec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1481328"/>
            <a:ext cx="3246120" cy="65836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Current and prior policy periods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267712"/>
            <a:ext cx="141732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Audit worksheets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267712"/>
            <a:ext cx="3246120" cy="65836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The carrier's own audit statements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054096"/>
            <a:ext cx="141732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Payroll registers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054096"/>
            <a:ext cx="3246120" cy="65836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For the periods being reviewed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840480"/>
            <a:ext cx="141732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Certificates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840480"/>
            <a:ext cx="3246120" cy="65836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Subcontractor certificates of insurance, if 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626864"/>
            <a:ext cx="141732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Your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626864"/>
            <a:ext cx="3246120" cy="65836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About thirty minutes to gather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051560"/>
            <a:ext cx="580644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STRAIGHT ANSWERS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325880"/>
            <a:ext cx="5806440" cy="955547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1325880"/>
            <a:ext cx="64008" cy="955547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1389888"/>
            <a:ext cx="54406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Will this upset our carrier?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1655064"/>
            <a:ext cx="5440680" cy="5715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3A4457"/>
                </a:solidFill>
                <a:latin typeface="DM Sans"/>
              </a:rPr>
              <a:t>No. Correcting an audit is a routine process both the carrier and the rating bureau expect.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354580"/>
            <a:ext cx="5806440" cy="955547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2354580"/>
            <a:ext cx="64008" cy="955547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418588"/>
            <a:ext cx="54406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What if the audit was right?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2683764"/>
            <a:ext cx="5440680" cy="5715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3A4457"/>
                </a:solidFill>
                <a:latin typeface="DM Sans"/>
              </a:rPr>
              <a:t>Then you owe nothing and you have documentation that it was checked.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383280"/>
            <a:ext cx="5806440" cy="955547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3383280"/>
            <a:ext cx="64008" cy="955547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3447288"/>
            <a:ext cx="54406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How far back can we go?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3712464"/>
            <a:ext cx="5440680" cy="5715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3A4457"/>
                </a:solidFill>
                <a:latin typeface="DM Sans"/>
              </a:rPr>
              <a:t>Typically three policy periods, depending on state and carrier.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411980"/>
            <a:ext cx="5806440" cy="955547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4411980"/>
            <a:ext cx="64008" cy="955547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4475988"/>
            <a:ext cx="54406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Do we have to move the policy?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4741164"/>
            <a:ext cx="5440680" cy="5715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3A4457"/>
                </a:solidFill>
                <a:latin typeface="DM Sans"/>
              </a:rPr>
              <a:t>No. This is a review of what you already have.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64008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7315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 u="none">
                <a:solidFill>
                  <a:srgbClr val="FFFFFF"/>
                </a:solidFill>
                <a:latin typeface="Horas"/>
              </a:rPr>
              <a:t>One Call Solves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4160520"/>
            <a:ext cx="5943600" cy="137160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315968"/>
            <a:ext cx="5943600" cy="29260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617720"/>
            <a:ext cx="5577840" cy="7772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DM Sans"/>
              </a:rPr>
              <a:t>Say yes and we start the review. It takes under an hour of your time to find out what this is worth.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 u="none">
                <a:solidFill>
                  <a:srgbClr val="FFFFFF"/>
                </a:solidFill>
                <a:latin typeface="DM Sans"/>
              </a:rPr>
              <a:t>David Taylor  ·  380-CALL-A1S (380-225-5217)  ·  david@atlasonesolutions.com  ·  www.AtlasOneSolutions.com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