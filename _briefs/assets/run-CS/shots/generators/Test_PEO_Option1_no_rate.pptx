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started my first business when I was nine years old. Nightcrawlers. I was up at all hours making sure fishermen had what they needed to work.</a:t>
            </a:r>
          </a:p>
          <a:p/>
          <a:p>
            <a:r>
              <a:t>By eleven I was doing masonry with my brother. By eighteen I had my contractor's license and my own crew. By my mid-twenties I had 175 employees, 20 crews, working commercial, residential, hotels, churches — everything from block and brick to stucco and stone.</a:t>
            </a:r>
          </a:p>
          <a:p/>
          <a:p>
            <a:r>
              <a:t>Then 2007 happened. The housing market collapsed. Almost every contractor I knew lost everything. I was one of the few who made it through and sold the business in 2008.</a:t>
            </a:r>
          </a:p>
          <a:p/>
          <a:p>
            <a:r>
              <a:t>Right around that time I had 23 friends — business owners — who were going under. I couldn't watch that happen. So I stepped in. I didn't charge them. I just started looking at how they were running their businesses — the vendors, the overlap, the wasted time, the phone calls nobody ever makes because there's no time. I made a few adjustments. Streamlined their vendor relationships into something that actually made sense. Seventeen of those twenty-three businesses are still operating today.</a:t>
            </a:r>
          </a:p>
          <a:p/>
          <a:p>
            <a:r>
              <a:t>That was the moment I realized what I actually do. Not payroll. Not insurance. Not HR. All of it — as one relationship, one conversation, one call.</a:t>
            </a:r>
          </a:p>
          <a:p/>
          <a:p>
            <a:r>
              <a:t>I've since spent eighteen years building that into a repeatable system. I've worked with businesses from 5 employees to 2,000. I took a client from a $2.5 million IRS penalty to zero. And I've never once found another company doing exactly what I do.</a:t>
            </a:r>
          </a:p>
          <a:p/>
          <a:p>
            <a:r>
              <a:t>That's why we're here today.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DBE4ED"/>
                </a:solidFill>
                <a:latin typeface="Horas"/>
              </a:rPr>
              <a:t>ATLAS ONE SOLUTIONS  ·  STRATEGIC HR PARTNERSHIP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 u="none">
                <a:solidFill>
                  <a:srgbClr val="FFFFFF"/>
                </a:solidFill>
                <a:latin typeface="Horas"/>
              </a:rPr>
              <a:t>Test Company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 u="none">
                <a:solidFill>
                  <a:srgbClr val="FFFFFF"/>
                </a:solidFill>
                <a:latin typeface="DM Sans"/>
              </a:rPr>
              <a:t>Option 1 — Flat $/EE/Check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DBE4ED"/>
                </a:solidFill>
                <a:latin typeface="Horas"/>
              </a:rPr>
              <a:t>LESS PAPERWORK. MORE TIME FOR WHAT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10927080" cy="1554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84448"/>
            <a:ext cx="10927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 u="none">
                <a:solidFill>
                  <a:srgbClr val="FFFFFF"/>
                </a:solidFill>
                <a:latin typeface="Horas"/>
              </a:rPr>
              <a:t>YOUR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6132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Quoted for your company (headcount, pay cycle, PTO tracking and more)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DBE4ED"/>
                </a:solidFill>
                <a:latin typeface="Horas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87568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u="none">
                <a:solidFill>
                  <a:srgbClr val="FFFFFF"/>
                </a:solidFill>
                <a:latin typeface="Horas"/>
              </a:rPr>
              <a:t>Pat Example  ·  Test Company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807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DBE4ED"/>
                </a:solidFill>
                <a:latin typeface="Horas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2764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DM Sans"/>
              </a:rPr>
              <a:t>David Taylor  ·  380-225-5217  ·  david@atlasonesolutions.com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A complete proposal review for Test Company LLC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80160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280160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645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Your Current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148840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Where you are today and what's working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280160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280160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80160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645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Why Atlas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148840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Track record, scale, trust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280160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1280160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280160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1645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Your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9" y="2148840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Quoted for your company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49039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749039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114799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Workers' Comp Master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617719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No audits, pay-as-you-go, 2× coverage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749039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749039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749039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114799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Time &amp; Soft Savings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17719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Hours returned to your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749039"/>
            <a:ext cx="3749039" cy="21031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3749039"/>
            <a:ext cx="1188720" cy="2103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3749039"/>
            <a:ext cx="1188720" cy="21031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DBE4ED"/>
                </a:solidFill>
                <a:latin typeface="Hora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9" y="4114799"/>
            <a:ext cx="23317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Value-Adds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199" y="4617719"/>
            <a:ext cx="23317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What is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ABOUT YOUR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Why this proposal comes from someone who has actually built and run businesses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601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u="none">
                <a:solidFill>
                  <a:srgbClr val="23304D"/>
                </a:solidFill>
                <a:latin typeface="Horas"/>
              </a:rPr>
              <a:t>David Taylor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71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u="none">
                <a:solidFill>
                  <a:srgbClr val="3A4457"/>
                </a:solidFill>
                <a:latin typeface="DM Sans"/>
              </a:rPr>
              <a:t>Founder · Independent PEO &amp; Business Infrastructure 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23304D"/>
                </a:solidFill>
                <a:latin typeface="DM Sans"/>
              </a:rPr>
              <a:t>18 years in PEO  ·  Licensed P&amp;C broker  ·  Utah-based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960120"/>
            <a:ext cx="4023360" cy="10972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051560"/>
            <a:ext cx="12801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u="none">
                <a:solidFill>
                  <a:srgbClr val="FFFFFF"/>
                </a:solidFill>
                <a:latin typeface="Horas"/>
              </a:rPr>
              <a:t>$2.5M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069848"/>
            <a:ext cx="2423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IRS penalty taken to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417320"/>
            <a:ext cx="2423160" cy="5943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Client misclassification case — recalculated 4 years of payroll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148840"/>
            <a:ext cx="4023360" cy="10972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u="none">
                <a:solidFill>
                  <a:srgbClr val="FFFFFF"/>
                </a:solidFill>
                <a:latin typeface="Horas"/>
              </a:rPr>
              <a:t>400+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58568"/>
            <a:ext cx="2423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Active clients managed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06040"/>
            <a:ext cx="2423160" cy="5943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Across PEO, commercial lines, benefits, retirement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337560"/>
            <a:ext cx="4023360" cy="10972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429000"/>
            <a:ext cx="12801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u="none">
                <a:solidFill>
                  <a:srgbClr val="FFFFFF"/>
                </a:solidFill>
                <a:latin typeface="Horas"/>
              </a:rPr>
              <a:t>17/23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447288"/>
            <a:ext cx="2423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Friends' businesses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794760"/>
            <a:ext cx="2423160" cy="5943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Single-source consolidation post-2008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526280"/>
            <a:ext cx="4023360" cy="10972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617720"/>
            <a:ext cx="12801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u="none">
                <a:solidFill>
                  <a:srgbClr val="FFFFFF"/>
                </a:solidFill>
                <a:latin typeface="Horas"/>
              </a:rPr>
              <a:t>4×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636008"/>
            <a:ext cx="2423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Doubled Teamworks Group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983480"/>
            <a:ext cx="2423160" cy="5943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Grew &amp; sold to G&amp;A Partners (April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240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The journey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7157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7157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Age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7157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First business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7157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Nightcrawlers to fishermen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1729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1729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Age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172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Masonry trade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729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Working with my brother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6301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6301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Age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36301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Contractor's license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6301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Own crew, own business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0873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0873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Mid-20s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40873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175 employees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0873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20 crews · $20M revenue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5445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5445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45445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Sold the business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45445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Survived 2007 housing crash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0017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0017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2009+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0017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Saved 17 of 23 friends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50017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Found my real calling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458968"/>
            <a:ext cx="868680" cy="3657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458968"/>
            <a:ext cx="8686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Today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5458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7202F"/>
                </a:solidFill>
                <a:latin typeface="DM Sans"/>
              </a:rPr>
              <a:t>18 years · 400+ clients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458968"/>
            <a:ext cx="38404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5C6780"/>
                </a:solidFill>
                <a:latin typeface="DM Sans"/>
              </a:rPr>
              <a:t>Independent advisor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989320"/>
            <a:ext cx="11384280" cy="5029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016752"/>
            <a:ext cx="113842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 u="none">
                <a:solidFill>
                  <a:srgbClr val="FFFFFF"/>
                </a:solidFill>
                <a:latin typeface="Horas"/>
              </a:rPr>
              <a:t>"I work for the prospect, not the vendor. I get paid only when what I recommend actually fits — that's why I show every option."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YOUR CURRENT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Snapshot of Test Company LLC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05840"/>
            <a:ext cx="2741599" cy="14173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536192"/>
            <a:ext cx="2613583" cy="4480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u="none">
                <a:solidFill>
                  <a:srgbClr val="FFFFFF"/>
                </a:solidFill>
                <a:latin typeface="DM Sans"/>
              </a:rPr>
              <a:t>active workforce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951" y="1005840"/>
            <a:ext cx="2741599" cy="14173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1951" y="118872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ANNUAL PAYROLL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5959" y="1536192"/>
            <a:ext cx="2613583" cy="4480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$2.4M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1951" y="196596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u="none">
                <a:solidFill>
                  <a:srgbClr val="FFFFFF"/>
                </a:solidFill>
                <a:latin typeface="DM Sans"/>
              </a:rPr>
              <a:t>gross wages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2" y="1005840"/>
            <a:ext cx="2741599" cy="1417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8142" y="118872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CURRENT WC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150" y="1536192"/>
            <a:ext cx="2613583" cy="4480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8142" y="196596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u="none">
                <a:solidFill>
                  <a:srgbClr val="FFFFFF"/>
                </a:solidFill>
                <a:latin typeface="DM Sans"/>
              </a:rPr>
              <a:t>Current Carrier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4333" y="1005840"/>
            <a:ext cx="2741599" cy="1417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4333" y="118872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INCUMBENT VENDOR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8341" y="1536192"/>
            <a:ext cx="2613583" cy="4480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FFFFFF"/>
                </a:solidFill>
                <a:latin typeface="Horas"/>
              </a:rPr>
              <a:t>Incumbent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4333" y="1965960"/>
            <a:ext cx="2741599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u="none">
                <a:solidFill>
                  <a:srgbClr val="FFFFFF"/>
                </a:solidFill>
                <a:latin typeface="DM Sans"/>
              </a:rPr>
              <a:t>current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Challenges identified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10896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10896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46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Vendor sprawl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1188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Multiple platforms — payroll, WC, benefits, 401(k) all separate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10896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10896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246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EPLI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61188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Wrongful termination, harassment, discrimination claims uncovered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10896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310896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39" y="32461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WC volatility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39" y="361188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Single-employer rated — EMR fluctuations, unpredictable renewals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80060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80060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37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Compliance 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0352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I-9, ACA, EEO-1, multi-state nexus, 5500 audits owned in-house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480060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480060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4937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HR support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30352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Day-to-day HR questions land on owners or one HR person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19" y="4800600"/>
            <a:ext cx="3749039" cy="150876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19" y="4800600"/>
            <a:ext cx="137160" cy="150876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39" y="4937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Time tax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39" y="5303520"/>
            <a:ext cx="338328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Hours per week reconciling vendors and chasing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WHY ATLAS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Track record, scale, and trust signals that matter to your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2743200" cy="18288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274320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u="none">
                <a:solidFill>
                  <a:srgbClr val="FFFFFF"/>
                </a:solidFill>
                <a:latin typeface="Horas"/>
              </a:rPr>
              <a:t>400+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Active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Across all 50 states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1097280"/>
            <a:ext cx="2743200" cy="18288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1188720"/>
            <a:ext cx="274320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u="none">
                <a:solidFill>
                  <a:srgbClr val="FFFFFF"/>
                </a:solidFill>
                <a:latin typeface="Horas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Years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PEO industry deep expertise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097280"/>
            <a:ext cx="2743200" cy="18288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188720"/>
            <a:ext cx="274320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u="none">
                <a:solidFill>
                  <a:srgbClr val="FFFFFF"/>
                </a:solidFill>
                <a:latin typeface="Horas"/>
              </a:rPr>
              <a:t>$2.5M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IRS Penalties Eliminated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For one client — taken to $0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097280"/>
            <a:ext cx="2743200" cy="18288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1188720"/>
            <a:ext cx="274320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u="none">
                <a:solidFill>
                  <a:srgbClr val="FFFFFF"/>
                </a:solidFill>
                <a:latin typeface="Horas"/>
              </a:rPr>
              <a:t>27.2%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Measured PEO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FFFFFF"/>
                </a:solidFill>
                <a:latin typeface="DM Sans"/>
              </a:rPr>
              <a:t>$1,775/employee/year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08960"/>
            <a:ext cx="137160" cy="8686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23304D"/>
                </a:solidFill>
                <a:latin typeface="Horas"/>
              </a:rPr>
              <a:t>✓ FINANCIAL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108960"/>
            <a:ext cx="850392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Built and sold a masonry company at 175 employees and $20M revenue. Started Docent HR. Acquired Teamworks Group in 2019. Sold to G&amp;A Partners in April 2026 after doubling revenue four years running.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69080"/>
            <a:ext cx="137160" cy="8686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✓ TECHNICAL 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069080"/>
            <a:ext cx="850392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Expert across multi-state SUTA arbitrage, WC class code optimization, 401(k) PEP/MEP fiduciary structures, EPLI risk transfer, and benefits master plans. Largest client managed: 2,000 employees.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029200"/>
            <a:ext cx="137160" cy="8686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23304D"/>
                </a:solidFill>
                <a:latin typeface="Horas"/>
              </a:rPr>
              <a:t>✓ PERSONAL ACCOUNTABILITY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029200"/>
            <a:ext cx="850392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I sign every proposal personally. I take responsibility for every client. When 17 friends' businesses were collapsing in 2009, I personally helped rescue them. That's the standard I bring to every client relationship.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035040"/>
            <a:ext cx="11384280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53328"/>
            <a:ext cx="1138428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1" u="none">
                <a:solidFill>
                  <a:srgbClr val="FFFFFF"/>
                </a:solidFill>
                <a:latin typeface="Horas"/>
              </a:rPr>
              <a:t>Companies your size that switched: average year-1 ROI of 3-5× the consulting fee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46520"/>
            <a:ext cx="11384280" cy="2194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 u="none">
                <a:solidFill>
                  <a:srgbClr val="5C6780"/>
                </a:solidFill>
                <a:latin typeface="DM Sans"/>
              </a:rPr>
              <a:t>Source: NAPEO / McBassi &amp; Co., “The ROI of Using a PEO”.  Client count, years in business, and penalty recovery: Atlas One Solutions client record.  Year-1 ROI multiple: Atlas One Solutions internal estimate — adjust per client.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TODAY  VS.  WITH ATLAS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Multi-vendor complexity vs. single-source simplicity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669280" cy="5212080"/>
          </a:xfrm>
          <a:prstGeom prst="rect">
            <a:avLst/>
          </a:prstGeom>
          <a:solidFill>
            <a:srgbClr val="EDEFF4"/>
          </a:solidFill>
          <a:ln w="12700">
            <a:solidFill>
              <a:srgbClr val="5C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5669280" cy="502920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566928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FFFFFF"/>
                </a:solidFill>
                <a:latin typeface="Horas"/>
              </a:rPr>
              <a:t>TODAY  ·  Multiple Vendors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78308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Incumbent payroll - one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1725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172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32600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WC carrier, broker, audit headaches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1465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1465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86893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Group health broker - separate relationship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57575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5757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1185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401(k) admin + fiduciary - on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0050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005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5478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EPLI? Most don't have it - exposure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43425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4342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9770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Compliance research falls on HR or 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8635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08635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4063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5+ phone numbers when something breaks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29275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2927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8355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Year-end tax filings managed in pieces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097280"/>
            <a:ext cx="5669280" cy="5212080"/>
          </a:xfrm>
          <a:prstGeom prst="rect">
            <a:avLst/>
          </a:prstGeom>
          <a:solidFill>
            <a:srgbClr val="DBE4ED"/>
          </a:solidFill>
          <a:ln w="1270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097280"/>
            <a:ext cx="5669280" cy="5029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143000"/>
            <a:ext cx="566928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FFFFFF"/>
                </a:solidFill>
                <a:latin typeface="Horas"/>
              </a:rPr>
              <a:t>ATLAS ONE  ·  One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182880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18288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178308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Atlas One runs payroll - all 50 states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37172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7172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32600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WC at master plan rate, no EMR exposure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291465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91465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286893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Health/dental/vision at master pricing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45757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45757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41185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401(k) PEP - full fiduciary transferred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400050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40005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95478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EPLI included, quoted for your company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54342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4342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49770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ESAC-accredited compliance team behind you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508635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08635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040630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One CSM owns the relationship - one call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562927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62927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583555"/>
            <a:ext cx="4937760" cy="54292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5500, W-2s, ACA, all handled by 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WORKERS' 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What you are billed, what the audit will bill you, and what the same payroll costs with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3703320" cy="2148840"/>
          </a:xfrm>
          <a:prstGeom prst="rect">
            <a:avLst/>
          </a:prstGeom>
          <a:solidFill>
            <a:srgbClr val="EDEFF4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3703320" cy="512064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37033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AS BILLED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728216"/>
            <a:ext cx="3483863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u="none">
                <a:solidFill>
                  <a:srgbClr val="5C6780"/>
                </a:solidFill>
                <a:latin typeface="DM Sans"/>
              </a:rPr>
              <a:t>On $0 reported payroll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370332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17202F"/>
                </a:solidFill>
                <a:latin typeface="Horas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07208"/>
            <a:ext cx="3483863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u="none">
                <a:solidFill>
                  <a:srgbClr val="5C6780"/>
                </a:solidFill>
                <a:latin typeface="DM Sans"/>
              </a:rPr>
              <a:t>what you have paid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43000"/>
            <a:ext cx="3703320" cy="2148840"/>
          </a:xfrm>
          <a:prstGeom prst="rect">
            <a:avLst/>
          </a:prstGeom>
          <a:solidFill>
            <a:srgbClr val="DBE4ED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43000"/>
            <a:ext cx="3703320" cy="512064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170432"/>
            <a:ext cx="37033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AT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728216"/>
            <a:ext cx="3483863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u="none">
                <a:solidFill>
                  <a:srgbClr val="5C6780"/>
                </a:solidFill>
                <a:latin typeface="DM Sans"/>
              </a:rPr>
              <a:t>On $0 actual payroll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011680"/>
            <a:ext cx="370332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23304D"/>
                </a:solidFill>
                <a:latin typeface="Horas"/>
              </a:rP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807208"/>
            <a:ext cx="3483863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u="none">
                <a:solidFill>
                  <a:srgbClr val="5C6780"/>
                </a:solidFill>
                <a:latin typeface="DM Sans"/>
              </a:rPr>
              <a:t>$0 you have not been billed yet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14300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143000"/>
            <a:ext cx="3703320" cy="512064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170432"/>
            <a:ext cx="37033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WITH ATLAS 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1728216"/>
            <a:ext cx="3483863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u="none">
                <a:solidFill>
                  <a:srgbClr val="5C6780"/>
                </a:solidFill>
                <a:latin typeface="DM Sans"/>
              </a:rPr>
              <a:t>On the same 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011680"/>
            <a:ext cx="370332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23304D"/>
                </a:solidFill>
                <a:latin typeface="Horas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807208"/>
            <a:ext cx="3483863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u="none">
                <a:solidFill>
                  <a:srgbClr val="5C6780"/>
                </a:solidFill>
                <a:latin typeface="DM Sans"/>
              </a:rPr>
              <a:t>pay-as-you-go, no audit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29000"/>
            <a:ext cx="11475720" cy="5303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47288"/>
            <a:ext cx="11475720" cy="49377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u="none">
                <a:solidFill>
                  <a:srgbClr val="FFFFFF"/>
                </a:solidFill>
                <a:latin typeface="Horas"/>
              </a:rPr>
              <a:t>Same payroll, both sides: $0 at audit versus $0 on the master plan — $0 a year, and no audit to settle.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087368"/>
            <a:ext cx="11475720" cy="23774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AND THE PART THAT DOES NOT SHOW UP IN A PREMIUM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61688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361688"/>
            <a:ext cx="64008" cy="100584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416552"/>
            <a:ext cx="1984248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No annual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709159"/>
            <a:ext cx="1984248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 u="none">
                <a:solidFill>
                  <a:srgbClr val="5C6780"/>
                </a:solidFill>
                <a:latin typeface="DM Sans"/>
              </a:rPr>
              <a:t>Pay-as-you-go monthly on wages actually paid. Nothing to true up.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361688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51760" y="4361688"/>
            <a:ext cx="64008" cy="100584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16352" y="4416552"/>
            <a:ext cx="1984248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No down 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709159"/>
            <a:ext cx="1984248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 u="none">
                <a:solidFill>
                  <a:srgbClr val="5C6780"/>
                </a:solidFill>
                <a:latin typeface="DM Sans"/>
              </a:rPr>
              <a:t>Nothing to finance, no deposit tied up at renewal.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361688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37760" y="4361688"/>
            <a:ext cx="64008" cy="100584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2352" y="4416552"/>
            <a:ext cx="1984248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Claims handled for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2352" y="4709159"/>
            <a:ext cx="1984248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 u="none">
                <a:solidFill>
                  <a:srgbClr val="5C6780"/>
                </a:solidFill>
                <a:latin typeface="DM Sans"/>
              </a:rPr>
              <a:t>We manage the claim through closure. You stay out of it.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361688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0" y="4361688"/>
            <a:ext cx="64008" cy="100584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8352" y="4416552"/>
            <a:ext cx="1984248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Safety library included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4709159"/>
            <a:ext cx="1984248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 u="none">
                <a:solidFill>
                  <a:srgbClr val="5C6780"/>
                </a:solidFill>
                <a:latin typeface="DM Sans"/>
              </a:rPr>
              <a:t>Programs, templates and training the carrier does not provide.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4361688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9760" y="4361688"/>
            <a:ext cx="64008" cy="100584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4352" y="4416552"/>
            <a:ext cx="1984248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One call for a COI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4352" y="4709159"/>
            <a:ext cx="1984248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 u="none">
                <a:solidFill>
                  <a:srgbClr val="5C6780"/>
                </a:solidFill>
                <a:latin typeface="DM Sans"/>
              </a:rPr>
              <a:t>Not three vendors and a broker.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COMES OFF YOUR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Hours returned, and the work Incumbent cannot do at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60120"/>
            <a:ext cx="6035040" cy="23774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HOURS BACK EACH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34440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Payroll 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289304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289304"/>
            <a:ext cx="103632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234440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1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719072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Benefits administration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773936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773936"/>
            <a:ext cx="310896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719072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3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203704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Compliance filings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258568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2258568"/>
            <a:ext cx="207264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203704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2 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688336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WC claims &amp; audits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743200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2743200"/>
            <a:ext cx="207264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88336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2 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172968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401(k) administration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227832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3227832"/>
            <a:ext cx="207264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3172968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2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657600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HR questions &amp;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712464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51760" y="3712464"/>
            <a:ext cx="103632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657600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1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142232"/>
            <a:ext cx="21488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Onboarding / offboarding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197096"/>
            <a:ext cx="3108960" cy="274320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51760" y="4197096"/>
            <a:ext cx="1036320" cy="27432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142232"/>
            <a:ext cx="5486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1 hr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736592"/>
            <a:ext cx="5989320" cy="56692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764024"/>
            <a:ext cx="5989320" cy="51206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u="none">
                <a:solidFill>
                  <a:srgbClr val="FFFFFF"/>
                </a:solidFill>
                <a:latin typeface="Horas"/>
              </a:rPr>
              <a:t>12 hours a month  ·  144 hours a year  ·  $7,200 at $50/hr loaded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960120"/>
            <a:ext cx="5166360" cy="23774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WHAT INCUMBENT CANNOT DO AT 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1234440"/>
            <a:ext cx="5166360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1307592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1307592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GPS-geofenced time clocks with real-time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1779161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1779161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Job and sub-job costing per employee, per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2250730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2250730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Multi-location auto-scheduling and shift templates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2722299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2722299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Unlimited LMS courses, quizzes and certification tracking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193868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3193868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Company feed, chat channels and scheduled announcements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665437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3665437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Digital forms, task lists and workflow automation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4137006"/>
            <a:ext cx="274320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788DE3"/>
                </a:solidFill>
                <a:latin typeface="Horas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4137006"/>
            <a:ext cx="4453128" cy="471569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Help-desk ticket routing, surveys and engagement analytics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4736592"/>
            <a:ext cx="5166360" cy="56692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4764024"/>
            <a:ext cx="5166360" cy="51206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u="none">
                <a:solidFill>
                  <a:srgbClr val="FFFFFF"/>
                </a:solidFill>
                <a:latin typeface="Horas"/>
              </a:rPr>
              <a:t>Included — not a separate subscription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355080"/>
            <a:ext cx="11384280" cy="2194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C6780"/>
                </a:solidFill>
                <a:latin typeface="DM Sans"/>
              </a:rPr>
              <a:t>Hours are an Atlas One estimate for a business already running an HRIS, and are stated after that system's automation. External benchmark: PEO clients save $965 per employee per year in HR salaries alone. Source: NAPEO / McBassi &amp; Co., “The ROI of Using a PEO”.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CONNECTTEAM — THREE HUBS · ONE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Incumbent does time clocks. ConnectTeam runs your whole operation, workforce, and communication in one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115568"/>
            <a:ext cx="3749039" cy="47548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143000"/>
            <a:ext cx="3749039" cy="42062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OPERATIONS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664207"/>
            <a:ext cx="3749039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23304D"/>
                </a:solidFill>
                <a:latin typeface="DM Sans"/>
              </a:rPr>
              <a:t>Where work actually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202996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GPS geofenced time clocks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2551175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Job costing per employee per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072383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Multi-location scheduling &amp; shift templates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3593591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Digital forms, task lists,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4114800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Automated hour/pay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463600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Export-ready reports for payroll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1556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115568"/>
            <a:ext cx="3749039" cy="47548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143000"/>
            <a:ext cx="3749039" cy="42062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HR &amp; SKILLS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664207"/>
            <a:ext cx="3749039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23304D"/>
                </a:solidFill>
                <a:latin typeface="DM Sans"/>
              </a:rPr>
              <a:t>Beyond basic HR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202996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Unlimited courses &amp; LMS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2551175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Onboarding &amp; offboarding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072383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Unlimited PTO policies with carryover 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3593591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Document storage &amp; compliance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114800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Recognition badges &amp; celebrations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4" y="463600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Organizational chart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111556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1115568"/>
            <a:ext cx="3749039" cy="47548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1143000"/>
            <a:ext cx="3749039" cy="42062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COMMUNICATIONS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1664207"/>
            <a:ext cx="3749039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u="none">
                <a:solidFill>
                  <a:srgbClr val="23304D"/>
                </a:solidFill>
                <a:latin typeface="DM Sans"/>
              </a:rPr>
              <a:t>Actually reach your whole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3" y="202996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Chat, media, group channels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2551175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Company feed &amp; scheduled announcements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3072383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Surveys, live polls, engagement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3593591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Smart groups by role/location/department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3" y="4114800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Help desk ticket routing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3" y="4636007"/>
            <a:ext cx="3456432" cy="47548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17202F"/>
                </a:solidFill>
                <a:latin typeface="DM Sans"/>
              </a:rPr>
              <a:t>✓  Knowledge base — policies, manuals, catalogs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486400"/>
            <a:ext cx="11384280" cy="841248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41264"/>
            <a:ext cx="10927080" cy="7315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23304D"/>
                </a:solidFill>
                <a:latin typeface="DM Sans"/>
              </a:rPr>
              <a:t>Incumbent gives you time clocks and PTO tracking. ConnectTeam does that PLUS runs your operations, trains your team, and connects everyone in one app — all three hubs included in your Atlas One partnership.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EPLI &amp; RISK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Employment Practices Liability — protecting your business when employees sue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669280" cy="4572000"/>
          </a:xfrm>
          <a:prstGeom prst="rect">
            <a:avLst/>
          </a:prstGeom>
          <a:solidFill>
            <a:srgbClr val="EDEFF4"/>
          </a:solidFill>
          <a:ln w="12700">
            <a:solidFill>
              <a:srgbClr val="5C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5669280" cy="502920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566928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FFFFFF"/>
                </a:solidFill>
                <a:latin typeface="Horas"/>
              </a:rPr>
              <a:t>WITHOUT EPLI  ·  YOUR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78308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Wrongful termination — $30K – $120K to defend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4028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4028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19456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Discrimination — $50K – $160K+ to defend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60604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Harassment — $40K – $160K to defend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6324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01752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Retaliation — $40K – $150K to defend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7472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2900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Wage &amp; hour disputes (FLSA misclassification)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4048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Average through settlement: $160,000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9768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5196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Even settling early costs $10K – $30K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0916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0916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6344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Reputational damage — hard to quantify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20640"/>
            <a:ext cx="256032" cy="25603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2064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07492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Self-funded with company assets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1097280"/>
            <a:ext cx="5669280" cy="4572000"/>
          </a:xfrm>
          <a:prstGeom prst="rect">
            <a:avLst/>
          </a:prstGeom>
          <a:solidFill>
            <a:srgbClr val="DBE4ED"/>
          </a:solidFill>
          <a:ln w="1270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1097280"/>
            <a:ext cx="5669280" cy="5029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143000"/>
            <a:ext cx="566928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FFFFFF"/>
                </a:solidFill>
                <a:latin typeface="Horas"/>
              </a:rPr>
              <a:t>WITH ATLAS ONE  ·  PROTECTED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182880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182880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1783080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Wrongful termination - included coverage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229171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29171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2245995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Sexual harassment / hostile environment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275463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75463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2708910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Discrimination (age, race, gender, disability)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321754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21754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171825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Wage &amp; hour disputes - claims defense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368046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368046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3634740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Retaliation, defamation, breach of contract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414337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14337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4097655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Third-party EPLI (vendor/customer claims)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606290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606290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560570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Defense + indemnity within policy limits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5069205"/>
            <a:ext cx="256032" cy="25603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069205"/>
            <a:ext cx="256032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DM Sans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2280" y="5023485"/>
            <a:ext cx="4937760" cy="462915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7202F"/>
                </a:solidFill>
                <a:latin typeface="DM Sans"/>
              </a:rPr>
              <a:t>Master-plan pricing - 3-5× cheaper than retail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760720"/>
            <a:ext cx="11567160" cy="6400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5806440"/>
            <a:ext cx="1156716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u="none">
                <a:solidFill>
                  <a:srgbClr val="DBE4ED"/>
                </a:solidFill>
                <a:latin typeface="Horas"/>
              </a:rPr>
              <a:t>Your EPLI premium: quoted for your company  ·  Avg defense through settlement:  $160,000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446520"/>
            <a:ext cx="11384280" cy="2194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 u="none">
                <a:solidFill>
                  <a:srgbClr val="5C6780"/>
                </a:solidFill>
                <a:latin typeface="DM Sans"/>
              </a:rPr>
              <a:t>Source: Novian &amp; Novian, “Average Cost to Defend an Employment Lawsuit” (2026).  Scale: EEOC received 88,201 discrimination charges and recovered $660M for workers in FY2025.  Source: EEOC FY2025 Agency Performance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BENEFITS &amp; RETIREMENT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Master plan options — medical, dental,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2743200" cy="5212080"/>
          </a:xfrm>
          <a:prstGeom prst="rect">
            <a:avLst/>
          </a:prstGeom>
          <a:solidFill>
            <a:srgbClr val="FAFAF8"/>
          </a:solidFill>
          <a:ln w="9525">
            <a:solidFill>
              <a:srgbClr val="3A4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2743200" cy="457200"/>
          </a:xfrm>
          <a:prstGeom prst="rect">
            <a:avLst/>
          </a:prstGeom>
          <a:solidFill>
            <a:srgbClr val="3A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79576"/>
            <a:ext cx="2743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Slate Plans (ACA Compliant)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01368"/>
            <a:ext cx="118872" cy="118872"/>
          </a:xfrm>
          <a:prstGeom prst="rect">
            <a:avLst/>
          </a:prstGeom>
          <a:solidFill>
            <a:srgbClr val="3A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Advanced &amp; Premium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32938"/>
            <a:ext cx="118872" cy="118872"/>
          </a:xfrm>
          <a:prstGeom prst="rect">
            <a:avLst/>
          </a:prstGeom>
          <a:solidFill>
            <a:srgbClr val="3A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6893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Starting at $120/mo employee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4508"/>
            <a:ext cx="118872" cy="118872"/>
          </a:xfrm>
          <a:prstGeom prst="rect">
            <a:avLst/>
          </a:prstGeom>
          <a:solidFill>
            <a:srgbClr val="3A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0050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No employer contribution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96078"/>
            <a:ext cx="118872" cy="118872"/>
          </a:xfrm>
          <a:prstGeom prst="rect">
            <a:avLst/>
          </a:prstGeom>
          <a:solidFill>
            <a:srgbClr val="3A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3207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No participation minimum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4700" y="1143000"/>
            <a:ext cx="2743200" cy="5212080"/>
          </a:xfrm>
          <a:prstGeom prst="rect">
            <a:avLst/>
          </a:prstGeom>
          <a:solidFill>
            <a:srgbClr val="FAFAF8"/>
          </a:solidFill>
          <a:ln w="9525">
            <a:solidFill>
              <a:srgbClr val="5C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4700" y="1143000"/>
            <a:ext cx="2743200" cy="457200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4700" y="1179576"/>
            <a:ext cx="2743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Crimson Plans (PPO)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1860" y="1801368"/>
            <a:ext cx="118872" cy="11887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4740" y="173736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Enhanced &amp; Deluxe 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1860" y="2932938"/>
            <a:ext cx="118872" cy="11887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4740" y="286893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Comprehensive PPO with fixed rates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1860" y="4064508"/>
            <a:ext cx="118872" cy="11887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4740" y="400050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PHCS Network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1860" y="5196078"/>
            <a:ext cx="118872" cy="118872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4740" y="513207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Telemedicine + behavioral included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143000"/>
            <a:ext cx="2743200" cy="521208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143000"/>
            <a:ext cx="2743200" cy="4572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179576"/>
            <a:ext cx="2743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Cobalt Plans (Allstate Exclusive)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801368"/>
            <a:ext cx="118872" cy="11887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73736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Bronze, Silver, Gold tiers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932938"/>
            <a:ext cx="118872" cy="11887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86893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70/30, 80/20, 90/10 coinsurance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064508"/>
            <a:ext cx="118872" cy="11887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00050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Available only to Cornerstone clients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196078"/>
            <a:ext cx="118872" cy="11887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13207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Underwritten - 75% participation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2580" y="1143000"/>
            <a:ext cx="2743200" cy="521208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12580" y="1143000"/>
            <a:ext cx="2743200" cy="4572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2580" y="1179576"/>
            <a:ext cx="2743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Dental · Vision · Ancillary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9740" y="1801368"/>
            <a:ext cx="118872" cy="11887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32620" y="173736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Ameritas (Basic/Enhanced/Deluxe)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9740" y="2932938"/>
            <a:ext cx="118872" cy="11887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32620" y="286893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VSP or EyeMed Vision plans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49740" y="4064508"/>
            <a:ext cx="118872" cy="11887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2620" y="400050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Allstate Accident, Critical Illness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9740" y="5196078"/>
            <a:ext cx="118872" cy="118872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2620" y="5132070"/>
            <a:ext cx="2331720" cy="113157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17202F"/>
                </a:solidFill>
                <a:latin typeface="DM Sans"/>
              </a:rPr>
              <a:t>Hospital Indemnity, Whole Life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401(K) POOLED EMPLOYER PLAN (PEP)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Eliminate fiduciary risk, slash admin fees, recover employee plan assets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3749039" cy="13716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3749039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FFFFFF"/>
                </a:solidFill>
                <a:latin typeface="Horas"/>
              </a:rPr>
              <a:t>50% LOWER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3749039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 u="none">
                <a:solidFill>
                  <a:srgbClr val="FFFFFF"/>
                </a:solidFill>
                <a:latin typeface="DM Sans"/>
              </a:rPr>
              <a:t>0.49% vs typical 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1097280"/>
            <a:ext cx="3749039" cy="13716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4820" y="1170432"/>
            <a:ext cx="3749039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FFFFFF"/>
                </a:solidFill>
                <a:latin typeface="Horas"/>
              </a:rPr>
              <a:t>ELIMINATES 5500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4820" y="1691640"/>
            <a:ext cx="3749039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 u="none">
                <a:solidFill>
                  <a:srgbClr val="FFFFFF"/>
                </a:solidFill>
                <a:latin typeface="DM Sans"/>
              </a:rPr>
              <a:t>Save $10K – $25K/yr in audit fees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097280"/>
            <a:ext cx="3749039" cy="13716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170432"/>
            <a:ext cx="3749039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FFFFFF"/>
                </a:solidFill>
                <a:latin typeface="Horas"/>
              </a:rPr>
              <a:t>FIDUCIARY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1691640"/>
            <a:ext cx="3749039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 u="none">
                <a:solidFill>
                  <a:srgbClr val="FFFFFF"/>
                </a:solidFill>
                <a:latin typeface="DM Sans"/>
              </a:rPr>
              <a:t>Liability shifts to plan sponsor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11384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23304D"/>
                </a:solidFill>
                <a:latin typeface="Horas"/>
              </a:rPr>
              <a:t>What Atlas One does that other 401(k) plans don't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08960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108960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00400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Asset 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20440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We clean up terminated EE assets — get them rolled out so your active EEs stop paying fees on inactive accounts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108960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108960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200400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Lower plan fees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20440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The PEP master plan is priced below a typical stand alone company plan. Plan fees quoted for your company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60520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160520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51960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No 5500 Filing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572000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Atlas One files the 5500 as plan sponsor — eliminates the $10K – $25K/yr audit fee once a plan crosses the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160520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160520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251960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Free Financial Advisor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72000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Plan participants get free financial advice — typically $200-500/hr value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12079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212079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303519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Penalty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623559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Late deposits / fines / penalties covered by plan sponsor — not your problem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212079"/>
            <a:ext cx="5669280" cy="960120"/>
          </a:xfrm>
          <a:prstGeom prst="rect">
            <a:avLst/>
          </a:prstGeom>
          <a:solidFill>
            <a:srgbClr val="FAFAF8"/>
          </a:solidFill>
          <a:ln w="6350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137160" cy="9601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303519"/>
            <a:ext cx="530352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23304D"/>
                </a:solidFill>
                <a:latin typeface="Horas"/>
              </a:rPr>
              <a:t>Auto-Enrollment Built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23559"/>
            <a:ext cx="530352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SECURE Act EACA included — qualifies for $500/yr auto-enrollment tax credit × 3 yrs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400800"/>
            <a:ext cx="11384280" cy="13716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83680"/>
            <a:ext cx="11384280" cy="2194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 u="none">
                <a:solidFill>
                  <a:srgbClr val="5C6780"/>
                </a:solidFill>
                <a:latin typeface="DM Sans"/>
              </a:rPr>
              <a:t>Source: 2026 plan-audit market pricing (Pepper Auditors) — typically $11,000 for plans under 500 participants.  Admin-fee and per-participant comparisons: Atlas One Solutions internal estimate — adjust per client.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VALUE-ADDS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Items your business gains beyond core PEO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143000"/>
            <a:ext cx="2743200" cy="4114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188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Dedicated HR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Named contact who knows your business — not a 1-800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14300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143000"/>
            <a:ext cx="2743200" cy="4114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188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Compliance Managed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64592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I-9, EEO-1, multi-state nexus, OSHA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14300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14300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188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Free Employee Handbook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64592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$4,000 value — custom, attorney-reviewed, kept current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4856" y="114300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5C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143000"/>
            <a:ext cx="2743200" cy="411480"/>
          </a:xfrm>
          <a:prstGeom prst="rect">
            <a:avLst/>
          </a:prstGeom>
          <a:solidFill>
            <a:srgbClr val="5C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1188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Background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64592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Quoted  ·  State / County / National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69748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69748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743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Drug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0040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Quoted  ·  5-panel, 10-panel options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269748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19272" y="269748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2743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Labor Law Posters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320040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State + Federal compliant  ·  Quoted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269748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23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7064" y="2697480"/>
            <a:ext cx="2743200" cy="41148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2743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Digital Onboarding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20040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Self-serve EE portal — 30-min onboarding from anywhere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34856" y="269748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856" y="269748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856" y="2743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ACA / 1095-C Filing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320040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Tracking, reporting, IRS filing, EE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25196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425196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297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Unemployment Claims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Filing, hearings, appeals — we represent you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9272" y="425196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9272" y="425196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9272" y="4297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QuickBooks GL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432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Direct GL feeds — clean books every payroll cycle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27064" y="425196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27064" y="425196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4297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Compliance Hotline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Included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34856" y="4251960"/>
            <a:ext cx="2743200" cy="1417320"/>
          </a:xfrm>
          <a:prstGeom prst="rect">
            <a:avLst/>
          </a:prstGeom>
          <a:solidFill>
            <a:srgbClr val="FAFAF8"/>
          </a:solidFill>
          <a:ln w="9525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34856" y="4251960"/>
            <a:ext cx="2743200" cy="41148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34856" y="4297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FMLA Administration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72016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Included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INSURANCE CONSOLIDATION — ONE AGENCY, ONE PHONE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Bring all your commercial lines under one roof for streamlined COIs and one point of contact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1430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1795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General 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Your business's first line of defense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1430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1430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795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Professional 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6002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E&amp;O for advice and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1430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1430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1795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Commercial Auto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16002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Vehicles, drivers, fleet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146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5146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511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Property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Buildings, contents, business income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5146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5146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5511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Cyber 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9718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Data breaches, ransomware, privacy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25146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25146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25511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Bonds (Surety + Fidelity)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29718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Performance, payment, employee dishonesty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862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8862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9227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Personal Property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Equipment, tools, inventory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8862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8862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39227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Key Man Insurance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434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Protect against loss of critical personnel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3886200"/>
            <a:ext cx="3749039" cy="1234440"/>
          </a:xfrm>
          <a:prstGeom prst="rect">
            <a:avLst/>
          </a:prstGeom>
          <a:solidFill>
            <a:srgbClr val="FAFAF8"/>
          </a:solidFill>
          <a:ln w="6350">
            <a:solidFill>
              <a:srgbClr val="788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886200"/>
            <a:ext cx="3749039" cy="36576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19" y="3922776"/>
            <a:ext cx="3749039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Umbrella / Excess Liability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9" y="43434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3A4457"/>
                </a:solidFill>
                <a:latin typeface="DM Sans"/>
              </a:rPr>
              <a:t>Catastrophic claim protection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971032"/>
            <a:ext cx="113842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 u="none">
                <a:solidFill>
                  <a:srgbClr val="DBE4ED"/>
                </a:solidFill>
                <a:latin typeface="Horas"/>
              </a:rPr>
              <a:t>We can produce all COIs from one source — no more chasing 3-5 agencies for proof of insurance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Three simple steps to handle everything from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Option 1 — Flat $/EE/Check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1280160"/>
            <a:ext cx="1280160" cy="1280160"/>
          </a:xfrm>
          <a:prstGeom prst="ellipse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280160"/>
            <a:ext cx="1280160" cy="12801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Select Your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65760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Choose Option 1 or 2 based on what fits Test Company LLC best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1280160"/>
            <a:ext cx="1280160" cy="1280160"/>
          </a:xfrm>
          <a:prstGeom prst="ellipse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280160"/>
            <a:ext cx="1280160" cy="12801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657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Sign &amp; Submit Census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46120"/>
            <a:ext cx="365760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Sign agreement, submit employee census — 30 minutes total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1280160"/>
            <a:ext cx="1280160" cy="1280160"/>
          </a:xfrm>
          <a:prstGeom prst="ellipse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280160"/>
            <a:ext cx="1280160" cy="12801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u="none">
                <a:solidFill>
                  <a:srgbClr val="FFFFFF"/>
                </a:solidFill>
                <a:latin typeface="Hor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3657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Go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46120"/>
            <a:ext cx="365760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Atlas One owns implementation — typically 30-45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12080"/>
            <a:ext cx="11384280" cy="13716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303520"/>
            <a:ext cx="11384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DBE4ED"/>
                </a:solidFill>
                <a:latin typeface="Horas"/>
              </a:rPr>
              <a:t>READY TO MOVE FORWARD?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23560"/>
            <a:ext cx="1138428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u="none">
                <a:solidFill>
                  <a:srgbClr val="FFFFFF"/>
                </a:solidFill>
                <a:latin typeface="Horas"/>
              </a:rPr>
              <a:t>60-minute working session to validate numbers and lock in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126480"/>
            <a:ext cx="113842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DBE4ED"/>
                </a:solidFill>
                <a:latin typeface="DM Sans"/>
              </a:rPr>
              <a:t>David Taylor  ·  380-225-5217  ·  david@atlasonesolutions.com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FFFFFF"/>
                </a:solidFill>
                <a:latin typeface="Hora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 u="none">
                <a:solidFill>
                  <a:srgbClr val="DBE4ED"/>
                </a:solidFill>
                <a:latin typeface="DM Sans"/>
              </a:rPr>
              <a:t>One Call Solves Everything.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926080"/>
            <a:ext cx="75895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926080"/>
            <a:ext cx="7589520" cy="5029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971800"/>
            <a:ext cx="758952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23304D"/>
                </a:solidFill>
                <a:latin typeface="Horas"/>
              </a:rPr>
              <a:t>YOUR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11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5C6780"/>
                </a:solidFill>
                <a:latin typeface="Hora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611880"/>
            <a:ext cx="53492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23304D"/>
                </a:solidFill>
                <a:latin typeface="Horas"/>
              </a:rPr>
              <a:t>David Taylor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995928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5C6780"/>
                </a:solidFill>
                <a:latin typeface="Horas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95928"/>
            <a:ext cx="53492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23304D"/>
                </a:solidFill>
                <a:latin typeface="Horas"/>
              </a:rPr>
              <a:t>david@atlasonesolutions.com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379976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5C6780"/>
                </a:solidFill>
                <a:latin typeface="Horas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379976"/>
            <a:ext cx="53492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23304D"/>
                </a:solidFill>
                <a:latin typeface="Horas"/>
              </a:rPr>
              <a:t>380-225-5217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764024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5C6780"/>
                </a:solidFill>
                <a:latin typeface="Horas"/>
              </a:rPr>
              <a:t>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764024"/>
            <a:ext cx="53492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23304D"/>
                </a:solidFill>
                <a:latin typeface="Horas"/>
              </a:rPr>
              <a:t>380-CALL-A1S (380-225-5217)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148072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5C6780"/>
                </a:solidFill>
                <a:latin typeface="Horas"/>
              </a:rPr>
              <a:t>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148072"/>
            <a:ext cx="53492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23304D"/>
                </a:solidFill>
                <a:latin typeface="Horas"/>
              </a:rPr>
              <a:t>www.AtlasOneSolutions.com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u="none">
                <a:solidFill>
                  <a:srgbClr val="FFFFFF"/>
                </a:solidFill>
                <a:latin typeface="DM Sans"/>
              </a:rPr>
              <a:t>Proposal prepared September 30,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