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1234440" y="548640"/>
            <a:ext cx="8229600" cy="457200"/>
          </a:xfrm>
          <a:prstGeom prst="rect">
            <a:avLst/>
          </a:prstGeom>
          <a:noFill/>
          <a:ln/>
        </p:spPr>
        <p:txBody>
          <a:bodyPr wrap="square" rtlCol="0" anchor="ctr"/>
          <a:lstStyle/>
          <a:p>
            <a:pPr indent="0" marL="0">
              <a:buNone/>
            </a:pPr>
            <a:r>
              <a:rPr lang="en-US" sz="1300" b="1" spc="200" kern="0" dirty="0">
                <a:solidFill>
                  <a:srgbClr val="788DE3"/>
                </a:solidFill>
                <a:latin typeface="DM Sans" pitchFamily="34" charset="0"/>
                <a:ea typeface="DM Sans" pitchFamily="34" charset="-122"/>
                <a:cs typeface="DM Sans" pitchFamily="34" charset="-120"/>
              </a:rPr>
              <a:t>ATLAS ONE SOLUTIONS</a:t>
            </a:r>
            <a:endParaRPr lang="en-US" sz="1300" dirty="0"/>
          </a:p>
        </p:txBody>
      </p:sp>
      <p:sp>
        <p:nvSpPr>
          <p:cNvPr id="5" name="Text 3"/>
          <p:cNvSpPr/>
          <p:nvPr/>
        </p:nvSpPr>
        <p:spPr>
          <a:xfrm>
            <a:off x="548640" y="2103120"/>
            <a:ext cx="10972800" cy="914400"/>
          </a:xfrm>
          <a:prstGeom prst="rect">
            <a:avLst/>
          </a:prstGeom>
          <a:noFill/>
          <a:ln/>
        </p:spPr>
        <p:txBody>
          <a:bodyPr wrap="square" rtlCol="0" anchor="ctr"/>
          <a:lstStyle/>
          <a:p>
            <a:pPr indent="0" marL="0">
              <a:buNone/>
            </a:pPr>
            <a:r>
              <a:rPr lang="en-US" sz="3800" dirty="0">
                <a:solidFill>
                  <a:srgbClr val="FFFFFF"/>
                </a:solidFill>
                <a:latin typeface="Horas" pitchFamily="34" charset="0"/>
                <a:ea typeface="Horas" pitchFamily="34" charset="-122"/>
                <a:cs typeface="Horas" pitchFamily="34" charset="-120"/>
              </a:rPr>
              <a:t>Your back office, one relationship, one number</a:t>
            </a:r>
            <a:endParaRPr lang="en-US" sz="3800" dirty="0"/>
          </a:p>
        </p:txBody>
      </p:sp>
      <p:sp>
        <p:nvSpPr>
          <p:cNvPr id="6" name="Text 4"/>
          <p:cNvSpPr/>
          <p:nvPr/>
        </p:nvSpPr>
        <p:spPr>
          <a:xfrm>
            <a:off x="566928" y="3154680"/>
            <a:ext cx="10972800" cy="457200"/>
          </a:xfrm>
          <a:prstGeom prst="rect">
            <a:avLst/>
          </a:prstGeom>
          <a:noFill/>
          <a:ln/>
        </p:spPr>
        <p:txBody>
          <a:bodyPr wrap="square" rtlCol="0" anchor="ctr"/>
          <a:lstStyle/>
          <a:p>
            <a:pPr indent="0" marL="0">
              <a:buNone/>
            </a:pPr>
            <a:r>
              <a:rPr lang="en-US" sz="2000" dirty="0">
                <a:solidFill>
                  <a:srgbClr val="C9D2EA"/>
                </a:solidFill>
                <a:latin typeface="DM Sans" pitchFamily="34" charset="0"/>
                <a:ea typeface="DM Sans" pitchFamily="34" charset="-122"/>
                <a:cs typeface="DM Sans" pitchFamily="34" charset="-120"/>
              </a:rPr>
              <a:t>Prepared for Ridgeline Concrete LLC</a:t>
            </a:r>
            <a:endParaRPr lang="en-US" sz="2000" dirty="0"/>
          </a:p>
        </p:txBody>
      </p:sp>
      <p:sp>
        <p:nvSpPr>
          <p:cNvPr id="7" name="Text 5"/>
          <p:cNvSpPr/>
          <p:nvPr/>
        </p:nvSpPr>
        <p:spPr>
          <a:xfrm>
            <a:off x="566928" y="3657600"/>
            <a:ext cx="10972800" cy="365760"/>
          </a:xfrm>
          <a:prstGeom prst="rect">
            <a:avLst/>
          </a:prstGeom>
          <a:noFill/>
          <a:ln/>
        </p:spPr>
        <p:txBody>
          <a:bodyPr wrap="square" rtlCol="0" anchor="ctr"/>
          <a:lstStyle/>
          <a:p>
            <a:pPr indent="0" marL="0">
              <a:buNone/>
            </a:pPr>
            <a:r>
              <a:rPr lang="en-US" sz="1400" dirty="0">
                <a:solidFill>
                  <a:srgbClr val="9FB0D8"/>
                </a:solidFill>
                <a:latin typeface="DM Sans" pitchFamily="34" charset="0"/>
                <a:ea typeface="DM Sans" pitchFamily="34" charset="-122"/>
                <a:cs typeface="DM Sans" pitchFamily="34" charset="-120"/>
              </a:rPr>
              <a:t>Attention: Marcus Dahl</a:t>
            </a:r>
            <a:endParaRPr lang="en-US" sz="1400" dirty="0"/>
          </a:p>
        </p:txBody>
      </p:sp>
      <p:sp>
        <p:nvSpPr>
          <p:cNvPr id="8" name="Text 6"/>
          <p:cNvSpPr/>
          <p:nvPr/>
        </p:nvSpPr>
        <p:spPr>
          <a:xfrm>
            <a:off x="566928" y="5212080"/>
            <a:ext cx="109728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One Call Solves Everything.</a:t>
            </a:r>
            <a:endParaRPr lang="en-US" sz="2000" dirty="0"/>
          </a:p>
        </p:txBody>
      </p:sp>
      <p:sp>
        <p:nvSpPr>
          <p:cNvPr id="9" name="Text 7"/>
          <p:cNvSpPr/>
          <p:nvPr/>
        </p:nvSpPr>
        <p:spPr>
          <a:xfrm>
            <a:off x="566928" y="5715000"/>
            <a:ext cx="10972800" cy="365760"/>
          </a:xfrm>
          <a:prstGeom prst="rect">
            <a:avLst/>
          </a:prstGeom>
          <a:noFill/>
          <a:ln/>
        </p:spPr>
        <p:txBody>
          <a:bodyPr wrap="square" rtlCol="0" anchor="ctr"/>
          <a:lstStyle/>
          <a:p>
            <a:pPr indent="0" marL="0">
              <a:buNone/>
            </a:pPr>
            <a:r>
              <a:rPr lang="en-US" sz="1200" dirty="0">
                <a:solidFill>
                  <a:srgbClr val="9FB0D8"/>
                </a:solidFill>
                <a:latin typeface="DM Sans" pitchFamily="34" charset="0"/>
                <a:ea typeface="DM Sans" pitchFamily="34" charset="-122"/>
                <a:cs typeface="DM Sans" pitchFamily="34" charset="-120"/>
              </a:rPr>
              <a:t>September 13, 2026   Prepared by David Taylor</a:t>
            </a:r>
            <a:endParaRPr lang="en-US" sz="1200" dirty="0"/>
          </a:p>
        </p:txBody>
      </p:sp>
      <p:sp>
        <p:nvSpPr>
          <p:cNvPr id="10" name="Text 8"/>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9FB0D8"/>
                </a:solidFill>
                <a:latin typeface="DM Sans" pitchFamily="34" charset="0"/>
                <a:ea typeface="DM Sans" pitchFamily="34" charset="-122"/>
                <a:cs typeface="DM Sans"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Where Ridgeline Concrete LLC is today</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What we heard in discovery. Correct anything that is off and the numbers move with it.</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7772400"/>
              </a:tblGrid>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Industry</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Construction</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Employees</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38 across UT, ID</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Monthly gross payroll</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$182,000, paid every two weeks</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Workers comp today</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Travelers, $61,400 per year</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Class codes</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5213 Concrete construction</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Current all in back office spend</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$9,800 per month, $117,600 per year</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Benefits in place or wanted</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Health insurance, Dental, Group life</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r h="438912">
                <a:tc>
                  <a:txBody>
                    <a:bodyPr/>
                    <a:lstStyle/>
                    <a:p>
                      <a:pPr algn="l" indent="0" marL="0">
                        <a:buNone/>
                      </a:pPr>
                      <a:r>
                        <a:rPr lang="en-US" sz="1300" b="1" dirty="0">
                          <a:solidFill>
                            <a:srgbClr val="23304D"/>
                          </a:solidFill>
                          <a:latin typeface="DM Sans" pitchFamily="34" charset="0"/>
                          <a:ea typeface="DM Sans" pitchFamily="34" charset="-122"/>
                          <a:cs typeface="DM Sans" pitchFamily="34" charset="-120"/>
                        </a:rPr>
                        <a:t>Your team on this</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3304D"/>
                          </a:solidFill>
                          <a:latin typeface="DM Sans" pitchFamily="34" charset="0"/>
                          <a:ea typeface="DM Sans" pitchFamily="34" charset="-122"/>
                          <a:cs typeface="DM Sans" pitchFamily="34" charset="-120"/>
                        </a:rPr>
                        <a:t>Marcus Dahl (Owner), Jenna Ruiz (Office manager)</a:t>
                      </a:r>
                      <a:endParaRPr lang="en-US" sz="130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5340096"/>
            <a:ext cx="10972800" cy="731520"/>
          </a:xfrm>
          <a:prstGeom prst="rect">
            <a:avLst/>
          </a:prstGeom>
          <a:noFill/>
          <a:ln/>
        </p:spPr>
        <p:txBody>
          <a:bodyPr wrap="square" rtlCol="0" anchor="t"/>
          <a:lstStyle/>
          <a:p>
            <a:pPr indent="0" marL="0">
              <a:buNone/>
            </a:pPr>
            <a:r>
              <a:rPr lang="en-US" sz="1200" dirty="0">
                <a:solidFill>
                  <a:srgbClr val="5B6577"/>
                </a:solidFill>
                <a:latin typeface="DM Sans" pitchFamily="34" charset="0"/>
                <a:ea typeface="DM Sans" pitchFamily="34" charset="-122"/>
                <a:cs typeface="DM Sans" pitchFamily="34" charset="-120"/>
              </a:rPr>
              <a:t>Bidding two public jobs in Q1, needs WH-347 from January. Wants dental added for foremen.</a:t>
            </a:r>
            <a:endParaRPr lang="en-US" sz="1200" dirty="0"/>
          </a:p>
        </p:txBody>
      </p:sp>
      <p:sp>
        <p:nvSpPr>
          <p:cNvPr id="6" name="Text 3"/>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7" name="Text 4"/>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Your itemized quote</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Every line priced on its own. Nothing is bundled where you cannot see it.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6949440"/>
                <a:gridCol w="2057400"/>
                <a:gridCol w="2057400"/>
              </a:tblGrid>
              <a:tr h="365760">
                <a:tc>
                  <a:txBody>
                    <a:bodyPr/>
                    <a:lstStyle/>
                    <a:p>
                      <a:pPr algn="l" indent="0" marL="0">
                        <a:buNone/>
                      </a:pPr>
                      <a:r>
                        <a:rPr lang="en-US" sz="1250" b="1" dirty="0">
                          <a:solidFill>
                            <a:srgbClr val="FFFFFF"/>
                          </a:solidFill>
                          <a:latin typeface="DM Sans" pitchFamily="34" charset="0"/>
                          <a:ea typeface="DM Sans" pitchFamily="34" charset="-122"/>
                          <a:cs typeface="DM Sans" pitchFamily="34" charset="-120"/>
                        </a:rPr>
                        <a:t>Item</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c>
                  <a:txBody>
                    <a:bodyPr/>
                    <a:lstStyle/>
                    <a:p>
                      <a:pPr algn="r" indent="0" marL="0">
                        <a:buNone/>
                      </a:pPr>
                      <a:r>
                        <a:rPr lang="en-US" sz="1250" b="1" dirty="0">
                          <a:solidFill>
                            <a:srgbClr val="FFFFFF"/>
                          </a:solidFill>
                          <a:latin typeface="DM Sans" pitchFamily="34" charset="0"/>
                          <a:ea typeface="DM Sans" pitchFamily="34" charset="-122"/>
                          <a:cs typeface="DM Sans" pitchFamily="34" charset="-120"/>
                        </a:rPr>
                        <a:t>Monthly</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c>
                  <a:txBody>
                    <a:bodyPr/>
                    <a:lstStyle/>
                    <a:p>
                      <a:pPr algn="r" indent="0" marL="0">
                        <a:buNone/>
                      </a:pPr>
                      <a:r>
                        <a:rPr lang="en-US" sz="1250" b="1" dirty="0">
                          <a:solidFill>
                            <a:srgbClr val="FFFFFF"/>
                          </a:solidFill>
                          <a:latin typeface="DM Sans" pitchFamily="34" charset="0"/>
                          <a:ea typeface="DM Sans" pitchFamily="34" charset="-122"/>
                          <a:cs typeface="DM Sans" pitchFamily="34" charset="-120"/>
                        </a:rPr>
                        <a:t>One time setup</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r>
              <a:tr h="365760">
                <a:tc>
                  <a:txBody>
                    <a:bodyPr/>
                    <a:lstStyle/>
                    <a:p>
                      <a:pPr indent="0" marL="0">
                        <a:buNone/>
                      </a:pPr>
                      <a:r>
                        <a:rPr lang="en-US" sz="1250" b="1" dirty="0">
                          <a:solidFill>
                            <a:srgbClr val="23304D"/>
                          </a:solidFill>
                          <a:latin typeface="DM Sans" pitchFamily="34" charset="0"/>
                          <a:ea typeface="DM Sans" pitchFamily="34" charset="-122"/>
                          <a:cs typeface="DM Sans" pitchFamily="34" charset="-120"/>
                        </a:rPr>
                        <a:t>PEO: payroll</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$1,482</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indent="0" marL="0">
                        <a:buNone/>
                      </a:pP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Benefits (employer share of premiums)</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$13,750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indent="0" marL="0">
                        <a:buNone/>
                      </a:pP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Membership: Professional ($399 per month, setup $495)</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$399</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dirty="0">
                          <a:solidFill>
                            <a:srgbClr val="5B6577"/>
                          </a:solidFill>
                          <a:latin typeface="DM Sans" pitchFamily="34" charset="0"/>
                          <a:ea typeface="DM Sans" pitchFamily="34" charset="-122"/>
                          <a:cs typeface="DM Sans" pitchFamily="34" charset="-120"/>
                        </a:rPr>
                        <a:t>$495</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Background &amp; drug screening</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Certified Payroll (WH-347 / state)</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$75</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Employee Handbook: custom</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dirty="0">
                          <a:solidFill>
                            <a:srgbClr val="5B6577"/>
                          </a:solidFill>
                          <a:latin typeface="DM Sans" pitchFamily="34" charset="0"/>
                          <a:ea typeface="DM Sans" pitchFamily="34" charset="-122"/>
                          <a:cs typeface="DM Sans" pitchFamily="34" charset="-120"/>
                        </a:rPr>
                        <a:t>$750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Safety Manual: custom</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dirty="0">
                          <a:solidFill>
                            <a:srgbClr val="5B6577"/>
                          </a:solidFill>
                          <a:latin typeface="DM Sans" pitchFamily="34" charset="0"/>
                          <a:ea typeface="DM Sans" pitchFamily="34" charset="-122"/>
                          <a:cs typeface="DM Sans" pitchFamily="34" charset="-120"/>
                        </a:rPr>
                        <a:t>$750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AI Email: Essentials (1 mailbox)</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$199</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dirty="0">
                          <a:solidFill>
                            <a:srgbClr val="5B6577"/>
                          </a:solidFill>
                          <a:latin typeface="DM Sans" pitchFamily="34" charset="0"/>
                          <a:ea typeface="DM Sans" pitchFamily="34" charset="-122"/>
                          <a:cs typeface="DM Sans" pitchFamily="34" charset="-120"/>
                        </a:rPr>
                        <a:t>$750</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250" dirty="0">
                          <a:solidFill>
                            <a:srgbClr val="23304D"/>
                          </a:solidFill>
                          <a:latin typeface="DM Sans" pitchFamily="34" charset="0"/>
                          <a:ea typeface="DM Sans" pitchFamily="34" charset="-122"/>
                          <a:cs typeface="DM Sans" pitchFamily="34" charset="-120"/>
                        </a:rPr>
                        <a:t>Discount</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algn="r" indent="0" marL="0">
                        <a:buNone/>
                      </a:pPr>
                      <a:r>
                        <a:rPr lang="en-US" sz="1250" b="1" dirty="0">
                          <a:solidFill>
                            <a:srgbClr val="23304D"/>
                          </a:solidFill>
                          <a:latin typeface="DM Sans" pitchFamily="34" charset="0"/>
                          <a:ea typeface="DM Sans" pitchFamily="34" charset="-122"/>
                          <a:cs typeface="DM Sans" pitchFamily="34" charset="-120"/>
                        </a:rPr>
                        <a:t>minus $795</a:t>
                      </a: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c>
                  <a:txBody>
                    <a:bodyPr/>
                    <a:lstStyle/>
                    <a:p>
                      <a:pPr indent="0" marL="0">
                        <a:buNone/>
                      </a:pPr>
                      <a:endParaRPr lang="en-US" sz="1250" dirty="0">
                        <a:latin typeface="DM Sans" charset="0"/>
                        <a:ea typeface="DM Sans" charset="0"/>
                        <a:cs typeface="DM San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tcPr>
                </a:tc>
              </a:tr>
              <a:tr h="365760">
                <a:tc>
                  <a:txBody>
                    <a:bodyPr/>
                    <a:lstStyle/>
                    <a:p>
                      <a:pPr indent="0" marL="0">
                        <a:buNone/>
                      </a:pPr>
                      <a:r>
                        <a:rPr lang="en-US" sz="1400" b="1" dirty="0">
                          <a:solidFill>
                            <a:srgbClr val="FFFFFF"/>
                          </a:solidFill>
                          <a:latin typeface="Horas" pitchFamily="34" charset="0"/>
                          <a:ea typeface="Horas" pitchFamily="34" charset="-122"/>
                          <a:cs typeface="Horas" pitchFamily="34" charset="-120"/>
                        </a:rPr>
                        <a:t>Total monthly, all in</a:t>
                      </a:r>
                      <a:endParaRPr lang="en-US" sz="1400" dirty="0">
                        <a:latin typeface="Horas" charset="0"/>
                        <a:ea typeface="Horas" charset="0"/>
                        <a:cs typeface="Hora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c>
                  <a:txBody>
                    <a:bodyPr/>
                    <a:lstStyle/>
                    <a:p>
                      <a:pPr algn="r" indent="0" marL="0">
                        <a:buNone/>
                      </a:pPr>
                      <a:r>
                        <a:rPr lang="en-US" sz="1400" b="1" dirty="0">
                          <a:solidFill>
                            <a:srgbClr val="FFFFFF"/>
                          </a:solidFill>
                          <a:latin typeface="Horas" pitchFamily="34" charset="0"/>
                          <a:ea typeface="Horas" pitchFamily="34" charset="-122"/>
                          <a:cs typeface="Horas" pitchFamily="34" charset="-120"/>
                        </a:rPr>
                        <a:t>$15,110</a:t>
                      </a:r>
                      <a:endParaRPr lang="en-US" sz="1400" dirty="0">
                        <a:latin typeface="Horas" charset="0"/>
                        <a:ea typeface="Horas" charset="0"/>
                        <a:cs typeface="Hora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c>
                  <a:txBody>
                    <a:bodyPr/>
                    <a:lstStyle/>
                    <a:p>
                      <a:pPr algn="r" indent="0" marL="0">
                        <a:buNone/>
                      </a:pPr>
                      <a:r>
                        <a:rPr lang="en-US" sz="1400" b="1" dirty="0">
                          <a:solidFill>
                            <a:srgbClr val="FFFFFF"/>
                          </a:solidFill>
                          <a:latin typeface="Horas" pitchFamily="34" charset="0"/>
                          <a:ea typeface="Horas" pitchFamily="34" charset="-122"/>
                          <a:cs typeface="Horas" pitchFamily="34" charset="-120"/>
                        </a:rPr>
                        <a:t>$2,745</a:t>
                      </a:r>
                      <a:endParaRPr lang="en-US" sz="1400" dirty="0">
                        <a:latin typeface="Horas" charset="0"/>
                        <a:ea typeface="Horas" charset="0"/>
                        <a:cs typeface="Horas" charset="0"/>
                      </a:endParaRPr>
                    </a:p>
                  </a:txBody>
                  <a:tcPr marL="91440" marR="91440" marT="45720" marB="45720" anchor="ctr">
                    <a:lnL w="12700" cap="flat" cmpd="sng" algn="ctr">
                      <a:solidFill>
                        <a:srgbClr val="DBE4ED"/>
                      </a:solidFill>
                      <a:prstDash val="solid"/>
                      <a:round/>
                      <a:headEnd type="none" w="med" len="med"/>
                      <a:tailEnd type="none" w="med" len="med"/>
                    </a:lnL>
                    <a:lnR w="12700" cap="flat" cmpd="sng" algn="ctr">
                      <a:solidFill>
                        <a:srgbClr val="DBE4ED"/>
                      </a:solidFill>
                      <a:prstDash val="solid"/>
                      <a:round/>
                      <a:headEnd type="none" w="med" len="med"/>
                      <a:tailEnd type="none" w="med" len="med"/>
                    </a:lnR>
                    <a:lnT w="12700" cap="flat" cmpd="sng" algn="ctr">
                      <a:solidFill>
                        <a:srgbClr val="DBE4ED"/>
                      </a:solidFill>
                      <a:prstDash val="solid"/>
                      <a:round/>
                      <a:headEnd type="none" w="med" len="med"/>
                      <a:tailEnd type="none" w="med" len="med"/>
                    </a:lnT>
                    <a:lnB w="12700" cap="flat" cmpd="sng" algn="ctr">
                      <a:solidFill>
                        <a:srgbClr val="DBE4ED"/>
                      </a:solidFill>
                      <a:prstDash val="solid"/>
                      <a:round/>
                      <a:headEnd type="none" w="med" len="med"/>
                      <a:tailEnd type="none" w="med" len="med"/>
                    </a:lnB>
                    <a:solidFill>
                      <a:srgbClr val="23304D"/>
                    </a:solidFill>
                  </a:tcPr>
                </a:tc>
              </a:tr>
            </a:tbl>
          </a:graphicData>
        </a:graphic>
      </p:graphicFrame>
      <p:sp>
        <p:nvSpPr>
          <p:cNvPr id="5" name="Text 2"/>
          <p:cNvSpPr/>
          <p:nvPr/>
        </p:nvSpPr>
        <p:spPr>
          <a:xfrm>
            <a:off x="566928" y="5897880"/>
            <a:ext cx="10972800" cy="365760"/>
          </a:xfrm>
          <a:prstGeom prst="rect">
            <a:avLst/>
          </a:prstGeom>
          <a:noFill/>
          <a:ln/>
        </p:spPr>
        <p:txBody>
          <a:bodyPr wrap="square" rtlCol="0" anchor="ctr"/>
          <a:lstStyle/>
          <a:p>
            <a:pPr indent="0" marL="0">
              <a:buNone/>
            </a:pPr>
            <a:r>
              <a:rPr lang="en-US" sz="1200" dirty="0">
                <a:solidFill>
                  <a:srgbClr val="5B6577"/>
                </a:solidFill>
                <a:latin typeface="DM Sans" pitchFamily="34" charset="0"/>
                <a:ea typeface="DM Sans" pitchFamily="34" charset="-122"/>
                <a:cs typeface="DM Sans" pitchFamily="34" charset="-120"/>
              </a:rPr>
              <a:t>Annual, all in: $181,317. Setup fees are one time and shown separately.</a:t>
            </a:r>
            <a:endParaRPr lang="en-US" sz="1200" dirty="0"/>
          </a:p>
        </p:txBody>
      </p:sp>
      <p:sp>
        <p:nvSpPr>
          <p:cNvPr id="6" name="Text 3"/>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7" name="Text 4"/>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Payroll and PEO, kept on its own line</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Payroll is a transaction. It is priced separately so you always see what it costs and what it covers.</a:t>
            </a:r>
            <a:endParaRPr lang="en-US" sz="1300" dirty="0"/>
          </a:p>
        </p:txBody>
      </p:sp>
      <p:sp>
        <p:nvSpPr>
          <p:cNvPr id="4" name="Shape 2"/>
          <p:cNvSpPr/>
          <p:nvPr/>
        </p:nvSpPr>
        <p:spPr>
          <a:xfrm>
            <a:off x="548640" y="1691640"/>
            <a:ext cx="5486400" cy="1920240"/>
          </a:xfrm>
          <a:prstGeom prst="rect">
            <a:avLst>
              <a:gd name="adj" fmla="val 3810"/>
            </a:avLst>
          </a:prstGeom>
          <a:solidFill>
            <a:srgbClr val="23304D"/>
          </a:solidFill>
          <a:ln/>
        </p:spPr>
      </p:sp>
      <p:sp>
        <p:nvSpPr>
          <p:cNvPr id="5" name="Text 3"/>
          <p:cNvSpPr/>
          <p:nvPr/>
        </p:nvSpPr>
        <p:spPr>
          <a:xfrm>
            <a:off x="777240" y="1874520"/>
            <a:ext cx="502920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PEO: PAYROLL</a:t>
            </a:r>
            <a:endParaRPr lang="en-US" sz="1050" dirty="0"/>
          </a:p>
        </p:txBody>
      </p:sp>
      <p:sp>
        <p:nvSpPr>
          <p:cNvPr id="6" name="Text 4"/>
          <p:cNvSpPr/>
          <p:nvPr/>
        </p:nvSpPr>
        <p:spPr>
          <a:xfrm>
            <a:off x="777240" y="2194560"/>
            <a:ext cx="5029200" cy="777240"/>
          </a:xfrm>
          <a:prstGeom prst="rect">
            <a:avLst/>
          </a:prstGeom>
          <a:noFill/>
          <a:ln/>
        </p:spPr>
        <p:txBody>
          <a:bodyPr wrap="square" rtlCol="0" anchor="ctr"/>
          <a:lstStyle/>
          <a:p>
            <a:pPr indent="0" marL="0">
              <a:buNone/>
            </a:pPr>
            <a:r>
              <a:rPr lang="en-US" sz="3000" dirty="0">
                <a:solidFill>
                  <a:srgbClr val="FFFFFF"/>
                </a:solidFill>
                <a:latin typeface="Horas" pitchFamily="34" charset="0"/>
                <a:ea typeface="Horas" pitchFamily="34" charset="-122"/>
                <a:cs typeface="Horas" pitchFamily="34" charset="-120"/>
              </a:rPr>
              <a:t>$1,482 per month</a:t>
            </a:r>
            <a:endParaRPr lang="en-US" sz="3000" dirty="0"/>
          </a:p>
        </p:txBody>
      </p:sp>
      <p:sp>
        <p:nvSpPr>
          <p:cNvPr id="7" name="Text 5"/>
          <p:cNvSpPr/>
          <p:nvPr/>
        </p:nvSpPr>
        <p:spPr>
          <a:xfrm>
            <a:off x="777240" y="2971800"/>
            <a:ext cx="5029200" cy="365760"/>
          </a:xfrm>
          <a:prstGeom prst="rect">
            <a:avLst/>
          </a:prstGeom>
          <a:noFill/>
          <a:ln/>
        </p:spPr>
        <p:txBody>
          <a:bodyPr wrap="square" rtlCol="0" anchor="ctr"/>
          <a:lstStyle/>
          <a:p>
            <a:pPr indent="0" marL="0">
              <a:buNone/>
            </a:pPr>
            <a:r>
              <a:rPr lang="en-US" sz="1150" dirty="0">
                <a:solidFill>
                  <a:srgbClr val="C9D2EA"/>
                </a:solidFill>
                <a:latin typeface="DM Sans" pitchFamily="34" charset="0"/>
                <a:ea typeface="DM Sans" pitchFamily="34" charset="-122"/>
                <a:cs typeface="DM Sans" pitchFamily="34" charset="-120"/>
              </a:rPr>
              <a:t>38 employees, $17,784 per year</a:t>
            </a:r>
            <a:endParaRPr lang="en-US" sz="1150" dirty="0"/>
          </a:p>
        </p:txBody>
      </p:sp>
      <p:sp>
        <p:nvSpPr>
          <p:cNvPr id="8" name="Shape 6"/>
          <p:cNvSpPr/>
          <p:nvPr/>
        </p:nvSpPr>
        <p:spPr>
          <a:xfrm>
            <a:off x="6309360" y="1691640"/>
            <a:ext cx="5303520" cy="1920240"/>
          </a:xfrm>
          <a:prstGeom prst="rect">
            <a:avLst>
              <a:gd name="adj" fmla="val 3810"/>
            </a:avLst>
          </a:prstGeom>
          <a:solidFill>
            <a:srgbClr val="788DE3"/>
          </a:solidFill>
          <a:ln/>
        </p:spPr>
      </p:sp>
      <p:sp>
        <p:nvSpPr>
          <p:cNvPr id="9" name="Text 7"/>
          <p:cNvSpPr/>
          <p:nvPr/>
        </p:nvSpPr>
        <p:spPr>
          <a:xfrm>
            <a:off x="6537960" y="1874520"/>
            <a:ext cx="4846320" cy="320040"/>
          </a:xfrm>
          <a:prstGeom prst="rect">
            <a:avLst/>
          </a:prstGeom>
          <a:noFill/>
          <a:ln/>
        </p:spPr>
        <p:txBody>
          <a:bodyPr wrap="square" rtlCol="0" anchor="ctr"/>
          <a:lstStyle/>
          <a:p>
            <a:pPr indent="0" marL="0">
              <a:buNone/>
            </a:pPr>
            <a:r>
              <a:rPr lang="en-US" sz="1050" b="1" spc="100" kern="0" dirty="0">
                <a:solidFill>
                  <a:srgbClr val="23304D"/>
                </a:solidFill>
                <a:latin typeface="DM Sans" pitchFamily="34" charset="0"/>
                <a:ea typeface="DM Sans" pitchFamily="34" charset="-122"/>
                <a:cs typeface="DM Sans" pitchFamily="34" charset="-120"/>
              </a:rPr>
              <a:t>PER EMPLOYEE, PER CHECK</a:t>
            </a:r>
            <a:endParaRPr lang="en-US" sz="1050" dirty="0"/>
          </a:p>
        </p:txBody>
      </p:sp>
      <p:sp>
        <p:nvSpPr>
          <p:cNvPr id="10" name="Text 8"/>
          <p:cNvSpPr/>
          <p:nvPr/>
        </p:nvSpPr>
        <p:spPr>
          <a:xfrm>
            <a:off x="6537960" y="2194560"/>
            <a:ext cx="4846320" cy="777240"/>
          </a:xfrm>
          <a:prstGeom prst="rect">
            <a:avLst/>
          </a:prstGeom>
          <a:noFill/>
          <a:ln/>
        </p:spPr>
        <p:txBody>
          <a:bodyPr wrap="square" rtlCol="0" anchor="ctr"/>
          <a:lstStyle/>
          <a:p>
            <a:pPr indent="0" marL="0">
              <a:buNone/>
            </a:pPr>
            <a:r>
              <a:rPr lang="en-US" sz="3000" dirty="0">
                <a:solidFill>
                  <a:srgbClr val="23304D"/>
                </a:solidFill>
                <a:latin typeface="Horas" pitchFamily="34" charset="0"/>
                <a:ea typeface="Horas" pitchFamily="34" charset="-122"/>
                <a:cs typeface="Horas" pitchFamily="34" charset="-120"/>
              </a:rPr>
              <a:t>$18</a:t>
            </a:r>
            <a:endParaRPr lang="en-US" sz="3000" dirty="0"/>
          </a:p>
        </p:txBody>
      </p:sp>
      <p:sp>
        <p:nvSpPr>
          <p:cNvPr id="11" name="Text 9"/>
          <p:cNvSpPr/>
          <p:nvPr/>
        </p:nvSpPr>
        <p:spPr>
          <a:xfrm>
            <a:off x="6537960" y="2971800"/>
            <a:ext cx="4846320" cy="365760"/>
          </a:xfrm>
          <a:prstGeom prst="rect">
            <a:avLst/>
          </a:prstGeom>
          <a:noFill/>
          <a:ln/>
        </p:spPr>
        <p:txBody>
          <a:bodyPr wrap="square" rtlCol="0" anchor="ctr"/>
          <a:lstStyle/>
          <a:p>
            <a:pPr indent="0" marL="0">
              <a:buNone/>
            </a:pPr>
            <a:r>
              <a:rPr lang="en-US" sz="1150" dirty="0">
                <a:solidFill>
                  <a:srgbClr val="23304D"/>
                </a:solidFill>
                <a:latin typeface="DM Sans" pitchFamily="34" charset="0"/>
                <a:ea typeface="DM Sans" pitchFamily="34" charset="-122"/>
                <a:cs typeface="DM Sans" pitchFamily="34" charset="-120"/>
              </a:rPr>
              <a:t>what each pay run costs, per person</a:t>
            </a:r>
            <a:endParaRPr lang="en-US" sz="1150" dirty="0"/>
          </a:p>
        </p:txBody>
      </p:sp>
      <p:sp>
        <p:nvSpPr>
          <p:cNvPr id="12" name="Text 10"/>
          <p:cNvSpPr/>
          <p:nvPr/>
        </p:nvSpPr>
        <p:spPr>
          <a:xfrm>
            <a:off x="548640" y="3886200"/>
            <a:ext cx="10972800" cy="36576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Handled behind the scenes</a:t>
            </a:r>
            <a:endParaRPr lang="en-US" sz="1600" dirty="0"/>
          </a:p>
        </p:txBody>
      </p:sp>
      <p:sp>
        <p:nvSpPr>
          <p:cNvPr id="13" name="Shape 11"/>
          <p:cNvSpPr/>
          <p:nvPr/>
        </p:nvSpPr>
        <p:spPr>
          <a:xfrm>
            <a:off x="548640" y="4343400"/>
            <a:ext cx="2793492" cy="365760"/>
          </a:xfrm>
          <a:prstGeom prst="rect">
            <a:avLst>
              <a:gd name="adj" fmla="val 50000"/>
            </a:avLst>
          </a:prstGeom>
          <a:solidFill>
            <a:srgbClr val="FFFFFF"/>
          </a:solidFill>
          <a:ln w="12700">
            <a:solidFill>
              <a:srgbClr val="DBE4ED"/>
            </a:solidFill>
            <a:prstDash val="solid"/>
          </a:ln>
        </p:spPr>
      </p:sp>
      <p:sp>
        <p:nvSpPr>
          <p:cNvPr id="14" name="Text 12"/>
          <p:cNvSpPr/>
          <p:nvPr/>
        </p:nvSpPr>
        <p:spPr>
          <a:xfrm>
            <a:off x="548640" y="4343400"/>
            <a:ext cx="2793492"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Payroll tax filing &amp; deposits</a:t>
            </a:r>
            <a:endParaRPr lang="en-US" sz="1050" dirty="0"/>
          </a:p>
        </p:txBody>
      </p:sp>
      <p:sp>
        <p:nvSpPr>
          <p:cNvPr id="15" name="Shape 13"/>
          <p:cNvSpPr/>
          <p:nvPr/>
        </p:nvSpPr>
        <p:spPr>
          <a:xfrm>
            <a:off x="3479292" y="4343400"/>
            <a:ext cx="1924812" cy="365760"/>
          </a:xfrm>
          <a:prstGeom prst="rect">
            <a:avLst>
              <a:gd name="adj" fmla="val 50000"/>
            </a:avLst>
          </a:prstGeom>
          <a:solidFill>
            <a:srgbClr val="FFFFFF"/>
          </a:solidFill>
          <a:ln w="12700">
            <a:solidFill>
              <a:srgbClr val="DBE4ED"/>
            </a:solidFill>
            <a:prstDash val="solid"/>
          </a:ln>
        </p:spPr>
      </p:sp>
      <p:sp>
        <p:nvSpPr>
          <p:cNvPr id="16" name="Text 14"/>
          <p:cNvSpPr/>
          <p:nvPr/>
        </p:nvSpPr>
        <p:spPr>
          <a:xfrm>
            <a:off x="3479292" y="4343400"/>
            <a:ext cx="1924812"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Unemployment claims</a:t>
            </a:r>
            <a:endParaRPr lang="en-US" sz="1050" dirty="0"/>
          </a:p>
        </p:txBody>
      </p:sp>
      <p:sp>
        <p:nvSpPr>
          <p:cNvPr id="17" name="Shape 15"/>
          <p:cNvSpPr/>
          <p:nvPr/>
        </p:nvSpPr>
        <p:spPr>
          <a:xfrm>
            <a:off x="5541264" y="4343400"/>
            <a:ext cx="1316736" cy="365760"/>
          </a:xfrm>
          <a:prstGeom prst="rect">
            <a:avLst>
              <a:gd name="adj" fmla="val 50000"/>
            </a:avLst>
          </a:prstGeom>
          <a:solidFill>
            <a:srgbClr val="FFFFFF"/>
          </a:solidFill>
          <a:ln w="12700">
            <a:solidFill>
              <a:srgbClr val="DBE4ED"/>
            </a:solidFill>
            <a:prstDash val="solid"/>
          </a:ln>
        </p:spPr>
      </p:sp>
      <p:sp>
        <p:nvSpPr>
          <p:cNvPr id="18" name="Text 16"/>
          <p:cNvSpPr/>
          <p:nvPr/>
        </p:nvSpPr>
        <p:spPr>
          <a:xfrm>
            <a:off x="5541264" y="4343400"/>
            <a:ext cx="1316736"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Garnishments</a:t>
            </a:r>
            <a:endParaRPr lang="en-US" sz="1050" dirty="0"/>
          </a:p>
        </p:txBody>
      </p:sp>
      <p:sp>
        <p:nvSpPr>
          <p:cNvPr id="19" name="Shape 17"/>
          <p:cNvSpPr/>
          <p:nvPr/>
        </p:nvSpPr>
        <p:spPr>
          <a:xfrm>
            <a:off x="6995160" y="4343400"/>
            <a:ext cx="1837944" cy="365760"/>
          </a:xfrm>
          <a:prstGeom prst="rect">
            <a:avLst>
              <a:gd name="adj" fmla="val 50000"/>
            </a:avLst>
          </a:prstGeom>
          <a:solidFill>
            <a:srgbClr val="FFFFFF"/>
          </a:solidFill>
          <a:ln w="12700">
            <a:solidFill>
              <a:srgbClr val="DBE4ED"/>
            </a:solidFill>
            <a:prstDash val="solid"/>
          </a:ln>
        </p:spPr>
      </p:sp>
      <p:sp>
        <p:nvSpPr>
          <p:cNvPr id="20" name="Text 18"/>
          <p:cNvSpPr/>
          <p:nvPr/>
        </p:nvSpPr>
        <p:spPr>
          <a:xfrm>
            <a:off x="6995160" y="4343400"/>
            <a:ext cx="1837944"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New-hire reporting</a:t>
            </a:r>
            <a:endParaRPr lang="en-US" sz="1050" dirty="0"/>
          </a:p>
        </p:txBody>
      </p:sp>
      <p:sp>
        <p:nvSpPr>
          <p:cNvPr id="21" name="Shape 19"/>
          <p:cNvSpPr/>
          <p:nvPr/>
        </p:nvSpPr>
        <p:spPr>
          <a:xfrm>
            <a:off x="8970264" y="4343400"/>
            <a:ext cx="1577340" cy="365760"/>
          </a:xfrm>
          <a:prstGeom prst="rect">
            <a:avLst>
              <a:gd name="adj" fmla="val 50000"/>
            </a:avLst>
          </a:prstGeom>
          <a:solidFill>
            <a:srgbClr val="FFFFFF"/>
          </a:solidFill>
          <a:ln w="12700">
            <a:solidFill>
              <a:srgbClr val="DBE4ED"/>
            </a:solidFill>
            <a:prstDash val="solid"/>
          </a:ln>
        </p:spPr>
      </p:sp>
      <p:sp>
        <p:nvSpPr>
          <p:cNvPr id="22" name="Text 20"/>
          <p:cNvSpPr/>
          <p:nvPr/>
        </p:nvSpPr>
        <p:spPr>
          <a:xfrm>
            <a:off x="8970264" y="4343400"/>
            <a:ext cx="1577340"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W-2s &amp; year-end</a:t>
            </a:r>
            <a:endParaRPr lang="en-US" sz="1050" dirty="0"/>
          </a:p>
        </p:txBody>
      </p:sp>
      <p:sp>
        <p:nvSpPr>
          <p:cNvPr id="23" name="Shape 21"/>
          <p:cNvSpPr/>
          <p:nvPr/>
        </p:nvSpPr>
        <p:spPr>
          <a:xfrm>
            <a:off x="548640" y="4800600"/>
            <a:ext cx="2706624" cy="365760"/>
          </a:xfrm>
          <a:prstGeom prst="rect">
            <a:avLst>
              <a:gd name="adj" fmla="val 50000"/>
            </a:avLst>
          </a:prstGeom>
          <a:solidFill>
            <a:srgbClr val="FFFFFF"/>
          </a:solidFill>
          <a:ln w="12700">
            <a:solidFill>
              <a:srgbClr val="DBE4ED"/>
            </a:solidFill>
            <a:prstDash val="solid"/>
          </a:ln>
        </p:spPr>
      </p:sp>
      <p:sp>
        <p:nvSpPr>
          <p:cNvPr id="24" name="Text 22"/>
          <p:cNvSpPr/>
          <p:nvPr/>
        </p:nvSpPr>
        <p:spPr>
          <a:xfrm>
            <a:off x="548640" y="4800600"/>
            <a:ext cx="2706624"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Workers' comp administration</a:t>
            </a:r>
            <a:endParaRPr lang="en-US" sz="1050" dirty="0"/>
          </a:p>
        </p:txBody>
      </p:sp>
      <p:sp>
        <p:nvSpPr>
          <p:cNvPr id="25" name="Shape 23"/>
          <p:cNvSpPr/>
          <p:nvPr/>
        </p:nvSpPr>
        <p:spPr>
          <a:xfrm>
            <a:off x="3392424" y="4800600"/>
            <a:ext cx="2272284" cy="365760"/>
          </a:xfrm>
          <a:prstGeom prst="rect">
            <a:avLst>
              <a:gd name="adj" fmla="val 50000"/>
            </a:avLst>
          </a:prstGeom>
          <a:solidFill>
            <a:srgbClr val="FFFFFF"/>
          </a:solidFill>
          <a:ln w="12700">
            <a:solidFill>
              <a:srgbClr val="DBE4ED"/>
            </a:solidFill>
            <a:prstDash val="solid"/>
          </a:ln>
        </p:spPr>
      </p:sp>
      <p:sp>
        <p:nvSpPr>
          <p:cNvPr id="26" name="Text 24"/>
          <p:cNvSpPr/>
          <p:nvPr/>
        </p:nvSpPr>
        <p:spPr>
          <a:xfrm>
            <a:off x="3392424" y="4800600"/>
            <a:ext cx="2272284"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Benefits administration</a:t>
            </a:r>
            <a:endParaRPr lang="en-US" sz="1050" dirty="0"/>
          </a:p>
        </p:txBody>
      </p:sp>
      <p:sp>
        <p:nvSpPr>
          <p:cNvPr id="27" name="Shape 25"/>
          <p:cNvSpPr/>
          <p:nvPr/>
        </p:nvSpPr>
        <p:spPr>
          <a:xfrm>
            <a:off x="5801868" y="4800600"/>
            <a:ext cx="1229868" cy="365760"/>
          </a:xfrm>
          <a:prstGeom prst="rect">
            <a:avLst>
              <a:gd name="adj" fmla="val 50000"/>
            </a:avLst>
          </a:prstGeom>
          <a:solidFill>
            <a:srgbClr val="FFFFFF"/>
          </a:solidFill>
          <a:ln w="12700">
            <a:solidFill>
              <a:srgbClr val="DBE4ED"/>
            </a:solidFill>
            <a:prstDash val="solid"/>
          </a:ln>
        </p:spPr>
      </p:sp>
      <p:sp>
        <p:nvSpPr>
          <p:cNvPr id="28" name="Text 26"/>
          <p:cNvSpPr/>
          <p:nvPr/>
        </p:nvSpPr>
        <p:spPr>
          <a:xfrm>
            <a:off x="5801868" y="4800600"/>
            <a:ext cx="1229868"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ACA / COBRA</a:t>
            </a:r>
            <a:endParaRPr lang="en-US" sz="1050" dirty="0"/>
          </a:p>
        </p:txBody>
      </p:sp>
      <p:sp>
        <p:nvSpPr>
          <p:cNvPr id="29" name="Shape 27"/>
          <p:cNvSpPr/>
          <p:nvPr/>
        </p:nvSpPr>
        <p:spPr>
          <a:xfrm>
            <a:off x="7168896" y="4800600"/>
            <a:ext cx="2272284" cy="365760"/>
          </a:xfrm>
          <a:prstGeom prst="rect">
            <a:avLst>
              <a:gd name="adj" fmla="val 50000"/>
            </a:avLst>
          </a:prstGeom>
          <a:solidFill>
            <a:srgbClr val="FFFFFF"/>
          </a:solidFill>
          <a:ln w="12700">
            <a:solidFill>
              <a:srgbClr val="DBE4ED"/>
            </a:solidFill>
            <a:prstDash val="solid"/>
          </a:ln>
        </p:spPr>
      </p:sp>
      <p:sp>
        <p:nvSpPr>
          <p:cNvPr id="30" name="Text 28"/>
          <p:cNvSpPr/>
          <p:nvPr/>
        </p:nvSpPr>
        <p:spPr>
          <a:xfrm>
            <a:off x="7168896" y="4800600"/>
            <a:ext cx="2272284"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HR support &amp; compliance</a:t>
            </a:r>
            <a:endParaRPr lang="en-US" sz="1050" dirty="0"/>
          </a:p>
        </p:txBody>
      </p:sp>
      <p:sp>
        <p:nvSpPr>
          <p:cNvPr id="31" name="Shape 29"/>
          <p:cNvSpPr/>
          <p:nvPr/>
        </p:nvSpPr>
        <p:spPr>
          <a:xfrm>
            <a:off x="548640" y="5257800"/>
            <a:ext cx="2185416" cy="365760"/>
          </a:xfrm>
          <a:prstGeom prst="rect">
            <a:avLst>
              <a:gd name="adj" fmla="val 50000"/>
            </a:avLst>
          </a:prstGeom>
          <a:solidFill>
            <a:srgbClr val="FFFFFF"/>
          </a:solidFill>
          <a:ln w="12700">
            <a:solidFill>
              <a:srgbClr val="DBE4ED"/>
            </a:solidFill>
            <a:prstDash val="solid"/>
          </a:ln>
        </p:spPr>
      </p:sp>
      <p:sp>
        <p:nvSpPr>
          <p:cNvPr id="32" name="Text 30"/>
          <p:cNvSpPr/>
          <p:nvPr/>
        </p:nvSpPr>
        <p:spPr>
          <a:xfrm>
            <a:off x="548640" y="5257800"/>
            <a:ext cx="2185416"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Employment law updates</a:t>
            </a:r>
            <a:endParaRPr lang="en-US" sz="1050" dirty="0"/>
          </a:p>
        </p:txBody>
      </p:sp>
      <p:sp>
        <p:nvSpPr>
          <p:cNvPr id="33" name="Shape 31"/>
          <p:cNvSpPr/>
          <p:nvPr/>
        </p:nvSpPr>
        <p:spPr>
          <a:xfrm>
            <a:off x="2871216" y="5257800"/>
            <a:ext cx="1664208" cy="365760"/>
          </a:xfrm>
          <a:prstGeom prst="rect">
            <a:avLst>
              <a:gd name="adj" fmla="val 50000"/>
            </a:avLst>
          </a:prstGeom>
          <a:solidFill>
            <a:srgbClr val="FFFFFF"/>
          </a:solidFill>
          <a:ln w="12700">
            <a:solidFill>
              <a:srgbClr val="DBE4ED"/>
            </a:solidFill>
            <a:prstDash val="solid"/>
          </a:ln>
        </p:spPr>
      </p:sp>
      <p:sp>
        <p:nvSpPr>
          <p:cNvPr id="34" name="Text 32"/>
          <p:cNvSpPr/>
          <p:nvPr/>
        </p:nvSpPr>
        <p:spPr>
          <a:xfrm>
            <a:off x="2871216" y="5257800"/>
            <a:ext cx="1664208"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Safety resources</a:t>
            </a:r>
            <a:endParaRPr lang="en-US" sz="1050" dirty="0"/>
          </a:p>
        </p:txBody>
      </p:sp>
      <p:sp>
        <p:nvSpPr>
          <p:cNvPr id="35" name="Shape 33"/>
          <p:cNvSpPr/>
          <p:nvPr/>
        </p:nvSpPr>
        <p:spPr>
          <a:xfrm>
            <a:off x="4672584" y="5257800"/>
            <a:ext cx="1924812" cy="365760"/>
          </a:xfrm>
          <a:prstGeom prst="rect">
            <a:avLst>
              <a:gd name="adj" fmla="val 50000"/>
            </a:avLst>
          </a:prstGeom>
          <a:solidFill>
            <a:srgbClr val="FFFFFF"/>
          </a:solidFill>
          <a:ln w="12700">
            <a:solidFill>
              <a:srgbClr val="DBE4ED"/>
            </a:solidFill>
            <a:prstDash val="solid"/>
          </a:ln>
        </p:spPr>
      </p:sp>
      <p:sp>
        <p:nvSpPr>
          <p:cNvPr id="36" name="Text 34"/>
          <p:cNvSpPr/>
          <p:nvPr/>
        </p:nvSpPr>
        <p:spPr>
          <a:xfrm>
            <a:off x="4672584" y="5257800"/>
            <a:ext cx="1924812"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HR template library</a:t>
            </a:r>
            <a:endParaRPr lang="en-US" sz="1050" dirty="0"/>
          </a:p>
        </p:txBody>
      </p:sp>
      <p:sp>
        <p:nvSpPr>
          <p:cNvPr id="37" name="Shape 35"/>
          <p:cNvSpPr/>
          <p:nvPr/>
        </p:nvSpPr>
        <p:spPr>
          <a:xfrm>
            <a:off x="6734556" y="5257800"/>
            <a:ext cx="1837944" cy="365760"/>
          </a:xfrm>
          <a:prstGeom prst="rect">
            <a:avLst>
              <a:gd name="adj" fmla="val 50000"/>
            </a:avLst>
          </a:prstGeom>
          <a:solidFill>
            <a:srgbClr val="FFFFFF"/>
          </a:solidFill>
          <a:ln w="12700">
            <a:solidFill>
              <a:srgbClr val="DBE4ED"/>
            </a:solidFill>
            <a:prstDash val="solid"/>
          </a:ln>
        </p:spPr>
      </p:sp>
      <p:sp>
        <p:nvSpPr>
          <p:cNvPr id="38" name="Text 36"/>
          <p:cNvSpPr/>
          <p:nvPr/>
        </p:nvSpPr>
        <p:spPr>
          <a:xfrm>
            <a:off x="6734556" y="5257800"/>
            <a:ext cx="1837944"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Multi-state filing</a:t>
            </a:r>
            <a:endParaRPr lang="en-US" sz="1050" dirty="0"/>
          </a:p>
        </p:txBody>
      </p:sp>
      <p:sp>
        <p:nvSpPr>
          <p:cNvPr id="39" name="Shape 37"/>
          <p:cNvSpPr/>
          <p:nvPr/>
        </p:nvSpPr>
        <p:spPr>
          <a:xfrm>
            <a:off x="8709660" y="5257800"/>
            <a:ext cx="2098548" cy="365760"/>
          </a:xfrm>
          <a:prstGeom prst="rect">
            <a:avLst>
              <a:gd name="adj" fmla="val 50000"/>
            </a:avLst>
          </a:prstGeom>
          <a:solidFill>
            <a:srgbClr val="FFFFFF"/>
          </a:solidFill>
          <a:ln w="12700">
            <a:solidFill>
              <a:srgbClr val="DBE4ED"/>
            </a:solidFill>
            <a:prstDash val="solid"/>
          </a:ln>
        </p:spPr>
      </p:sp>
      <p:sp>
        <p:nvSpPr>
          <p:cNvPr id="40" name="Text 38"/>
          <p:cNvSpPr/>
          <p:nvPr/>
        </p:nvSpPr>
        <p:spPr>
          <a:xfrm>
            <a:off x="8709660" y="5257800"/>
            <a:ext cx="2098548" cy="365760"/>
          </a:xfrm>
          <a:prstGeom prst="rect">
            <a:avLst/>
          </a:prstGeom>
          <a:noFill/>
          <a:ln/>
        </p:spPr>
        <p:txBody>
          <a:bodyPr wrap="square" rtlCol="0" anchor="ctr"/>
          <a:lstStyle/>
          <a:p>
            <a:pPr algn="ctr" indent="0" marL="0">
              <a:buNone/>
            </a:pPr>
            <a:r>
              <a:rPr lang="en-US" sz="1050" dirty="0">
                <a:solidFill>
                  <a:srgbClr val="23304D"/>
                </a:solidFill>
                <a:latin typeface="DM Sans" pitchFamily="34" charset="0"/>
                <a:ea typeface="DM Sans" pitchFamily="34" charset="-122"/>
                <a:cs typeface="DM Sans" pitchFamily="34" charset="-120"/>
              </a:rPr>
              <a:t>Reporting &amp; analytics</a:t>
            </a:r>
            <a:endParaRPr lang="en-US" sz="1050" dirty="0"/>
          </a:p>
        </p:txBody>
      </p:sp>
      <p:sp>
        <p:nvSpPr>
          <p:cNvPr id="41" name="Text 39"/>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42" name="Text 40"/>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304D"/>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FFFFFF"/>
                </a:solidFill>
                <a:latin typeface="Horas" pitchFamily="34" charset="0"/>
                <a:ea typeface="Horas" pitchFamily="34" charset="-122"/>
                <a:cs typeface="Horas" pitchFamily="34" charset="-120"/>
              </a:rPr>
              <a:t>What you pay now against Atlas One</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C9D2EA"/>
                </a:solidFill>
                <a:latin typeface="DM Sans" pitchFamily="34" charset="0"/>
                <a:ea typeface="DM Sans" pitchFamily="34" charset="-122"/>
                <a:cs typeface="DM Sans" pitchFamily="34" charset="-120"/>
              </a:rPr>
              <a:t>The difference is the added investment for what is new.</a:t>
            </a:r>
            <a:endParaRPr lang="en-US" sz="1300" dirty="0"/>
          </a:p>
        </p:txBody>
      </p:sp>
      <p:sp>
        <p:nvSpPr>
          <p:cNvPr id="4" name="Shape 2"/>
          <p:cNvSpPr/>
          <p:nvPr/>
        </p:nvSpPr>
        <p:spPr>
          <a:xfrm>
            <a:off x="548640" y="1691640"/>
            <a:ext cx="5394960" cy="2011680"/>
          </a:xfrm>
          <a:prstGeom prst="rect">
            <a:avLst>
              <a:gd name="adj" fmla="val 3636"/>
            </a:avLst>
          </a:prstGeom>
          <a:solidFill>
            <a:srgbClr val="2C3C60"/>
          </a:solidFill>
          <a:ln/>
        </p:spPr>
      </p:sp>
      <p:sp>
        <p:nvSpPr>
          <p:cNvPr id="5" name="Text 3"/>
          <p:cNvSpPr/>
          <p:nvPr/>
        </p:nvSpPr>
        <p:spPr>
          <a:xfrm>
            <a:off x="777240" y="1874520"/>
            <a:ext cx="493776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YOUR CURRENT SPEND</a:t>
            </a:r>
            <a:endParaRPr lang="en-US" sz="1050" dirty="0"/>
          </a:p>
        </p:txBody>
      </p:sp>
      <p:sp>
        <p:nvSpPr>
          <p:cNvPr id="6" name="Text 4"/>
          <p:cNvSpPr/>
          <p:nvPr/>
        </p:nvSpPr>
        <p:spPr>
          <a:xfrm>
            <a:off x="777240" y="2194560"/>
            <a:ext cx="4937760" cy="777240"/>
          </a:xfrm>
          <a:prstGeom prst="rect">
            <a:avLst/>
          </a:prstGeom>
          <a:noFill/>
          <a:ln/>
        </p:spPr>
        <p:txBody>
          <a:bodyPr wrap="square" rtlCol="0" anchor="ctr"/>
          <a:lstStyle/>
          <a:p>
            <a:pPr indent="0" marL="0">
              <a:buNone/>
            </a:pPr>
            <a:r>
              <a:rPr lang="en-US" sz="3000" dirty="0">
                <a:solidFill>
                  <a:srgbClr val="FFFFFF"/>
                </a:solidFill>
                <a:latin typeface="Horas" pitchFamily="34" charset="0"/>
                <a:ea typeface="Horas" pitchFamily="34" charset="-122"/>
                <a:cs typeface="Horas" pitchFamily="34" charset="-120"/>
              </a:rPr>
              <a:t>$9,800 per month</a:t>
            </a:r>
            <a:endParaRPr lang="en-US" sz="3000" dirty="0"/>
          </a:p>
        </p:txBody>
      </p:sp>
      <p:sp>
        <p:nvSpPr>
          <p:cNvPr id="7" name="Text 5"/>
          <p:cNvSpPr/>
          <p:nvPr/>
        </p:nvSpPr>
        <p:spPr>
          <a:xfrm>
            <a:off x="777240" y="2971800"/>
            <a:ext cx="4937760" cy="365760"/>
          </a:xfrm>
          <a:prstGeom prst="rect">
            <a:avLst/>
          </a:prstGeom>
          <a:noFill/>
          <a:ln/>
        </p:spPr>
        <p:txBody>
          <a:bodyPr wrap="square" rtlCol="0" anchor="ctr"/>
          <a:lstStyle/>
          <a:p>
            <a:pPr indent="0" marL="0">
              <a:buNone/>
            </a:pPr>
            <a:r>
              <a:rPr lang="en-US" sz="1150" dirty="0">
                <a:solidFill>
                  <a:srgbClr val="C9D2EA"/>
                </a:solidFill>
                <a:latin typeface="DM Sans" pitchFamily="34" charset="0"/>
                <a:ea typeface="DM Sans" pitchFamily="34" charset="-122"/>
                <a:cs typeface="DM Sans" pitchFamily="34" charset="-120"/>
              </a:rPr>
              <a:t>$117,600 per year</a:t>
            </a:r>
            <a:endParaRPr lang="en-US" sz="1150" dirty="0"/>
          </a:p>
        </p:txBody>
      </p:sp>
      <p:sp>
        <p:nvSpPr>
          <p:cNvPr id="8" name="Shape 6"/>
          <p:cNvSpPr/>
          <p:nvPr/>
        </p:nvSpPr>
        <p:spPr>
          <a:xfrm>
            <a:off x="6217920" y="1691640"/>
            <a:ext cx="5394960" cy="2011680"/>
          </a:xfrm>
          <a:prstGeom prst="rect">
            <a:avLst>
              <a:gd name="adj" fmla="val 3636"/>
            </a:avLst>
          </a:prstGeom>
          <a:solidFill>
            <a:srgbClr val="788DE3"/>
          </a:solidFill>
          <a:ln/>
        </p:spPr>
      </p:sp>
      <p:sp>
        <p:nvSpPr>
          <p:cNvPr id="9" name="Text 7"/>
          <p:cNvSpPr/>
          <p:nvPr/>
        </p:nvSpPr>
        <p:spPr>
          <a:xfrm>
            <a:off x="6446520" y="1874520"/>
            <a:ext cx="4937760" cy="320040"/>
          </a:xfrm>
          <a:prstGeom prst="rect">
            <a:avLst/>
          </a:prstGeom>
          <a:noFill/>
          <a:ln/>
        </p:spPr>
        <p:txBody>
          <a:bodyPr wrap="square" rtlCol="0" anchor="ctr"/>
          <a:lstStyle/>
          <a:p>
            <a:pPr indent="0" marL="0">
              <a:buNone/>
            </a:pPr>
            <a:r>
              <a:rPr lang="en-US" sz="1050" b="1" spc="100" kern="0" dirty="0">
                <a:solidFill>
                  <a:srgbClr val="23304D"/>
                </a:solidFill>
                <a:latin typeface="DM Sans" pitchFamily="34" charset="0"/>
                <a:ea typeface="DM Sans" pitchFamily="34" charset="-122"/>
                <a:cs typeface="DM Sans" pitchFamily="34" charset="-120"/>
              </a:rPr>
              <a:t>WITH ATLAS ONE, ALL IN</a:t>
            </a:r>
            <a:endParaRPr lang="en-US" sz="1050" dirty="0"/>
          </a:p>
        </p:txBody>
      </p:sp>
      <p:sp>
        <p:nvSpPr>
          <p:cNvPr id="10" name="Text 8"/>
          <p:cNvSpPr/>
          <p:nvPr/>
        </p:nvSpPr>
        <p:spPr>
          <a:xfrm>
            <a:off x="6446520" y="2194560"/>
            <a:ext cx="4937760" cy="777240"/>
          </a:xfrm>
          <a:prstGeom prst="rect">
            <a:avLst/>
          </a:prstGeom>
          <a:noFill/>
          <a:ln/>
        </p:spPr>
        <p:txBody>
          <a:bodyPr wrap="square" rtlCol="0" anchor="ctr"/>
          <a:lstStyle/>
          <a:p>
            <a:pPr indent="0" marL="0">
              <a:buNone/>
            </a:pPr>
            <a:r>
              <a:rPr lang="en-US" sz="3000" dirty="0">
                <a:solidFill>
                  <a:srgbClr val="23304D"/>
                </a:solidFill>
                <a:latin typeface="Horas" pitchFamily="34" charset="0"/>
                <a:ea typeface="Horas" pitchFamily="34" charset="-122"/>
                <a:cs typeface="Horas" pitchFamily="34" charset="-120"/>
              </a:rPr>
              <a:t>$15,110 per month</a:t>
            </a:r>
            <a:endParaRPr lang="en-US" sz="3000" dirty="0"/>
          </a:p>
        </p:txBody>
      </p:sp>
      <p:sp>
        <p:nvSpPr>
          <p:cNvPr id="11" name="Text 9"/>
          <p:cNvSpPr/>
          <p:nvPr/>
        </p:nvSpPr>
        <p:spPr>
          <a:xfrm>
            <a:off x="6446520" y="2971800"/>
            <a:ext cx="4937760" cy="365760"/>
          </a:xfrm>
          <a:prstGeom prst="rect">
            <a:avLst/>
          </a:prstGeom>
          <a:noFill/>
          <a:ln/>
        </p:spPr>
        <p:txBody>
          <a:bodyPr wrap="square" rtlCol="0" anchor="ctr"/>
          <a:lstStyle/>
          <a:p>
            <a:pPr indent="0" marL="0">
              <a:buNone/>
            </a:pPr>
            <a:r>
              <a:rPr lang="en-US" sz="1150" dirty="0">
                <a:solidFill>
                  <a:srgbClr val="23304D"/>
                </a:solidFill>
                <a:latin typeface="DM Sans" pitchFamily="34" charset="0"/>
                <a:ea typeface="DM Sans" pitchFamily="34" charset="-122"/>
                <a:cs typeface="DM Sans" pitchFamily="34" charset="-120"/>
              </a:rPr>
              <a:t>$181,317 per year</a:t>
            </a:r>
            <a:endParaRPr lang="en-US" sz="1150" dirty="0"/>
          </a:p>
        </p:txBody>
      </p:sp>
      <p:sp>
        <p:nvSpPr>
          <p:cNvPr id="12" name="Shape 10"/>
          <p:cNvSpPr/>
          <p:nvPr/>
        </p:nvSpPr>
        <p:spPr>
          <a:xfrm>
            <a:off x="548640" y="4023360"/>
            <a:ext cx="11064240" cy="822960"/>
          </a:xfrm>
          <a:prstGeom prst="rect">
            <a:avLst>
              <a:gd name="adj" fmla="val 8889"/>
            </a:avLst>
          </a:prstGeom>
          <a:solidFill>
            <a:srgbClr val="2C3C60"/>
          </a:solidFill>
          <a:ln w="12700">
            <a:solidFill>
              <a:srgbClr val="3A4A70"/>
            </a:solidFill>
            <a:prstDash val="solid"/>
          </a:ln>
        </p:spPr>
      </p:sp>
      <p:sp>
        <p:nvSpPr>
          <p:cNvPr id="13" name="Text 11"/>
          <p:cNvSpPr/>
          <p:nvPr/>
        </p:nvSpPr>
        <p:spPr>
          <a:xfrm>
            <a:off x="548640" y="4023360"/>
            <a:ext cx="11064240" cy="822960"/>
          </a:xfrm>
          <a:prstGeom prst="rect">
            <a:avLst/>
          </a:prstGeom>
          <a:noFill/>
          <a:ln/>
        </p:spPr>
        <p:txBody>
          <a:bodyPr wrap="square" rtlCol="0" anchor="ctr"/>
          <a:lstStyle/>
          <a:p>
            <a:pPr algn="ctr" indent="0" marL="0">
              <a:buNone/>
            </a:pPr>
            <a:r>
              <a:rPr lang="en-US" sz="2200" dirty="0">
                <a:solidFill>
                  <a:srgbClr val="FFFFFF"/>
                </a:solidFill>
                <a:latin typeface="Horas" pitchFamily="34" charset="0"/>
                <a:ea typeface="Horas" pitchFamily="34" charset="-122"/>
                <a:cs typeface="Horas" pitchFamily="34" charset="-120"/>
              </a:rPr>
              <a:t>Added investment: $63,717 per year</a:t>
            </a:r>
            <a:endParaRPr lang="en-US" sz="2200" dirty="0"/>
          </a:p>
        </p:txBody>
      </p:sp>
      <p:sp>
        <p:nvSpPr>
          <p:cNvPr id="14" name="Text 12"/>
          <p:cNvSpPr/>
          <p:nvPr/>
        </p:nvSpPr>
        <p:spPr>
          <a:xfrm>
            <a:off x="566928" y="5074920"/>
            <a:ext cx="10972800" cy="731520"/>
          </a:xfrm>
          <a:prstGeom prst="rect">
            <a:avLst/>
          </a:prstGeom>
          <a:noFill/>
          <a:ln/>
        </p:spPr>
        <p:txBody>
          <a:bodyPr wrap="square" rtlCol="0" anchor="t"/>
          <a:lstStyle/>
          <a:p>
            <a:pPr indent="0" marL="0">
              <a:buNone/>
            </a:pPr>
            <a:r>
              <a:rPr lang="en-US" sz="1300" dirty="0">
                <a:solidFill>
                  <a:srgbClr val="C9D2EA"/>
                </a:solidFill>
                <a:latin typeface="DM Sans" pitchFamily="34" charset="0"/>
                <a:ea typeface="DM Sans" pitchFamily="34" charset="-122"/>
                <a:cs typeface="DM Sans" pitchFamily="34" charset="-120"/>
              </a:rPr>
              <a:t>Workers comp with Travelers: $61,400 per year today. Atlas One quote: $52,900 per year. Estimated WC savings of $8,500 per year.</a:t>
            </a:r>
            <a:endParaRPr lang="en-US" sz="1300" dirty="0"/>
          </a:p>
        </p:txBody>
      </p:sp>
      <p:sp>
        <p:nvSpPr>
          <p:cNvPr id="15" name="Text 13"/>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
        <p:nvSpPr>
          <p:cNvPr id="16" name="Text 14"/>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9FB0D8"/>
                </a:solidFill>
                <a:latin typeface="DM Sans" pitchFamily="34" charset="0"/>
                <a:ea typeface="DM Sans" pitchFamily="34" charset="-122"/>
                <a:cs typeface="DM Sans"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The time we hand back</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Hours you stop spending on the back office, priced at your own hourly value, plus software you no longer pay for.</a:t>
            </a:r>
            <a:endParaRPr lang="en-US" sz="1300" dirty="0"/>
          </a:p>
        </p:txBody>
      </p:sp>
      <p:sp>
        <p:nvSpPr>
          <p:cNvPr id="4" name="Shape 2"/>
          <p:cNvSpPr/>
          <p:nvPr/>
        </p:nvSpPr>
        <p:spPr>
          <a:xfrm>
            <a:off x="548640" y="1691640"/>
            <a:ext cx="3520440" cy="1920240"/>
          </a:xfrm>
          <a:prstGeom prst="rect">
            <a:avLst>
              <a:gd name="adj" fmla="val 3810"/>
            </a:avLst>
          </a:prstGeom>
          <a:solidFill>
            <a:srgbClr val="23304D"/>
          </a:solidFill>
          <a:ln/>
        </p:spPr>
      </p:sp>
      <p:sp>
        <p:nvSpPr>
          <p:cNvPr id="5" name="Text 3"/>
          <p:cNvSpPr/>
          <p:nvPr/>
        </p:nvSpPr>
        <p:spPr>
          <a:xfrm>
            <a:off x="777240" y="1874520"/>
            <a:ext cx="306324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HOURS BACK EACH MONTH</a:t>
            </a:r>
            <a:endParaRPr lang="en-US" sz="1050" dirty="0"/>
          </a:p>
        </p:txBody>
      </p:sp>
      <p:sp>
        <p:nvSpPr>
          <p:cNvPr id="6" name="Text 4"/>
          <p:cNvSpPr/>
          <p:nvPr/>
        </p:nvSpPr>
        <p:spPr>
          <a:xfrm>
            <a:off x="777240" y="2194560"/>
            <a:ext cx="3063240" cy="777240"/>
          </a:xfrm>
          <a:prstGeom prst="rect">
            <a:avLst/>
          </a:prstGeom>
          <a:noFill/>
          <a:ln/>
        </p:spPr>
        <p:txBody>
          <a:bodyPr wrap="square" rtlCol="0" anchor="ctr"/>
          <a:lstStyle/>
          <a:p>
            <a:pPr indent="0" marL="0">
              <a:buNone/>
            </a:pPr>
            <a:r>
              <a:rPr lang="en-US" sz="3000" dirty="0">
                <a:solidFill>
                  <a:srgbClr val="FFFFFF"/>
                </a:solidFill>
                <a:latin typeface="Horas" pitchFamily="34" charset="0"/>
                <a:ea typeface="Horas" pitchFamily="34" charset="-122"/>
                <a:cs typeface="Horas" pitchFamily="34" charset="-120"/>
              </a:rPr>
              <a:t>22 hrs</a:t>
            </a:r>
            <a:endParaRPr lang="en-US" sz="3000" dirty="0"/>
          </a:p>
        </p:txBody>
      </p:sp>
      <p:sp>
        <p:nvSpPr>
          <p:cNvPr id="7" name="Text 5"/>
          <p:cNvSpPr/>
          <p:nvPr/>
        </p:nvSpPr>
        <p:spPr>
          <a:xfrm>
            <a:off x="777240" y="2971800"/>
            <a:ext cx="3063240" cy="365760"/>
          </a:xfrm>
          <a:prstGeom prst="rect">
            <a:avLst/>
          </a:prstGeom>
          <a:noFill/>
          <a:ln/>
        </p:spPr>
        <p:txBody>
          <a:bodyPr wrap="square" rtlCol="0" anchor="ctr"/>
          <a:lstStyle/>
          <a:p>
            <a:pPr indent="0" marL="0">
              <a:buNone/>
            </a:pPr>
            <a:r>
              <a:rPr lang="en-US" sz="1150" dirty="0">
                <a:solidFill>
                  <a:srgbClr val="C9D2EA"/>
                </a:solidFill>
                <a:latin typeface="DM Sans" pitchFamily="34" charset="0"/>
                <a:ea typeface="DM Sans" pitchFamily="34" charset="-122"/>
                <a:cs typeface="DM Sans" pitchFamily="34" charset="-120"/>
              </a:rPr>
              <a:t>at $85 an hour</a:t>
            </a:r>
            <a:endParaRPr lang="en-US" sz="1150" dirty="0"/>
          </a:p>
        </p:txBody>
      </p:sp>
      <p:sp>
        <p:nvSpPr>
          <p:cNvPr id="8" name="Shape 6"/>
          <p:cNvSpPr/>
          <p:nvPr/>
        </p:nvSpPr>
        <p:spPr>
          <a:xfrm>
            <a:off x="4315968" y="1691640"/>
            <a:ext cx="3520440" cy="1920240"/>
          </a:xfrm>
          <a:prstGeom prst="rect">
            <a:avLst>
              <a:gd name="adj" fmla="val 3810"/>
            </a:avLst>
          </a:prstGeom>
          <a:solidFill>
            <a:srgbClr val="788DE3"/>
          </a:solidFill>
          <a:ln/>
        </p:spPr>
      </p:sp>
      <p:sp>
        <p:nvSpPr>
          <p:cNvPr id="9" name="Text 7"/>
          <p:cNvSpPr/>
          <p:nvPr/>
        </p:nvSpPr>
        <p:spPr>
          <a:xfrm>
            <a:off x="4544568" y="1874520"/>
            <a:ext cx="3063240" cy="320040"/>
          </a:xfrm>
          <a:prstGeom prst="rect">
            <a:avLst/>
          </a:prstGeom>
          <a:noFill/>
          <a:ln/>
        </p:spPr>
        <p:txBody>
          <a:bodyPr wrap="square" rtlCol="0" anchor="ctr"/>
          <a:lstStyle/>
          <a:p>
            <a:pPr indent="0" marL="0">
              <a:buNone/>
            </a:pPr>
            <a:r>
              <a:rPr lang="en-US" sz="1050" b="1" spc="100" kern="0" dirty="0">
                <a:solidFill>
                  <a:srgbClr val="23304D"/>
                </a:solidFill>
                <a:latin typeface="DM Sans" pitchFamily="34" charset="0"/>
                <a:ea typeface="DM Sans" pitchFamily="34" charset="-122"/>
                <a:cs typeface="DM Sans" pitchFamily="34" charset="-120"/>
              </a:rPr>
              <a:t>VALUE BACK EACH MONTH</a:t>
            </a:r>
            <a:endParaRPr lang="en-US" sz="1050" dirty="0"/>
          </a:p>
        </p:txBody>
      </p:sp>
      <p:sp>
        <p:nvSpPr>
          <p:cNvPr id="10" name="Text 8"/>
          <p:cNvSpPr/>
          <p:nvPr/>
        </p:nvSpPr>
        <p:spPr>
          <a:xfrm>
            <a:off x="4544568" y="2194560"/>
            <a:ext cx="3063240" cy="777240"/>
          </a:xfrm>
          <a:prstGeom prst="rect">
            <a:avLst/>
          </a:prstGeom>
          <a:noFill/>
          <a:ln/>
        </p:spPr>
        <p:txBody>
          <a:bodyPr wrap="square" rtlCol="0" anchor="ctr"/>
          <a:lstStyle/>
          <a:p>
            <a:pPr indent="0" marL="0">
              <a:buNone/>
            </a:pPr>
            <a:r>
              <a:rPr lang="en-US" sz="3000" dirty="0">
                <a:solidFill>
                  <a:srgbClr val="23304D"/>
                </a:solidFill>
                <a:latin typeface="Horas" pitchFamily="34" charset="0"/>
                <a:ea typeface="Horas" pitchFamily="34" charset="-122"/>
                <a:cs typeface="Horas" pitchFamily="34" charset="-120"/>
              </a:rPr>
              <a:t>$2,210</a:t>
            </a:r>
            <a:endParaRPr lang="en-US" sz="3000" dirty="0"/>
          </a:p>
        </p:txBody>
      </p:sp>
      <p:sp>
        <p:nvSpPr>
          <p:cNvPr id="11" name="Text 9"/>
          <p:cNvSpPr/>
          <p:nvPr/>
        </p:nvSpPr>
        <p:spPr>
          <a:xfrm>
            <a:off x="4544568" y="2971800"/>
            <a:ext cx="3063240" cy="365760"/>
          </a:xfrm>
          <a:prstGeom prst="rect">
            <a:avLst/>
          </a:prstGeom>
          <a:noFill/>
          <a:ln/>
        </p:spPr>
        <p:txBody>
          <a:bodyPr wrap="square" rtlCol="0" anchor="ctr"/>
          <a:lstStyle/>
          <a:p>
            <a:pPr indent="0" marL="0">
              <a:buNone/>
            </a:pPr>
            <a:r>
              <a:rPr lang="en-US" sz="1150" dirty="0">
                <a:solidFill>
                  <a:srgbClr val="23304D"/>
                </a:solidFill>
                <a:latin typeface="DM Sans" pitchFamily="34" charset="0"/>
                <a:ea typeface="DM Sans" pitchFamily="34" charset="-122"/>
                <a:cs typeface="DM Sans" pitchFamily="34" charset="-120"/>
              </a:rPr>
              <a:t>includes $340 of software replaced</a:t>
            </a:r>
            <a:endParaRPr lang="en-US" sz="1150" dirty="0"/>
          </a:p>
        </p:txBody>
      </p:sp>
      <p:sp>
        <p:nvSpPr>
          <p:cNvPr id="12" name="Shape 10"/>
          <p:cNvSpPr/>
          <p:nvPr/>
        </p:nvSpPr>
        <p:spPr>
          <a:xfrm>
            <a:off x="8092440" y="1691640"/>
            <a:ext cx="3520440" cy="1920240"/>
          </a:xfrm>
          <a:prstGeom prst="rect">
            <a:avLst>
              <a:gd name="adj" fmla="val 3810"/>
            </a:avLst>
          </a:prstGeom>
          <a:solidFill>
            <a:srgbClr val="DBE4ED"/>
          </a:solidFill>
          <a:ln/>
        </p:spPr>
      </p:sp>
      <p:sp>
        <p:nvSpPr>
          <p:cNvPr id="13" name="Text 11"/>
          <p:cNvSpPr/>
          <p:nvPr/>
        </p:nvSpPr>
        <p:spPr>
          <a:xfrm>
            <a:off x="8321040" y="1874520"/>
            <a:ext cx="3063240" cy="320040"/>
          </a:xfrm>
          <a:prstGeom prst="rect">
            <a:avLst/>
          </a:prstGeom>
          <a:noFill/>
          <a:ln/>
        </p:spPr>
        <p:txBody>
          <a:bodyPr wrap="square" rtlCol="0" anchor="ctr"/>
          <a:lstStyle/>
          <a:p>
            <a:pPr indent="0" marL="0">
              <a:buNone/>
            </a:pPr>
            <a:r>
              <a:rPr lang="en-US" sz="1050" b="1" spc="100" kern="0" dirty="0">
                <a:solidFill>
                  <a:srgbClr val="5B6577"/>
                </a:solidFill>
                <a:latin typeface="DM Sans" pitchFamily="34" charset="0"/>
                <a:ea typeface="DM Sans" pitchFamily="34" charset="-122"/>
                <a:cs typeface="DM Sans" pitchFamily="34" charset="-120"/>
              </a:rPr>
              <a:t>EACH YEAR</a:t>
            </a:r>
            <a:endParaRPr lang="en-US" sz="1050" dirty="0"/>
          </a:p>
        </p:txBody>
      </p:sp>
      <p:sp>
        <p:nvSpPr>
          <p:cNvPr id="14" name="Text 12"/>
          <p:cNvSpPr/>
          <p:nvPr/>
        </p:nvSpPr>
        <p:spPr>
          <a:xfrm>
            <a:off x="8321040" y="2194560"/>
            <a:ext cx="3063240" cy="777240"/>
          </a:xfrm>
          <a:prstGeom prst="rect">
            <a:avLst/>
          </a:prstGeom>
          <a:noFill/>
          <a:ln/>
        </p:spPr>
        <p:txBody>
          <a:bodyPr wrap="square" rtlCol="0" anchor="ctr"/>
          <a:lstStyle/>
          <a:p>
            <a:pPr indent="0" marL="0">
              <a:buNone/>
            </a:pPr>
            <a:r>
              <a:rPr lang="en-US" sz="3000" dirty="0">
                <a:solidFill>
                  <a:srgbClr val="23304D"/>
                </a:solidFill>
                <a:latin typeface="Horas" pitchFamily="34" charset="0"/>
                <a:ea typeface="Horas" pitchFamily="34" charset="-122"/>
                <a:cs typeface="Horas" pitchFamily="34" charset="-120"/>
              </a:rPr>
              <a:t>$26,520</a:t>
            </a:r>
            <a:endParaRPr lang="en-US" sz="3000" dirty="0"/>
          </a:p>
        </p:txBody>
      </p:sp>
      <p:sp>
        <p:nvSpPr>
          <p:cNvPr id="15" name="Text 13"/>
          <p:cNvSpPr/>
          <p:nvPr/>
        </p:nvSpPr>
        <p:spPr>
          <a:xfrm>
            <a:off x="8321040" y="2971800"/>
            <a:ext cx="3063240" cy="365760"/>
          </a:xfrm>
          <a:prstGeom prst="rect">
            <a:avLst/>
          </a:prstGeom>
          <a:noFill/>
          <a:ln/>
        </p:spPr>
        <p:txBody>
          <a:bodyPr wrap="square" rtlCol="0" anchor="ctr"/>
          <a:lstStyle/>
          <a:p>
            <a:pPr indent="0" marL="0">
              <a:buNone/>
            </a:pPr>
            <a:r>
              <a:rPr lang="en-US" sz="1150" dirty="0">
                <a:solidFill>
                  <a:srgbClr val="5B6577"/>
                </a:solidFill>
                <a:latin typeface="DM Sans" pitchFamily="34" charset="0"/>
                <a:ea typeface="DM Sans" pitchFamily="34" charset="-122"/>
                <a:cs typeface="DM Sans" pitchFamily="34" charset="-120"/>
              </a:rPr>
              <a:t>reinvested in the business</a:t>
            </a:r>
            <a:endParaRPr lang="en-US" sz="1150" dirty="0"/>
          </a:p>
        </p:txBody>
      </p:sp>
      <p:sp>
        <p:nvSpPr>
          <p:cNvPr id="16" name="Text 14"/>
          <p:cNvSpPr/>
          <p:nvPr/>
        </p:nvSpPr>
        <p:spPr>
          <a:xfrm>
            <a:off x="566928" y="3931920"/>
            <a:ext cx="10972800" cy="1463040"/>
          </a:xfrm>
          <a:prstGeom prst="rect">
            <a:avLst/>
          </a:prstGeom>
          <a:noFill/>
          <a:ln/>
        </p:spPr>
        <p:txBody>
          <a:bodyPr wrap="square" rtlCol="0" anchor="t"/>
          <a:lstStyle/>
          <a:p>
            <a:pPr indent="0" marL="0">
              <a:buNone/>
            </a:pPr>
            <a:r>
              <a:rPr lang="en-US" sz="1350" dirty="0">
                <a:solidFill>
                  <a:srgbClr val="5B6577"/>
                </a:solidFill>
                <a:latin typeface="DM Sans" pitchFamily="34" charset="0"/>
                <a:ea typeface="DM Sans" pitchFamily="34" charset="-122"/>
                <a:cs typeface="DM Sans" pitchFamily="34" charset="-120"/>
              </a:rPr>
              <a:t>No more chasing timecards across two states, one invoice instead of nine, certified payroll filed for you, WC audit handled.</a:t>
            </a:r>
            <a:endParaRPr lang="en-US" sz="1350" dirty="0"/>
          </a:p>
        </p:txBody>
      </p:sp>
      <p:sp>
        <p:nvSpPr>
          <p:cNvPr id="17" name="Text 1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18" name="Text 16"/>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304D"/>
        </a:solidFill>
      </p:bgPr>
    </p:bg>
    <p:spTree>
      <p:nvGrpSpPr>
        <p:cNvPr id="1" name=""/>
        <p:cNvGrpSpPr/>
        <p:nvPr/>
      </p:nvGrpSpPr>
      <p:grpSpPr>
        <a:xfrm>
          <a:off x="0" y="0"/>
          <a:ext cx="0" cy="0"/>
          <a:chOff x="0" y="0"/>
          <a:chExt cx="0" cy="0"/>
        </a:xfrm>
      </p:grpSpPr>
      <p:sp>
        <p:nvSpPr>
          <p:cNvPr id="2" name="Text 0"/>
          <p:cNvSpPr/>
          <p:nvPr/>
        </p:nvSpPr>
        <p:spPr>
          <a:xfrm>
            <a:off x="548640" y="640080"/>
            <a:ext cx="10972800" cy="365760"/>
          </a:xfrm>
          <a:prstGeom prst="rect">
            <a:avLst/>
          </a:prstGeom>
          <a:noFill/>
          <a:ln/>
        </p:spPr>
        <p:txBody>
          <a:bodyPr wrap="square" rtlCol="0" anchor="ctr"/>
          <a:lstStyle/>
          <a:p>
            <a:pPr indent="0" marL="0">
              <a:buNone/>
            </a:pPr>
            <a:r>
              <a:rPr lang="en-US" sz="1300" b="1" spc="200" kern="0" dirty="0">
                <a:solidFill>
                  <a:srgbClr val="788DE3"/>
                </a:solidFill>
                <a:latin typeface="DM Sans" pitchFamily="34" charset="0"/>
                <a:ea typeface="DM Sans" pitchFamily="34" charset="-122"/>
                <a:cs typeface="DM Sans" pitchFamily="34" charset="-120"/>
              </a:rPr>
              <a:t>THE AUDIT GUARANTEE</a:t>
            </a:r>
            <a:endParaRPr lang="en-US" sz="1300" dirty="0"/>
          </a:p>
        </p:txBody>
      </p:sp>
      <p:sp>
        <p:nvSpPr>
          <p:cNvPr id="3" name="Text 1"/>
          <p:cNvSpPr/>
          <p:nvPr/>
        </p:nvSpPr>
        <p:spPr>
          <a:xfrm>
            <a:off x="548640" y="1280160"/>
            <a:ext cx="11064240" cy="1737360"/>
          </a:xfrm>
          <a:prstGeom prst="rect">
            <a:avLst/>
          </a:prstGeom>
          <a:noFill/>
          <a:ln/>
        </p:spPr>
        <p:txBody>
          <a:bodyPr wrap="square" rtlCol="0" anchor="t"/>
          <a:lstStyle/>
          <a:p>
            <a:pPr indent="0" marL="0">
              <a:buNone/>
            </a:pPr>
            <a:r>
              <a:rPr lang="en-US" sz="3200" dirty="0">
                <a:solidFill>
                  <a:srgbClr val="FFFFFF"/>
                </a:solidFill>
                <a:latin typeface="Horas" pitchFamily="34" charset="0"/>
                <a:ea typeface="Horas" pitchFamily="34" charset="-122"/>
                <a:cs typeface="Horas" pitchFamily="34" charset="-120"/>
              </a:rPr>
              <a:t>Two times your first year membership in documented savings or risk removed, or there is nothing to buy.</a:t>
            </a:r>
            <a:endParaRPr lang="en-US" sz="3200" dirty="0"/>
          </a:p>
        </p:txBody>
      </p:sp>
      <p:sp>
        <p:nvSpPr>
          <p:cNvPr id="4" name="Text 2"/>
          <p:cNvSpPr/>
          <p:nvPr/>
        </p:nvSpPr>
        <p:spPr>
          <a:xfrm>
            <a:off x="566928" y="3291840"/>
            <a:ext cx="10607040" cy="1280160"/>
          </a:xfrm>
          <a:prstGeom prst="rect">
            <a:avLst/>
          </a:prstGeom>
          <a:noFill/>
          <a:ln/>
        </p:spPr>
        <p:txBody>
          <a:bodyPr wrap="square" rtlCol="0" anchor="t"/>
          <a:lstStyle/>
          <a:p>
            <a:pPr indent="0" marL="0">
              <a:buNone/>
            </a:pPr>
            <a:r>
              <a:rPr lang="en-US" sz="1500" dirty="0">
                <a:solidFill>
                  <a:srgbClr val="C9D2EA"/>
                </a:solidFill>
                <a:latin typeface="DM Sans" pitchFamily="34" charset="0"/>
                <a:ea typeface="DM Sans" pitchFamily="34" charset="-122"/>
                <a:cs typeface="DM Sans" pitchFamily="34" charset="-120"/>
              </a:rPr>
              <a:t>The audit comes first. Every vendor, policy, plan and subscription, written up with numbers, before you decide anything. If the findings do not cover the membership twice over, we say so and you walk away with the report.</a:t>
            </a:r>
            <a:endParaRPr lang="en-US" sz="1500" dirty="0"/>
          </a:p>
        </p:txBody>
      </p:sp>
      <p:sp>
        <p:nvSpPr>
          <p:cNvPr id="5" name="Shape 3"/>
          <p:cNvSpPr/>
          <p:nvPr/>
        </p:nvSpPr>
        <p:spPr>
          <a:xfrm>
            <a:off x="548640" y="4709160"/>
            <a:ext cx="3566160" cy="1417320"/>
          </a:xfrm>
          <a:prstGeom prst="rect">
            <a:avLst>
              <a:gd name="adj" fmla="val 5161"/>
            </a:avLst>
          </a:prstGeom>
          <a:solidFill>
            <a:srgbClr val="2C3C60"/>
          </a:solidFill>
          <a:ln w="12700">
            <a:solidFill>
              <a:srgbClr val="3A4A70"/>
            </a:solidFill>
            <a:prstDash val="solid"/>
          </a:ln>
        </p:spPr>
      </p:sp>
      <p:sp>
        <p:nvSpPr>
          <p:cNvPr id="6" name="Text 4"/>
          <p:cNvSpPr/>
          <p:nvPr/>
        </p:nvSpPr>
        <p:spPr>
          <a:xfrm>
            <a:off x="731520" y="4800600"/>
            <a:ext cx="4572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1</a:t>
            </a:r>
            <a:endParaRPr lang="en-US" sz="2000" dirty="0"/>
          </a:p>
        </p:txBody>
      </p:sp>
      <p:sp>
        <p:nvSpPr>
          <p:cNvPr id="7" name="Text 5"/>
          <p:cNvSpPr/>
          <p:nvPr/>
        </p:nvSpPr>
        <p:spPr>
          <a:xfrm>
            <a:off x="1188720" y="4818888"/>
            <a:ext cx="2834640" cy="411480"/>
          </a:xfrm>
          <a:prstGeom prst="rect">
            <a:avLst/>
          </a:prstGeom>
          <a:noFill/>
          <a:ln/>
        </p:spPr>
        <p:txBody>
          <a:bodyPr wrap="square" rtlCol="0" anchor="ctr"/>
          <a:lstStyle/>
          <a:p>
            <a:pPr indent="0" marL="0">
              <a:buNone/>
            </a:pPr>
            <a:r>
              <a:rPr lang="en-US" sz="1200" b="1" dirty="0">
                <a:solidFill>
                  <a:srgbClr val="FFFFFF"/>
                </a:solidFill>
                <a:latin typeface="DM Sans" pitchFamily="34" charset="0"/>
                <a:ea typeface="DM Sans" pitchFamily="34" charset="-122"/>
                <a:cs typeface="DM Sans" pitchFamily="34" charset="-120"/>
              </a:rPr>
              <a:t>The 30 minute Back Office Audit</a:t>
            </a:r>
            <a:endParaRPr lang="en-US" sz="1200" dirty="0"/>
          </a:p>
        </p:txBody>
      </p:sp>
      <p:sp>
        <p:nvSpPr>
          <p:cNvPr id="8" name="Text 6"/>
          <p:cNvSpPr/>
          <p:nvPr/>
        </p:nvSpPr>
        <p:spPr>
          <a:xfrm>
            <a:off x="1188720" y="5212080"/>
            <a:ext cx="2834640" cy="868680"/>
          </a:xfrm>
          <a:prstGeom prst="rect">
            <a:avLst/>
          </a:prstGeom>
          <a:noFill/>
          <a:ln/>
        </p:spPr>
        <p:txBody>
          <a:bodyPr wrap="square" rtlCol="0" anchor="t"/>
          <a:lstStyle/>
          <a:p>
            <a:pPr indent="0" marL="0">
              <a:buNone/>
            </a:pPr>
            <a:r>
              <a:rPr lang="en-US" sz="1050" dirty="0">
                <a:solidFill>
                  <a:srgbClr val="C9D2EA"/>
                </a:solidFill>
                <a:latin typeface="DM Sans" pitchFamily="34" charset="0"/>
                <a:ea typeface="DM Sans" pitchFamily="34" charset="-122"/>
                <a:cs typeface="DM Sans" pitchFamily="34" charset="-120"/>
              </a:rPr>
              <a:t>Bring the vendor list, the last payroll invoice, the renewal dates.</a:t>
            </a:r>
            <a:endParaRPr lang="en-US" sz="1050" dirty="0"/>
          </a:p>
        </p:txBody>
      </p:sp>
      <p:sp>
        <p:nvSpPr>
          <p:cNvPr id="9" name="Shape 7"/>
          <p:cNvSpPr/>
          <p:nvPr/>
        </p:nvSpPr>
        <p:spPr>
          <a:xfrm>
            <a:off x="4297680" y="4709160"/>
            <a:ext cx="3566160" cy="1417320"/>
          </a:xfrm>
          <a:prstGeom prst="rect">
            <a:avLst>
              <a:gd name="adj" fmla="val 5161"/>
            </a:avLst>
          </a:prstGeom>
          <a:solidFill>
            <a:srgbClr val="2C3C60"/>
          </a:solidFill>
          <a:ln w="12700">
            <a:solidFill>
              <a:srgbClr val="3A4A70"/>
            </a:solidFill>
            <a:prstDash val="solid"/>
          </a:ln>
        </p:spPr>
      </p:sp>
      <p:sp>
        <p:nvSpPr>
          <p:cNvPr id="10" name="Text 8"/>
          <p:cNvSpPr/>
          <p:nvPr/>
        </p:nvSpPr>
        <p:spPr>
          <a:xfrm>
            <a:off x="4480560" y="4800600"/>
            <a:ext cx="4572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2</a:t>
            </a:r>
            <a:endParaRPr lang="en-US" sz="2000" dirty="0"/>
          </a:p>
        </p:txBody>
      </p:sp>
      <p:sp>
        <p:nvSpPr>
          <p:cNvPr id="11" name="Text 9"/>
          <p:cNvSpPr/>
          <p:nvPr/>
        </p:nvSpPr>
        <p:spPr>
          <a:xfrm>
            <a:off x="4937760" y="4818888"/>
            <a:ext cx="2834640" cy="411480"/>
          </a:xfrm>
          <a:prstGeom prst="rect">
            <a:avLst/>
          </a:prstGeom>
          <a:noFill/>
          <a:ln/>
        </p:spPr>
        <p:txBody>
          <a:bodyPr wrap="square" rtlCol="0" anchor="ctr"/>
          <a:lstStyle/>
          <a:p>
            <a:pPr indent="0" marL="0">
              <a:buNone/>
            </a:pPr>
            <a:r>
              <a:rPr lang="en-US" sz="1200" b="1" dirty="0">
                <a:solidFill>
                  <a:srgbClr val="FFFFFF"/>
                </a:solidFill>
                <a:latin typeface="DM Sans" pitchFamily="34" charset="0"/>
                <a:ea typeface="DM Sans" pitchFamily="34" charset="-122"/>
                <a:cs typeface="DM Sans" pitchFamily="34" charset="-120"/>
              </a:rPr>
              <a:t>The written findings</a:t>
            </a:r>
            <a:endParaRPr lang="en-US" sz="1200" dirty="0"/>
          </a:p>
        </p:txBody>
      </p:sp>
      <p:sp>
        <p:nvSpPr>
          <p:cNvPr id="12" name="Text 10"/>
          <p:cNvSpPr/>
          <p:nvPr/>
        </p:nvSpPr>
        <p:spPr>
          <a:xfrm>
            <a:off x="4937760" y="5212080"/>
            <a:ext cx="2834640" cy="868680"/>
          </a:xfrm>
          <a:prstGeom prst="rect">
            <a:avLst/>
          </a:prstGeom>
          <a:noFill/>
          <a:ln/>
        </p:spPr>
        <p:txBody>
          <a:bodyPr wrap="square" rtlCol="0" anchor="t"/>
          <a:lstStyle/>
          <a:p>
            <a:pPr indent="0" marL="0">
              <a:buNone/>
            </a:pPr>
            <a:r>
              <a:rPr lang="en-US" sz="1050" dirty="0">
                <a:solidFill>
                  <a:srgbClr val="C9D2EA"/>
                </a:solidFill>
                <a:latin typeface="DM Sans" pitchFamily="34" charset="0"/>
                <a:ea typeface="DM Sans" pitchFamily="34" charset="-122"/>
                <a:cs typeface="DM Sans" pitchFamily="34" charset="-120"/>
              </a:rPr>
              <a:t>Every line with a number: what it costs, what the market charges, what is exposed.</a:t>
            </a:r>
            <a:endParaRPr lang="en-US" sz="1050" dirty="0"/>
          </a:p>
        </p:txBody>
      </p:sp>
      <p:sp>
        <p:nvSpPr>
          <p:cNvPr id="13" name="Shape 11"/>
          <p:cNvSpPr/>
          <p:nvPr/>
        </p:nvSpPr>
        <p:spPr>
          <a:xfrm>
            <a:off x="8046720" y="4709160"/>
            <a:ext cx="3566160" cy="1417320"/>
          </a:xfrm>
          <a:prstGeom prst="rect">
            <a:avLst>
              <a:gd name="adj" fmla="val 5161"/>
            </a:avLst>
          </a:prstGeom>
          <a:solidFill>
            <a:srgbClr val="2C3C60"/>
          </a:solidFill>
          <a:ln w="12700">
            <a:solidFill>
              <a:srgbClr val="3A4A70"/>
            </a:solidFill>
            <a:prstDash val="solid"/>
          </a:ln>
        </p:spPr>
      </p:sp>
      <p:sp>
        <p:nvSpPr>
          <p:cNvPr id="14" name="Text 12"/>
          <p:cNvSpPr/>
          <p:nvPr/>
        </p:nvSpPr>
        <p:spPr>
          <a:xfrm>
            <a:off x="8229600" y="4800600"/>
            <a:ext cx="457200" cy="457200"/>
          </a:xfrm>
          <a:prstGeom prst="rect">
            <a:avLst/>
          </a:prstGeom>
          <a:noFill/>
          <a:ln/>
        </p:spPr>
        <p:txBody>
          <a:bodyPr wrap="square" rtlCol="0" anchor="ctr"/>
          <a:lstStyle/>
          <a:p>
            <a:pPr indent="0" marL="0">
              <a:buNone/>
            </a:pPr>
            <a:r>
              <a:rPr lang="en-US" sz="2000" dirty="0">
                <a:solidFill>
                  <a:srgbClr val="788DE3"/>
                </a:solidFill>
                <a:latin typeface="Horas" pitchFamily="34" charset="0"/>
                <a:ea typeface="Horas" pitchFamily="34" charset="-122"/>
                <a:cs typeface="Horas" pitchFamily="34" charset="-120"/>
              </a:rPr>
              <a:t>3</a:t>
            </a:r>
            <a:endParaRPr lang="en-US" sz="2000" dirty="0"/>
          </a:p>
        </p:txBody>
      </p:sp>
      <p:sp>
        <p:nvSpPr>
          <p:cNvPr id="15" name="Text 13"/>
          <p:cNvSpPr/>
          <p:nvPr/>
        </p:nvSpPr>
        <p:spPr>
          <a:xfrm>
            <a:off x="8686800" y="4818888"/>
            <a:ext cx="2834640" cy="411480"/>
          </a:xfrm>
          <a:prstGeom prst="rect">
            <a:avLst/>
          </a:prstGeom>
          <a:noFill/>
          <a:ln/>
        </p:spPr>
        <p:txBody>
          <a:bodyPr wrap="square" rtlCol="0" anchor="ctr"/>
          <a:lstStyle/>
          <a:p>
            <a:pPr indent="0" marL="0">
              <a:buNone/>
            </a:pPr>
            <a:r>
              <a:rPr lang="en-US" sz="1200" b="1" dirty="0">
                <a:solidFill>
                  <a:srgbClr val="FFFFFF"/>
                </a:solidFill>
                <a:latin typeface="DM Sans" pitchFamily="34" charset="0"/>
                <a:ea typeface="DM Sans" pitchFamily="34" charset="-122"/>
                <a:cs typeface="DM Sans" pitchFamily="34" charset="-120"/>
              </a:rPr>
              <a:t>Your decision</a:t>
            </a:r>
            <a:endParaRPr lang="en-US" sz="1200" dirty="0"/>
          </a:p>
        </p:txBody>
      </p:sp>
      <p:sp>
        <p:nvSpPr>
          <p:cNvPr id="16" name="Text 14"/>
          <p:cNvSpPr/>
          <p:nvPr/>
        </p:nvSpPr>
        <p:spPr>
          <a:xfrm>
            <a:off x="8686800" y="5212080"/>
            <a:ext cx="2834640" cy="868680"/>
          </a:xfrm>
          <a:prstGeom prst="rect">
            <a:avLst/>
          </a:prstGeom>
          <a:noFill/>
          <a:ln/>
        </p:spPr>
        <p:txBody>
          <a:bodyPr wrap="square" rtlCol="0" anchor="t"/>
          <a:lstStyle/>
          <a:p>
            <a:pPr indent="0" marL="0">
              <a:buNone/>
            </a:pPr>
            <a:r>
              <a:rPr lang="en-US" sz="1050" dirty="0">
                <a:solidFill>
                  <a:srgbClr val="C9D2EA"/>
                </a:solidFill>
                <a:latin typeface="DM Sans" pitchFamily="34" charset="0"/>
                <a:ea typeface="DM Sans" pitchFamily="34" charset="-122"/>
                <a:cs typeface="DM Sans" pitchFamily="34" charset="-120"/>
              </a:rPr>
              <a:t>Join, or keep the report. Either way you leave with the numbers.</a:t>
            </a:r>
            <a:endParaRPr lang="en-US" sz="1050" dirty="0"/>
          </a:p>
        </p:txBody>
      </p:sp>
      <p:sp>
        <p:nvSpPr>
          <p:cNvPr id="17" name="Text 1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
        <p:nvSpPr>
          <p:cNvPr id="18" name="Text 16"/>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9FB0D8"/>
                </a:solidFill>
                <a:latin typeface="DM Sans" pitchFamily="34" charset="0"/>
                <a:ea typeface="DM Sans" pitchFamily="34" charset="-122"/>
                <a:cs typeface="DM Sans"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Your membership: Professional</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Picked for Ridgeline Concrete LLC from where the business is today. Tiers move up any month and down at renewal.</a:t>
            </a:r>
            <a:endParaRPr lang="en-US" sz="1300" dirty="0"/>
          </a:p>
        </p:txBody>
      </p:sp>
      <p:sp>
        <p:nvSpPr>
          <p:cNvPr id="4" name="Shape 2"/>
          <p:cNvSpPr/>
          <p:nvPr/>
        </p:nvSpPr>
        <p:spPr>
          <a:xfrm>
            <a:off x="548640" y="1691640"/>
            <a:ext cx="5394960" cy="1920240"/>
          </a:xfrm>
          <a:prstGeom prst="rect">
            <a:avLst>
              <a:gd name="adj" fmla="val 3810"/>
            </a:avLst>
          </a:prstGeom>
          <a:solidFill>
            <a:srgbClr val="23304D"/>
          </a:solidFill>
          <a:ln/>
        </p:spPr>
      </p:sp>
      <p:sp>
        <p:nvSpPr>
          <p:cNvPr id="5" name="Text 3"/>
          <p:cNvSpPr/>
          <p:nvPr/>
        </p:nvSpPr>
        <p:spPr>
          <a:xfrm>
            <a:off x="777240" y="1874520"/>
            <a:ext cx="493776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PROFESSIONAL MEMBERSHIP</a:t>
            </a:r>
            <a:endParaRPr lang="en-US" sz="1050" dirty="0"/>
          </a:p>
        </p:txBody>
      </p:sp>
      <p:sp>
        <p:nvSpPr>
          <p:cNvPr id="6" name="Text 4"/>
          <p:cNvSpPr/>
          <p:nvPr/>
        </p:nvSpPr>
        <p:spPr>
          <a:xfrm>
            <a:off x="777240" y="2194560"/>
            <a:ext cx="4937760" cy="777240"/>
          </a:xfrm>
          <a:prstGeom prst="rect">
            <a:avLst/>
          </a:prstGeom>
          <a:noFill/>
          <a:ln/>
        </p:spPr>
        <p:txBody>
          <a:bodyPr wrap="square" rtlCol="0" anchor="ctr"/>
          <a:lstStyle/>
          <a:p>
            <a:pPr indent="0" marL="0">
              <a:buNone/>
            </a:pPr>
            <a:r>
              <a:rPr lang="en-US" sz="3000" dirty="0">
                <a:solidFill>
                  <a:srgbClr val="FFFFFF"/>
                </a:solidFill>
                <a:latin typeface="Horas" pitchFamily="34" charset="0"/>
                <a:ea typeface="Horas" pitchFamily="34" charset="-122"/>
                <a:cs typeface="Horas" pitchFamily="34" charset="-120"/>
              </a:rPr>
              <a:t>$399 per month</a:t>
            </a:r>
            <a:endParaRPr lang="en-US" sz="3000" dirty="0"/>
          </a:p>
        </p:txBody>
      </p:sp>
      <p:sp>
        <p:nvSpPr>
          <p:cNvPr id="7" name="Text 5"/>
          <p:cNvSpPr/>
          <p:nvPr/>
        </p:nvSpPr>
        <p:spPr>
          <a:xfrm>
            <a:off x="777240" y="2971800"/>
            <a:ext cx="4937760" cy="365760"/>
          </a:xfrm>
          <a:prstGeom prst="rect">
            <a:avLst/>
          </a:prstGeom>
          <a:noFill/>
          <a:ln/>
        </p:spPr>
        <p:txBody>
          <a:bodyPr wrap="square" rtlCol="0" anchor="ctr"/>
          <a:lstStyle/>
          <a:p>
            <a:pPr indent="0" marL="0">
              <a:buNone/>
            </a:pPr>
            <a:r>
              <a:rPr lang="en-US" sz="1150" dirty="0">
                <a:solidFill>
                  <a:srgbClr val="C9D2EA"/>
                </a:solidFill>
                <a:latin typeface="DM Sans" pitchFamily="34" charset="0"/>
                <a:ea typeface="DM Sans" pitchFamily="34" charset="-122"/>
                <a:cs typeface="DM Sans" pitchFamily="34" charset="-120"/>
              </a:rPr>
              <a:t>setup $495</a:t>
            </a:r>
            <a:endParaRPr lang="en-US" sz="1150" dirty="0"/>
          </a:p>
        </p:txBody>
      </p:sp>
      <p:sp>
        <p:nvSpPr>
          <p:cNvPr id="8" name="Shape 6"/>
          <p:cNvSpPr/>
          <p:nvPr/>
        </p:nvSpPr>
        <p:spPr>
          <a:xfrm>
            <a:off x="6217920" y="1691640"/>
            <a:ext cx="5394960" cy="1920240"/>
          </a:xfrm>
          <a:prstGeom prst="rect">
            <a:avLst>
              <a:gd name="adj" fmla="val 3810"/>
            </a:avLst>
          </a:prstGeom>
          <a:solidFill>
            <a:srgbClr val="FFFFFF"/>
          </a:solidFill>
          <a:ln w="12700">
            <a:solidFill>
              <a:srgbClr val="DBE4ED"/>
            </a:solidFill>
            <a:prstDash val="solid"/>
          </a:ln>
        </p:spPr>
      </p:sp>
      <p:sp>
        <p:nvSpPr>
          <p:cNvPr id="9" name="Text 7"/>
          <p:cNvSpPr/>
          <p:nvPr/>
        </p:nvSpPr>
        <p:spPr>
          <a:xfrm>
            <a:off x="6446520" y="1874520"/>
            <a:ext cx="4937760" cy="320040"/>
          </a:xfrm>
          <a:prstGeom prst="rect">
            <a:avLst/>
          </a:prstGeom>
          <a:noFill/>
          <a:ln/>
        </p:spPr>
        <p:txBody>
          <a:bodyPr wrap="square" rtlCol="0" anchor="ctr"/>
          <a:lstStyle/>
          <a:p>
            <a:pPr indent="0" marL="0">
              <a:buNone/>
            </a:pPr>
            <a:r>
              <a:rPr lang="en-US" sz="1050" b="1" spc="100" kern="0" dirty="0">
                <a:solidFill>
                  <a:srgbClr val="5B6577"/>
                </a:solidFill>
                <a:latin typeface="DM Sans" pitchFamily="34" charset="0"/>
                <a:ea typeface="DM Sans" pitchFamily="34" charset="-122"/>
                <a:cs typeface="DM Sans" pitchFamily="34" charset="-120"/>
              </a:rPr>
              <a:t>THE FIT</a:t>
            </a:r>
            <a:endParaRPr lang="en-US" sz="1050" dirty="0"/>
          </a:p>
        </p:txBody>
      </p:sp>
      <p:sp>
        <p:nvSpPr>
          <p:cNvPr id="10" name="Text 8"/>
          <p:cNvSpPr/>
          <p:nvPr/>
        </p:nvSpPr>
        <p:spPr>
          <a:xfrm>
            <a:off x="6446520" y="2194560"/>
            <a:ext cx="4937760" cy="1325880"/>
          </a:xfrm>
          <a:prstGeom prst="rect">
            <a:avLst/>
          </a:prstGeom>
          <a:noFill/>
          <a:ln/>
        </p:spPr>
        <p:txBody>
          <a:bodyPr wrap="square" rtlCol="0" anchor="t"/>
          <a:lstStyle/>
          <a:p>
            <a:pPr indent="0" marL="0">
              <a:buNone/>
            </a:pPr>
            <a:r>
              <a:rPr lang="en-US" sz="1250" dirty="0">
                <a:solidFill>
                  <a:srgbClr val="23304D"/>
                </a:solidFill>
                <a:latin typeface="DM Sans" pitchFamily="34" charset="0"/>
                <a:ea typeface="DM Sans" pitchFamily="34" charset="-122"/>
                <a:cs typeface="DM Sans" pitchFamily="34" charset="-120"/>
              </a:rPr>
              <a:t>Twenty to fifty employees, or five to fifteen hours a month. The owner is still the back office.</a:t>
            </a:r>
            <a:endParaRPr lang="en-US" sz="1250" dirty="0"/>
          </a:p>
        </p:txBody>
      </p:sp>
      <p:sp>
        <p:nvSpPr>
          <p:cNvPr id="11" name="Text 9"/>
          <p:cNvSpPr/>
          <p:nvPr/>
        </p:nvSpPr>
        <p:spPr>
          <a:xfrm>
            <a:off x="548640" y="3886200"/>
            <a:ext cx="10972800" cy="365760"/>
          </a:xfrm>
          <a:prstGeom prst="rect">
            <a:avLst/>
          </a:prstGeom>
          <a:noFill/>
          <a:ln/>
        </p:spPr>
        <p:txBody>
          <a:bodyPr wrap="square" rtlCol="0" anchor="ctr"/>
          <a:lstStyle/>
          <a:p>
            <a:pPr indent="0" marL="0">
              <a:buNone/>
            </a:pPr>
            <a:r>
              <a:rPr lang="en-US" sz="1600" dirty="0">
                <a:solidFill>
                  <a:srgbClr val="23304D"/>
                </a:solidFill>
                <a:latin typeface="Horas" pitchFamily="34" charset="0"/>
                <a:ea typeface="Horas" pitchFamily="34" charset="-122"/>
                <a:cs typeface="Horas" pitchFamily="34" charset="-120"/>
              </a:rPr>
              <a:t>What changes at this tier</a:t>
            </a:r>
            <a:endParaRPr lang="en-US" sz="1600" dirty="0"/>
          </a:p>
        </p:txBody>
      </p:sp>
      <p:sp>
        <p:nvSpPr>
          <p:cNvPr id="12" name="Text 10"/>
          <p:cNvSpPr/>
          <p:nvPr/>
        </p:nvSpPr>
        <p:spPr>
          <a:xfrm>
            <a:off x="566928" y="4297680"/>
            <a:ext cx="10972800" cy="914400"/>
          </a:xfrm>
          <a:prstGeom prst="rect">
            <a:avLst/>
          </a:prstGeom>
          <a:noFill/>
          <a:ln/>
        </p:spPr>
        <p:txBody>
          <a:bodyPr wrap="square" rtlCol="0" anchor="t"/>
          <a:lstStyle/>
          <a:p>
            <a:pPr indent="0" marL="0">
              <a:buNone/>
            </a:pPr>
            <a:r>
              <a:rPr lang="en-US" sz="1300" dirty="0">
                <a:solidFill>
                  <a:srgbClr val="23304D"/>
                </a:solidFill>
                <a:latin typeface="DM Sans" pitchFamily="34" charset="0"/>
                <a:ea typeface="DM Sans" pitchFamily="34" charset="-122"/>
                <a:cs typeface="DM Sans" pitchFamily="34" charset="-120"/>
              </a:rPr>
              <a:t>A real person by phone, next business day, three hands on hours a month. Handbook and safety manual kept current. Benefits and workers comp renewals managed. A quarterly review.</a:t>
            </a:r>
            <a:endParaRPr lang="en-US" sz="1300" dirty="0"/>
          </a:p>
        </p:txBody>
      </p:sp>
      <p:sp>
        <p:nvSpPr>
          <p:cNvPr id="13" name="Text 11"/>
          <p:cNvSpPr/>
          <p:nvPr/>
        </p:nvSpPr>
        <p:spPr>
          <a:xfrm>
            <a:off x="566928" y="5257800"/>
            <a:ext cx="10972800" cy="822960"/>
          </a:xfrm>
          <a:prstGeom prst="rect">
            <a:avLst/>
          </a:prstGeom>
          <a:noFill/>
          <a:ln/>
        </p:spPr>
        <p:txBody>
          <a:bodyPr wrap="square" rtlCol="0" anchor="t"/>
          <a:lstStyle/>
          <a:p>
            <a:pPr indent="0" marL="0">
              <a:buNone/>
            </a:pPr>
            <a:r>
              <a:rPr lang="en-US" sz="1100" dirty="0">
                <a:solidFill>
                  <a:srgbClr val="5B6577"/>
                </a:solidFill>
                <a:latin typeface="DM Sans" pitchFamily="34" charset="0"/>
                <a:ea typeface="DM Sans" pitchFamily="34" charset="-122"/>
                <a:cs typeface="DM Sans" pitchFamily="34" charset="-120"/>
              </a:rPr>
              <a:t>Every tier includes: a named person who knows your setup, the annual Back Office Audit and its guarantee, renewals managed, the tools, software at member pricing, the compliance calendar, every division at member rates.</a:t>
            </a:r>
            <a:endParaRPr lang="en-US" sz="1100" dirty="0"/>
          </a:p>
        </p:txBody>
      </p:sp>
      <p:sp>
        <p:nvSpPr>
          <p:cNvPr id="14" name="Text 12"/>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15" name="Text 13"/>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rtlCol="0" anchor="ctr"/>
          <a:lstStyle/>
          <a:p>
            <a:pPr indent="0" marL="0">
              <a:buNone/>
            </a:pPr>
            <a:r>
              <a:rPr lang="en-US" sz="2800" dirty="0">
                <a:solidFill>
                  <a:srgbClr val="23304D"/>
                </a:solidFill>
                <a:latin typeface="Horas" pitchFamily="34" charset="0"/>
                <a:ea typeface="Horas" pitchFamily="34" charset="-122"/>
                <a:cs typeface="Horas" pitchFamily="34" charset="-120"/>
              </a:rPr>
              <a:t>Next steps</a:t>
            </a:r>
            <a:endParaRPr lang="en-US" sz="2800" dirty="0"/>
          </a:p>
        </p:txBody>
      </p:sp>
      <p:sp>
        <p:nvSpPr>
          <p:cNvPr id="3" name="Text 1"/>
          <p:cNvSpPr/>
          <p:nvPr/>
        </p:nvSpPr>
        <p:spPr>
          <a:xfrm>
            <a:off x="566928" y="1097280"/>
            <a:ext cx="10972800" cy="411480"/>
          </a:xfrm>
          <a:prstGeom prst="rect">
            <a:avLst/>
          </a:prstGeom>
          <a:noFill/>
          <a:ln/>
        </p:spPr>
        <p:txBody>
          <a:bodyPr wrap="square" rtlCol="0" anchor="ctr"/>
          <a:lstStyle/>
          <a:p>
            <a:pPr indent="0" marL="0">
              <a:buNone/>
            </a:pPr>
            <a:r>
              <a:rPr lang="en-US" sz="1300" dirty="0">
                <a:solidFill>
                  <a:srgbClr val="5B6577"/>
                </a:solidFill>
                <a:latin typeface="DM Sans" pitchFamily="34" charset="0"/>
                <a:ea typeface="DM Sans" pitchFamily="34" charset="-122"/>
                <a:cs typeface="DM Sans" pitchFamily="34" charset="-120"/>
              </a:rPr>
              <a:t>Four steps from this deck to a running back office. You approve each one.</a:t>
            </a:r>
            <a:endParaRPr lang="en-US" sz="1300" dirty="0"/>
          </a:p>
        </p:txBody>
      </p:sp>
      <p:sp>
        <p:nvSpPr>
          <p:cNvPr id="4" name="Shape 2"/>
          <p:cNvSpPr/>
          <p:nvPr/>
        </p:nvSpPr>
        <p:spPr>
          <a:xfrm>
            <a:off x="548640" y="1691640"/>
            <a:ext cx="11064240" cy="914400"/>
          </a:xfrm>
          <a:prstGeom prst="rect">
            <a:avLst>
              <a:gd name="adj" fmla="val 8000"/>
            </a:avLst>
          </a:prstGeom>
          <a:solidFill>
            <a:srgbClr val="FFFFFF"/>
          </a:solidFill>
          <a:ln w="12700">
            <a:solidFill>
              <a:srgbClr val="DBE4ED"/>
            </a:solidFill>
            <a:prstDash val="solid"/>
          </a:ln>
        </p:spPr>
      </p:sp>
      <p:sp>
        <p:nvSpPr>
          <p:cNvPr id="5" name="Shape 3"/>
          <p:cNvSpPr/>
          <p:nvPr/>
        </p:nvSpPr>
        <p:spPr>
          <a:xfrm>
            <a:off x="548640" y="1691640"/>
            <a:ext cx="82296" cy="914400"/>
          </a:xfrm>
          <a:prstGeom prst="rect">
            <a:avLst/>
          </a:prstGeom>
          <a:solidFill>
            <a:srgbClr val="788DE3"/>
          </a:solidFill>
          <a:ln/>
        </p:spPr>
      </p:sp>
      <p:sp>
        <p:nvSpPr>
          <p:cNvPr id="6" name="Text 4"/>
          <p:cNvSpPr/>
          <p:nvPr/>
        </p:nvSpPr>
        <p:spPr>
          <a:xfrm>
            <a:off x="777240" y="1874520"/>
            <a:ext cx="548640" cy="548640"/>
          </a:xfrm>
          <a:prstGeom prst="rect">
            <a:avLst/>
          </a:prstGeom>
          <a:noFill/>
          <a:ln/>
        </p:spPr>
        <p:txBody>
          <a:bodyPr wrap="square" rtlCol="0" anchor="ctr"/>
          <a:lstStyle/>
          <a:p>
            <a:pPr indent="0" marL="0">
              <a:buNone/>
            </a:pPr>
            <a:r>
              <a:rPr lang="en-US" sz="2400" dirty="0">
                <a:solidFill>
                  <a:srgbClr val="788DE3"/>
                </a:solidFill>
                <a:latin typeface="Horas" pitchFamily="34" charset="0"/>
                <a:ea typeface="Horas" pitchFamily="34" charset="-122"/>
                <a:cs typeface="Horas" pitchFamily="34" charset="-120"/>
              </a:rPr>
              <a:t>1</a:t>
            </a:r>
            <a:endParaRPr lang="en-US" sz="2400" dirty="0"/>
          </a:p>
        </p:txBody>
      </p:sp>
      <p:sp>
        <p:nvSpPr>
          <p:cNvPr id="7" name="Text 5"/>
          <p:cNvSpPr/>
          <p:nvPr/>
        </p:nvSpPr>
        <p:spPr>
          <a:xfrm>
            <a:off x="1371600" y="1801368"/>
            <a:ext cx="2377440" cy="685800"/>
          </a:xfrm>
          <a:prstGeom prst="rect">
            <a:avLst/>
          </a:prstGeom>
          <a:noFill/>
          <a:ln/>
        </p:spPr>
        <p:txBody>
          <a:bodyPr wrap="square" rtlCol="0" anchor="ctr"/>
          <a:lstStyle/>
          <a:p>
            <a:pPr indent="0" marL="0">
              <a:buNone/>
            </a:pPr>
            <a:r>
              <a:rPr lang="en-US" sz="1300" b="1" dirty="0">
                <a:solidFill>
                  <a:srgbClr val="23304D"/>
                </a:solidFill>
                <a:latin typeface="DM Sans" pitchFamily="34" charset="0"/>
                <a:ea typeface="DM Sans" pitchFamily="34" charset="-122"/>
                <a:cs typeface="DM Sans" pitchFamily="34" charset="-120"/>
              </a:rPr>
              <a:t>This week</a:t>
            </a:r>
            <a:endParaRPr lang="en-US" sz="1300" dirty="0"/>
          </a:p>
        </p:txBody>
      </p:sp>
      <p:sp>
        <p:nvSpPr>
          <p:cNvPr id="8" name="Text 6"/>
          <p:cNvSpPr/>
          <p:nvPr/>
        </p:nvSpPr>
        <p:spPr>
          <a:xfrm>
            <a:off x="3749040" y="1783080"/>
            <a:ext cx="7680960" cy="731520"/>
          </a:xfrm>
          <a:prstGeom prst="rect">
            <a:avLst/>
          </a:prstGeom>
          <a:noFill/>
          <a:ln/>
        </p:spPr>
        <p:txBody>
          <a:bodyPr wrap="square" rtlCol="0" anchor="ctr"/>
          <a:lstStyle/>
          <a:p>
            <a:pPr indent="0" marL="0">
              <a:buNone/>
            </a:pPr>
            <a:r>
              <a:rPr lang="en-US" sz="1200" dirty="0">
                <a:solidFill>
                  <a:srgbClr val="23304D"/>
                </a:solidFill>
                <a:latin typeface="DM Sans" pitchFamily="34" charset="0"/>
                <a:ea typeface="DM Sans" pitchFamily="34" charset="-122"/>
                <a:cs typeface="DM Sans" pitchFamily="34" charset="-120"/>
              </a:rPr>
              <a:t>Say yes to the 30 minute Back Office Audit. Bring the vendor list, the last payroll invoice and the renewal dates.</a:t>
            </a:r>
            <a:endParaRPr lang="en-US" sz="1200" dirty="0"/>
          </a:p>
        </p:txBody>
      </p:sp>
      <p:sp>
        <p:nvSpPr>
          <p:cNvPr id="9" name="Shape 7"/>
          <p:cNvSpPr/>
          <p:nvPr/>
        </p:nvSpPr>
        <p:spPr>
          <a:xfrm>
            <a:off x="548640" y="2743200"/>
            <a:ext cx="11064240" cy="914400"/>
          </a:xfrm>
          <a:prstGeom prst="rect">
            <a:avLst>
              <a:gd name="adj" fmla="val 8000"/>
            </a:avLst>
          </a:prstGeom>
          <a:solidFill>
            <a:srgbClr val="FFFFFF"/>
          </a:solidFill>
          <a:ln w="12700">
            <a:solidFill>
              <a:srgbClr val="DBE4ED"/>
            </a:solidFill>
            <a:prstDash val="solid"/>
          </a:ln>
        </p:spPr>
      </p:sp>
      <p:sp>
        <p:nvSpPr>
          <p:cNvPr id="10" name="Shape 8"/>
          <p:cNvSpPr/>
          <p:nvPr/>
        </p:nvSpPr>
        <p:spPr>
          <a:xfrm>
            <a:off x="548640" y="2743200"/>
            <a:ext cx="82296" cy="914400"/>
          </a:xfrm>
          <a:prstGeom prst="rect">
            <a:avLst/>
          </a:prstGeom>
          <a:solidFill>
            <a:srgbClr val="788DE3"/>
          </a:solidFill>
          <a:ln/>
        </p:spPr>
      </p:sp>
      <p:sp>
        <p:nvSpPr>
          <p:cNvPr id="11" name="Text 9"/>
          <p:cNvSpPr/>
          <p:nvPr/>
        </p:nvSpPr>
        <p:spPr>
          <a:xfrm>
            <a:off x="777240" y="2926080"/>
            <a:ext cx="548640" cy="548640"/>
          </a:xfrm>
          <a:prstGeom prst="rect">
            <a:avLst/>
          </a:prstGeom>
          <a:noFill/>
          <a:ln/>
        </p:spPr>
        <p:txBody>
          <a:bodyPr wrap="square" rtlCol="0" anchor="ctr"/>
          <a:lstStyle/>
          <a:p>
            <a:pPr indent="0" marL="0">
              <a:buNone/>
            </a:pPr>
            <a:r>
              <a:rPr lang="en-US" sz="2400" dirty="0">
                <a:solidFill>
                  <a:srgbClr val="788DE3"/>
                </a:solidFill>
                <a:latin typeface="Horas" pitchFamily="34" charset="0"/>
                <a:ea typeface="Horas" pitchFamily="34" charset="-122"/>
                <a:cs typeface="Horas" pitchFamily="34" charset="-120"/>
              </a:rPr>
              <a:t>2</a:t>
            </a:r>
            <a:endParaRPr lang="en-US" sz="2400" dirty="0"/>
          </a:p>
        </p:txBody>
      </p:sp>
      <p:sp>
        <p:nvSpPr>
          <p:cNvPr id="12" name="Text 10"/>
          <p:cNvSpPr/>
          <p:nvPr/>
        </p:nvSpPr>
        <p:spPr>
          <a:xfrm>
            <a:off x="1371600" y="2852928"/>
            <a:ext cx="2377440" cy="685800"/>
          </a:xfrm>
          <a:prstGeom prst="rect">
            <a:avLst/>
          </a:prstGeom>
          <a:noFill/>
          <a:ln/>
        </p:spPr>
        <p:txBody>
          <a:bodyPr wrap="square" rtlCol="0" anchor="ctr"/>
          <a:lstStyle/>
          <a:p>
            <a:pPr indent="0" marL="0">
              <a:buNone/>
            </a:pPr>
            <a:r>
              <a:rPr lang="en-US" sz="1300" b="1" dirty="0">
                <a:solidFill>
                  <a:srgbClr val="23304D"/>
                </a:solidFill>
                <a:latin typeface="DM Sans" pitchFamily="34" charset="0"/>
                <a:ea typeface="DM Sans" pitchFamily="34" charset="-122"/>
                <a:cs typeface="DM Sans" pitchFamily="34" charset="-120"/>
              </a:rPr>
              <a:t>Week 1</a:t>
            </a:r>
            <a:endParaRPr lang="en-US" sz="1300" dirty="0"/>
          </a:p>
        </p:txBody>
      </p:sp>
      <p:sp>
        <p:nvSpPr>
          <p:cNvPr id="13" name="Text 11"/>
          <p:cNvSpPr/>
          <p:nvPr/>
        </p:nvSpPr>
        <p:spPr>
          <a:xfrm>
            <a:off x="3749040" y="2834640"/>
            <a:ext cx="7680960" cy="731520"/>
          </a:xfrm>
          <a:prstGeom prst="rect">
            <a:avLst/>
          </a:prstGeom>
          <a:noFill/>
          <a:ln/>
        </p:spPr>
        <p:txBody>
          <a:bodyPr wrap="square" rtlCol="0" anchor="ctr"/>
          <a:lstStyle/>
          <a:p>
            <a:pPr indent="0" marL="0">
              <a:buNone/>
            </a:pPr>
            <a:r>
              <a:rPr lang="en-US" sz="1200" dirty="0">
                <a:solidFill>
                  <a:srgbClr val="23304D"/>
                </a:solidFill>
                <a:latin typeface="DM Sans" pitchFamily="34" charset="0"/>
                <a:ea typeface="DM Sans" pitchFamily="34" charset="-122"/>
                <a:cs typeface="DM Sans" pitchFamily="34" charset="-120"/>
              </a:rPr>
              <a:t>Written findings with numbers. Sign the service agreement and the Professional membership. Setup and onboarding begin.</a:t>
            </a:r>
            <a:endParaRPr lang="en-US" sz="1200" dirty="0"/>
          </a:p>
        </p:txBody>
      </p:sp>
      <p:sp>
        <p:nvSpPr>
          <p:cNvPr id="14" name="Shape 12"/>
          <p:cNvSpPr/>
          <p:nvPr/>
        </p:nvSpPr>
        <p:spPr>
          <a:xfrm>
            <a:off x="548640" y="3794760"/>
            <a:ext cx="11064240" cy="914400"/>
          </a:xfrm>
          <a:prstGeom prst="rect">
            <a:avLst>
              <a:gd name="adj" fmla="val 8000"/>
            </a:avLst>
          </a:prstGeom>
          <a:solidFill>
            <a:srgbClr val="FFFFFF"/>
          </a:solidFill>
          <a:ln w="12700">
            <a:solidFill>
              <a:srgbClr val="DBE4ED"/>
            </a:solidFill>
            <a:prstDash val="solid"/>
          </a:ln>
        </p:spPr>
      </p:sp>
      <p:sp>
        <p:nvSpPr>
          <p:cNvPr id="15" name="Shape 13"/>
          <p:cNvSpPr/>
          <p:nvPr/>
        </p:nvSpPr>
        <p:spPr>
          <a:xfrm>
            <a:off x="548640" y="3794760"/>
            <a:ext cx="82296" cy="914400"/>
          </a:xfrm>
          <a:prstGeom prst="rect">
            <a:avLst/>
          </a:prstGeom>
          <a:solidFill>
            <a:srgbClr val="788DE3"/>
          </a:solidFill>
          <a:ln/>
        </p:spPr>
      </p:sp>
      <p:sp>
        <p:nvSpPr>
          <p:cNvPr id="16" name="Text 14"/>
          <p:cNvSpPr/>
          <p:nvPr/>
        </p:nvSpPr>
        <p:spPr>
          <a:xfrm>
            <a:off x="777240" y="3977640"/>
            <a:ext cx="548640" cy="548640"/>
          </a:xfrm>
          <a:prstGeom prst="rect">
            <a:avLst/>
          </a:prstGeom>
          <a:noFill/>
          <a:ln/>
        </p:spPr>
        <p:txBody>
          <a:bodyPr wrap="square" rtlCol="0" anchor="ctr"/>
          <a:lstStyle/>
          <a:p>
            <a:pPr indent="0" marL="0">
              <a:buNone/>
            </a:pPr>
            <a:r>
              <a:rPr lang="en-US" sz="2400" dirty="0">
                <a:solidFill>
                  <a:srgbClr val="788DE3"/>
                </a:solidFill>
                <a:latin typeface="Horas" pitchFamily="34" charset="0"/>
                <a:ea typeface="Horas" pitchFamily="34" charset="-122"/>
                <a:cs typeface="Horas" pitchFamily="34" charset="-120"/>
              </a:rPr>
              <a:t>3</a:t>
            </a:r>
            <a:endParaRPr lang="en-US" sz="2400" dirty="0"/>
          </a:p>
        </p:txBody>
      </p:sp>
      <p:sp>
        <p:nvSpPr>
          <p:cNvPr id="17" name="Text 15"/>
          <p:cNvSpPr/>
          <p:nvPr/>
        </p:nvSpPr>
        <p:spPr>
          <a:xfrm>
            <a:off x="1371600" y="3904488"/>
            <a:ext cx="2377440" cy="685800"/>
          </a:xfrm>
          <a:prstGeom prst="rect">
            <a:avLst/>
          </a:prstGeom>
          <a:noFill/>
          <a:ln/>
        </p:spPr>
        <p:txBody>
          <a:bodyPr wrap="square" rtlCol="0" anchor="ctr"/>
          <a:lstStyle/>
          <a:p>
            <a:pPr indent="0" marL="0">
              <a:buNone/>
            </a:pPr>
            <a:r>
              <a:rPr lang="en-US" sz="1300" b="1" dirty="0">
                <a:solidFill>
                  <a:srgbClr val="23304D"/>
                </a:solidFill>
                <a:latin typeface="DM Sans" pitchFamily="34" charset="0"/>
                <a:ea typeface="DM Sans" pitchFamily="34" charset="-122"/>
                <a:cs typeface="DM Sans" pitchFamily="34" charset="-120"/>
              </a:rPr>
              <a:t>Weeks 2 to 4</a:t>
            </a:r>
            <a:endParaRPr lang="en-US" sz="1300" dirty="0"/>
          </a:p>
        </p:txBody>
      </p:sp>
      <p:sp>
        <p:nvSpPr>
          <p:cNvPr id="18" name="Text 16"/>
          <p:cNvSpPr/>
          <p:nvPr/>
        </p:nvSpPr>
        <p:spPr>
          <a:xfrm>
            <a:off x="3749040" y="3886200"/>
            <a:ext cx="7680960" cy="731520"/>
          </a:xfrm>
          <a:prstGeom prst="rect">
            <a:avLst/>
          </a:prstGeom>
          <a:noFill/>
          <a:ln/>
        </p:spPr>
        <p:txBody>
          <a:bodyPr wrap="square" rtlCol="0" anchor="ctr"/>
          <a:lstStyle/>
          <a:p>
            <a:pPr indent="0" marL="0">
              <a:buNone/>
            </a:pPr>
            <a:r>
              <a:rPr lang="en-US" sz="1200" dirty="0">
                <a:solidFill>
                  <a:srgbClr val="23304D"/>
                </a:solidFill>
                <a:latin typeface="DM Sans" pitchFamily="34" charset="0"/>
                <a:ea typeface="DM Sans" pitchFamily="34" charset="-122"/>
                <a:cs typeface="DM Sans" pitchFamily="34" charset="-120"/>
              </a:rPr>
              <a:t>Payroll and benefits transition on your schedule, never mid cycle. Workers comp bound at the quoted premium. Documents built.</a:t>
            </a:r>
            <a:endParaRPr lang="en-US" sz="1200" dirty="0"/>
          </a:p>
        </p:txBody>
      </p:sp>
      <p:sp>
        <p:nvSpPr>
          <p:cNvPr id="19" name="Shape 17"/>
          <p:cNvSpPr/>
          <p:nvPr/>
        </p:nvSpPr>
        <p:spPr>
          <a:xfrm>
            <a:off x="548640" y="4846320"/>
            <a:ext cx="11064240" cy="914400"/>
          </a:xfrm>
          <a:prstGeom prst="rect">
            <a:avLst>
              <a:gd name="adj" fmla="val 8000"/>
            </a:avLst>
          </a:prstGeom>
          <a:solidFill>
            <a:srgbClr val="FFFFFF"/>
          </a:solidFill>
          <a:ln w="12700">
            <a:solidFill>
              <a:srgbClr val="DBE4ED"/>
            </a:solidFill>
            <a:prstDash val="solid"/>
          </a:ln>
        </p:spPr>
      </p:sp>
      <p:sp>
        <p:nvSpPr>
          <p:cNvPr id="20" name="Shape 18"/>
          <p:cNvSpPr/>
          <p:nvPr/>
        </p:nvSpPr>
        <p:spPr>
          <a:xfrm>
            <a:off x="548640" y="4846320"/>
            <a:ext cx="82296" cy="914400"/>
          </a:xfrm>
          <a:prstGeom prst="rect">
            <a:avLst/>
          </a:prstGeom>
          <a:solidFill>
            <a:srgbClr val="788DE3"/>
          </a:solidFill>
          <a:ln/>
        </p:spPr>
      </p:sp>
      <p:sp>
        <p:nvSpPr>
          <p:cNvPr id="21" name="Text 19"/>
          <p:cNvSpPr/>
          <p:nvPr/>
        </p:nvSpPr>
        <p:spPr>
          <a:xfrm>
            <a:off x="777240" y="5029200"/>
            <a:ext cx="548640" cy="548640"/>
          </a:xfrm>
          <a:prstGeom prst="rect">
            <a:avLst/>
          </a:prstGeom>
          <a:noFill/>
          <a:ln/>
        </p:spPr>
        <p:txBody>
          <a:bodyPr wrap="square" rtlCol="0" anchor="ctr"/>
          <a:lstStyle/>
          <a:p>
            <a:pPr indent="0" marL="0">
              <a:buNone/>
            </a:pPr>
            <a:r>
              <a:rPr lang="en-US" sz="2400" dirty="0">
                <a:solidFill>
                  <a:srgbClr val="788DE3"/>
                </a:solidFill>
                <a:latin typeface="Horas" pitchFamily="34" charset="0"/>
                <a:ea typeface="Horas" pitchFamily="34" charset="-122"/>
                <a:cs typeface="Horas" pitchFamily="34" charset="-120"/>
              </a:rPr>
              <a:t>4</a:t>
            </a:r>
            <a:endParaRPr lang="en-US" sz="2400" dirty="0"/>
          </a:p>
        </p:txBody>
      </p:sp>
      <p:sp>
        <p:nvSpPr>
          <p:cNvPr id="22" name="Text 20"/>
          <p:cNvSpPr/>
          <p:nvPr/>
        </p:nvSpPr>
        <p:spPr>
          <a:xfrm>
            <a:off x="1371600" y="4956048"/>
            <a:ext cx="2377440" cy="685800"/>
          </a:xfrm>
          <a:prstGeom prst="rect">
            <a:avLst/>
          </a:prstGeom>
          <a:noFill/>
          <a:ln/>
        </p:spPr>
        <p:txBody>
          <a:bodyPr wrap="square" rtlCol="0" anchor="ctr"/>
          <a:lstStyle/>
          <a:p>
            <a:pPr indent="0" marL="0">
              <a:buNone/>
            </a:pPr>
            <a:r>
              <a:rPr lang="en-US" sz="1300" b="1" dirty="0">
                <a:solidFill>
                  <a:srgbClr val="23304D"/>
                </a:solidFill>
                <a:latin typeface="DM Sans" pitchFamily="34" charset="0"/>
                <a:ea typeface="DM Sans" pitchFamily="34" charset="-122"/>
                <a:cs typeface="DM Sans" pitchFamily="34" charset="-120"/>
              </a:rPr>
              <a:t>Day 30 and after</a:t>
            </a:r>
            <a:endParaRPr lang="en-US" sz="1300" dirty="0"/>
          </a:p>
        </p:txBody>
      </p:sp>
      <p:sp>
        <p:nvSpPr>
          <p:cNvPr id="23" name="Text 21"/>
          <p:cNvSpPr/>
          <p:nvPr/>
        </p:nvSpPr>
        <p:spPr>
          <a:xfrm>
            <a:off x="3749040" y="4937760"/>
            <a:ext cx="7680960" cy="731520"/>
          </a:xfrm>
          <a:prstGeom prst="rect">
            <a:avLst/>
          </a:prstGeom>
          <a:noFill/>
          <a:ln/>
        </p:spPr>
        <p:txBody>
          <a:bodyPr wrap="square" rtlCol="0" anchor="ctr"/>
          <a:lstStyle/>
          <a:p>
            <a:pPr indent="0" marL="0">
              <a:buNone/>
            </a:pPr>
            <a:r>
              <a:rPr lang="en-US" sz="1200" dirty="0">
                <a:solidFill>
                  <a:srgbClr val="23304D"/>
                </a:solidFill>
                <a:latin typeface="DM Sans" pitchFamily="34" charset="0"/>
                <a:ea typeface="DM Sans" pitchFamily="34" charset="-122"/>
                <a:cs typeface="DM Sans" pitchFamily="34" charset="-120"/>
              </a:rPr>
              <a:t>One number to call. Renewals worked 60 to 90 days out. Quarterly review of the numbers on this deck.</a:t>
            </a:r>
            <a:endParaRPr lang="en-US" sz="1200" dirty="0"/>
          </a:p>
        </p:txBody>
      </p:sp>
      <p:sp>
        <p:nvSpPr>
          <p:cNvPr id="24" name="Text 22"/>
          <p:cNvSpPr/>
          <p:nvPr/>
        </p:nvSpPr>
        <p:spPr>
          <a:xfrm>
            <a:off x="566928" y="5943600"/>
            <a:ext cx="10972800" cy="365760"/>
          </a:xfrm>
          <a:prstGeom prst="rect">
            <a:avLst/>
          </a:prstGeom>
          <a:noFill/>
          <a:ln/>
        </p:spPr>
        <p:txBody>
          <a:bodyPr wrap="square" rtlCol="0" anchor="ctr"/>
          <a:lstStyle/>
          <a:p>
            <a:pPr indent="0" marL="0">
              <a:buNone/>
            </a:pPr>
            <a:r>
              <a:rPr lang="en-US" sz="1050" dirty="0">
                <a:solidFill>
                  <a:srgbClr val="5B6577"/>
                </a:solidFill>
                <a:latin typeface="DM Sans" pitchFamily="34" charset="0"/>
                <a:ea typeface="DM Sans" pitchFamily="34" charset="-122"/>
                <a:cs typeface="DM Sans" pitchFamily="34" charset="-120"/>
              </a:rPr>
              <a:t>Setup fees are one time and often waived on an annual plan; annual plans get two months free.</a:t>
            </a:r>
            <a:endParaRPr lang="en-US" sz="1050" dirty="0"/>
          </a:p>
        </p:txBody>
      </p:sp>
      <p:sp>
        <p:nvSpPr>
          <p:cNvPr id="25" name="Text 23"/>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5B6577"/>
                </a:solidFill>
                <a:latin typeface="DM Sans" pitchFamily="34" charset="0"/>
                <a:ea typeface="DM Sans" pitchFamily="34" charset="-122"/>
                <a:cs typeface="DM Sans" pitchFamily="34" charset="-120"/>
              </a:rPr>
              <a:t>Atlas One Solutions</a:t>
            </a:r>
            <a:pPr indent="0" marL="0">
              <a:buNone/>
            </a:pPr>
            <a:r>
              <a:rPr lang="en-US" sz="900" dirty="0">
                <a:solidFill>
                  <a:srgbClr val="5B6577"/>
                </a:solidFill>
                <a:latin typeface="DM Sans" pitchFamily="34" charset="0"/>
                <a:ea typeface="DM Sans" pitchFamily="34" charset="-122"/>
                <a:cs typeface="DM Sans" pitchFamily="34" charset="-120"/>
              </a:rPr>
              <a:t>   ·   One Call Solves Everything.</a:t>
            </a:r>
            <a:endParaRPr lang="en-US" sz="900" dirty="0"/>
          </a:p>
        </p:txBody>
      </p:sp>
      <p:sp>
        <p:nvSpPr>
          <p:cNvPr id="26" name="Text 24"/>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5B6577"/>
                </a:solidFill>
                <a:latin typeface="DM Sans" pitchFamily="34" charset="0"/>
                <a:ea typeface="DM Sans" pitchFamily="34" charset="-122"/>
                <a:cs typeface="DM Sans"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304D"/>
        </a:solidFill>
      </p:bgPr>
    </p:bg>
    <p:spTree>
      <p:nvGrpSpPr>
        <p:cNvPr id="1" name=""/>
        <p:cNvGrpSpPr/>
        <p:nvPr/>
      </p:nvGrpSpPr>
      <p:grpSpPr>
        <a:xfrm>
          <a:off x="0" y="0"/>
          <a:ext cx="0" cy="0"/>
          <a:chOff x="0" y="0"/>
          <a:chExt cx="0" cy="0"/>
        </a:xfrm>
      </p:grpSpPr>
      <p:sp>
        <p:nvSpPr>
          <p:cNvPr id="2" name="Shape 0"/>
          <p:cNvSpPr/>
          <p:nvPr/>
        </p:nvSpPr>
        <p:spPr>
          <a:xfrm>
            <a:off x="548640" y="502920"/>
            <a:ext cx="566928" cy="566928"/>
          </a:xfrm>
          <a:prstGeom prst="rect">
            <a:avLst>
              <a:gd name="adj" fmla="val 14516"/>
            </a:avLst>
          </a:prstGeom>
          <a:solidFill>
            <a:srgbClr val="788DE3"/>
          </a:solidFill>
          <a:ln/>
        </p:spPr>
      </p:sp>
      <p:sp>
        <p:nvSpPr>
          <p:cNvPr id="3" name="Text 1"/>
          <p:cNvSpPr/>
          <p:nvPr/>
        </p:nvSpPr>
        <p:spPr>
          <a:xfrm>
            <a:off x="548640" y="502920"/>
            <a:ext cx="566928" cy="566928"/>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A</a:t>
            </a:r>
            <a:pPr algn="ctr" indent="0" marL="0">
              <a:buNone/>
            </a:pPr>
            <a:r>
              <a:rPr lang="en-US" sz="2200" b="1" dirty="0">
                <a:solidFill>
                  <a:srgbClr val="23304D"/>
                </a:solidFill>
                <a:latin typeface="DM Sans" pitchFamily="34" charset="0"/>
                <a:ea typeface="DM Sans" pitchFamily="34" charset="-122"/>
                <a:cs typeface="DM Sans" pitchFamily="34" charset="-120"/>
              </a:rPr>
              <a:t>1</a:t>
            </a:r>
            <a:endParaRPr lang="en-US" sz="2200" dirty="0"/>
          </a:p>
        </p:txBody>
      </p:sp>
      <p:sp>
        <p:nvSpPr>
          <p:cNvPr id="4" name="Text 2"/>
          <p:cNvSpPr/>
          <p:nvPr/>
        </p:nvSpPr>
        <p:spPr>
          <a:xfrm>
            <a:off x="548640" y="1828800"/>
            <a:ext cx="10972800" cy="822960"/>
          </a:xfrm>
          <a:prstGeom prst="rect">
            <a:avLst/>
          </a:prstGeom>
          <a:noFill/>
          <a:ln/>
        </p:spPr>
        <p:txBody>
          <a:bodyPr wrap="square" rtlCol="0" anchor="ctr"/>
          <a:lstStyle/>
          <a:p>
            <a:pPr indent="0" marL="0">
              <a:buNone/>
            </a:pPr>
            <a:r>
              <a:rPr lang="en-US" sz="3600" dirty="0">
                <a:solidFill>
                  <a:srgbClr val="FFFFFF"/>
                </a:solidFill>
                <a:latin typeface="Horas" pitchFamily="34" charset="0"/>
                <a:ea typeface="Horas" pitchFamily="34" charset="-122"/>
                <a:cs typeface="Horas" pitchFamily="34" charset="-120"/>
              </a:rPr>
              <a:t>One Call Solves Everything.</a:t>
            </a:r>
            <a:endParaRPr lang="en-US" sz="3600" dirty="0"/>
          </a:p>
        </p:txBody>
      </p:sp>
      <p:sp>
        <p:nvSpPr>
          <p:cNvPr id="5" name="Text 3"/>
          <p:cNvSpPr/>
          <p:nvPr/>
        </p:nvSpPr>
        <p:spPr>
          <a:xfrm>
            <a:off x="566928" y="2743200"/>
            <a:ext cx="10607040" cy="548640"/>
          </a:xfrm>
          <a:prstGeom prst="rect">
            <a:avLst/>
          </a:prstGeom>
          <a:noFill/>
          <a:ln/>
        </p:spPr>
        <p:txBody>
          <a:bodyPr wrap="square" rtlCol="0" anchor="ctr"/>
          <a:lstStyle/>
          <a:p>
            <a:pPr indent="0" marL="0">
              <a:buNone/>
            </a:pPr>
            <a:r>
              <a:rPr lang="en-US" sz="1500" dirty="0">
                <a:solidFill>
                  <a:srgbClr val="C9D2EA"/>
                </a:solidFill>
                <a:latin typeface="DM Sans" pitchFamily="34" charset="0"/>
                <a:ea typeface="DM Sans" pitchFamily="34" charset="-122"/>
                <a:cs typeface="DM Sans" pitchFamily="34" charset="-120"/>
              </a:rPr>
              <a:t>Questions on any line of this deck: one call, one person, an answer the same day.</a:t>
            </a:r>
            <a:endParaRPr lang="en-US" sz="1500" dirty="0"/>
          </a:p>
        </p:txBody>
      </p:sp>
      <p:sp>
        <p:nvSpPr>
          <p:cNvPr id="6" name="Shape 4"/>
          <p:cNvSpPr/>
          <p:nvPr/>
        </p:nvSpPr>
        <p:spPr>
          <a:xfrm>
            <a:off x="548640" y="3657600"/>
            <a:ext cx="3566160" cy="1188720"/>
          </a:xfrm>
          <a:prstGeom prst="rect">
            <a:avLst>
              <a:gd name="adj" fmla="val 6154"/>
            </a:avLst>
          </a:prstGeom>
          <a:solidFill>
            <a:srgbClr val="2C3C60"/>
          </a:solidFill>
          <a:ln w="12700">
            <a:solidFill>
              <a:srgbClr val="3A4A70"/>
            </a:solidFill>
            <a:prstDash val="solid"/>
          </a:ln>
        </p:spPr>
      </p:sp>
      <p:sp>
        <p:nvSpPr>
          <p:cNvPr id="7" name="Text 5"/>
          <p:cNvSpPr/>
          <p:nvPr/>
        </p:nvSpPr>
        <p:spPr>
          <a:xfrm>
            <a:off x="777240" y="3794760"/>
            <a:ext cx="310896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CALL OR TEXT</a:t>
            </a:r>
            <a:endParaRPr lang="en-US" sz="1050" dirty="0"/>
          </a:p>
        </p:txBody>
      </p:sp>
      <p:sp>
        <p:nvSpPr>
          <p:cNvPr id="8" name="Text 6"/>
          <p:cNvSpPr/>
          <p:nvPr/>
        </p:nvSpPr>
        <p:spPr>
          <a:xfrm>
            <a:off x="777240" y="4114800"/>
            <a:ext cx="3200400" cy="548640"/>
          </a:xfrm>
          <a:prstGeom prst="rect">
            <a:avLst/>
          </a:prstGeom>
          <a:noFill/>
          <a:ln/>
        </p:spPr>
        <p:txBody>
          <a:bodyPr wrap="square"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385-213-7177</a:t>
            </a:r>
            <a:endParaRPr lang="en-US" sz="1500" dirty="0"/>
          </a:p>
        </p:txBody>
      </p:sp>
      <p:sp>
        <p:nvSpPr>
          <p:cNvPr id="9" name="Shape 7"/>
          <p:cNvSpPr/>
          <p:nvPr/>
        </p:nvSpPr>
        <p:spPr>
          <a:xfrm>
            <a:off x="4297680" y="3657600"/>
            <a:ext cx="3566160" cy="1188720"/>
          </a:xfrm>
          <a:prstGeom prst="rect">
            <a:avLst>
              <a:gd name="adj" fmla="val 6154"/>
            </a:avLst>
          </a:prstGeom>
          <a:solidFill>
            <a:srgbClr val="2C3C60"/>
          </a:solidFill>
          <a:ln w="12700">
            <a:solidFill>
              <a:srgbClr val="3A4A70"/>
            </a:solidFill>
            <a:prstDash val="solid"/>
          </a:ln>
        </p:spPr>
      </p:sp>
      <p:sp>
        <p:nvSpPr>
          <p:cNvPr id="10" name="Text 8"/>
          <p:cNvSpPr/>
          <p:nvPr/>
        </p:nvSpPr>
        <p:spPr>
          <a:xfrm>
            <a:off x="4526280" y="3794760"/>
            <a:ext cx="310896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EMAIL</a:t>
            </a:r>
            <a:endParaRPr lang="en-US" sz="1050" dirty="0"/>
          </a:p>
        </p:txBody>
      </p:sp>
      <p:sp>
        <p:nvSpPr>
          <p:cNvPr id="11" name="Text 9"/>
          <p:cNvSpPr/>
          <p:nvPr/>
        </p:nvSpPr>
        <p:spPr>
          <a:xfrm>
            <a:off x="4526280" y="4114800"/>
            <a:ext cx="3200400" cy="548640"/>
          </a:xfrm>
          <a:prstGeom prst="rect">
            <a:avLst/>
          </a:prstGeom>
          <a:noFill/>
          <a:ln/>
        </p:spPr>
        <p:txBody>
          <a:bodyPr wrap="square"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David@AtlasOneSolutions.com</a:t>
            </a:r>
            <a:endParaRPr lang="en-US" sz="1500" dirty="0"/>
          </a:p>
        </p:txBody>
      </p:sp>
      <p:sp>
        <p:nvSpPr>
          <p:cNvPr id="12" name="Shape 10"/>
          <p:cNvSpPr/>
          <p:nvPr/>
        </p:nvSpPr>
        <p:spPr>
          <a:xfrm>
            <a:off x="8046720" y="3657600"/>
            <a:ext cx="3566160" cy="1188720"/>
          </a:xfrm>
          <a:prstGeom prst="rect">
            <a:avLst>
              <a:gd name="adj" fmla="val 6154"/>
            </a:avLst>
          </a:prstGeom>
          <a:solidFill>
            <a:srgbClr val="2C3C60"/>
          </a:solidFill>
          <a:ln w="12700">
            <a:solidFill>
              <a:srgbClr val="3A4A70"/>
            </a:solidFill>
            <a:prstDash val="solid"/>
          </a:ln>
        </p:spPr>
      </p:sp>
      <p:sp>
        <p:nvSpPr>
          <p:cNvPr id="13" name="Text 11"/>
          <p:cNvSpPr/>
          <p:nvPr/>
        </p:nvSpPr>
        <p:spPr>
          <a:xfrm>
            <a:off x="8275320" y="3794760"/>
            <a:ext cx="3108960" cy="320040"/>
          </a:xfrm>
          <a:prstGeom prst="rect">
            <a:avLst/>
          </a:prstGeom>
          <a:noFill/>
          <a:ln/>
        </p:spPr>
        <p:txBody>
          <a:bodyPr wrap="square" rtlCol="0" anchor="ctr"/>
          <a:lstStyle/>
          <a:p>
            <a:pPr indent="0" marL="0">
              <a:buNone/>
            </a:pPr>
            <a:r>
              <a:rPr lang="en-US" sz="1050" b="1" spc="100" kern="0" dirty="0">
                <a:solidFill>
                  <a:srgbClr val="9FB0D8"/>
                </a:solidFill>
                <a:latin typeface="DM Sans" pitchFamily="34" charset="0"/>
                <a:ea typeface="DM Sans" pitchFamily="34" charset="-122"/>
                <a:cs typeface="DM Sans" pitchFamily="34" charset="-120"/>
              </a:rPr>
              <a:t>WEB</a:t>
            </a:r>
            <a:endParaRPr lang="en-US" sz="1050" dirty="0"/>
          </a:p>
        </p:txBody>
      </p:sp>
      <p:sp>
        <p:nvSpPr>
          <p:cNvPr id="14" name="Text 12"/>
          <p:cNvSpPr/>
          <p:nvPr/>
        </p:nvSpPr>
        <p:spPr>
          <a:xfrm>
            <a:off x="8275320" y="4114800"/>
            <a:ext cx="3200400" cy="548640"/>
          </a:xfrm>
          <a:prstGeom prst="rect">
            <a:avLst/>
          </a:prstGeom>
          <a:noFill/>
          <a:ln/>
        </p:spPr>
        <p:txBody>
          <a:bodyPr wrap="square"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AtlasOneSolutions.com</a:t>
            </a:r>
            <a:endParaRPr lang="en-US" sz="1500" dirty="0"/>
          </a:p>
        </p:txBody>
      </p:sp>
      <p:sp>
        <p:nvSpPr>
          <p:cNvPr id="15" name="Text 13"/>
          <p:cNvSpPr/>
          <p:nvPr/>
        </p:nvSpPr>
        <p:spPr>
          <a:xfrm>
            <a:off x="566928" y="5212080"/>
            <a:ext cx="10972800" cy="365760"/>
          </a:xfrm>
          <a:prstGeom prst="rect">
            <a:avLst/>
          </a:prstGeom>
          <a:noFill/>
          <a:ln/>
        </p:spPr>
        <p:txBody>
          <a:bodyPr wrap="square" rtlCol="0" anchor="ctr"/>
          <a:lstStyle/>
          <a:p>
            <a:pPr indent="0" marL="0">
              <a:buNone/>
            </a:pPr>
            <a:r>
              <a:rPr lang="en-US" sz="1400" b="1" dirty="0">
                <a:solidFill>
                  <a:srgbClr val="FFFFFF"/>
                </a:solidFill>
                <a:latin typeface="DM Sans" pitchFamily="34" charset="0"/>
                <a:ea typeface="DM Sans" pitchFamily="34" charset="-122"/>
                <a:cs typeface="DM Sans" pitchFamily="34" charset="-120"/>
              </a:rPr>
              <a:t>David Taylor, Atlas One Solutions</a:t>
            </a:r>
            <a:endParaRPr lang="en-US" sz="1400" dirty="0"/>
          </a:p>
        </p:txBody>
      </p:sp>
      <p:sp>
        <p:nvSpPr>
          <p:cNvPr id="16" name="Text 14"/>
          <p:cNvSpPr/>
          <p:nvPr/>
        </p:nvSpPr>
        <p:spPr>
          <a:xfrm>
            <a:off x="566928" y="5623560"/>
            <a:ext cx="10972800" cy="365760"/>
          </a:xfrm>
          <a:prstGeom prst="rect">
            <a:avLst/>
          </a:prstGeom>
          <a:noFill/>
          <a:ln/>
        </p:spPr>
        <p:txBody>
          <a:bodyPr wrap="square" rtlCol="0" anchor="ctr"/>
          <a:lstStyle/>
          <a:p>
            <a:pPr indent="0" marL="0">
              <a:buNone/>
            </a:pPr>
            <a:r>
              <a:rPr lang="en-US" sz="1200" dirty="0">
                <a:solidFill>
                  <a:srgbClr val="9FB0D8"/>
                </a:solidFill>
                <a:latin typeface="DM Sans" pitchFamily="34" charset="0"/>
                <a:ea typeface="DM Sans" pitchFamily="34" charset="-122"/>
                <a:cs typeface="DM Sans" pitchFamily="34" charset="-120"/>
              </a:rPr>
              <a:t>Prepared for Ridgeline Concrete LLC on September 13, 2026.</a:t>
            </a:r>
            <a:endParaRPr lang="en-US" sz="1200" dirty="0"/>
          </a:p>
        </p:txBody>
      </p:sp>
      <p:sp>
        <p:nvSpPr>
          <p:cNvPr id="17" name="Text 15"/>
          <p:cNvSpPr/>
          <p:nvPr/>
        </p:nvSpPr>
        <p:spPr>
          <a:xfrm>
            <a:off x="548640" y="6419088"/>
            <a:ext cx="11064240" cy="274320"/>
          </a:xfrm>
          <a:prstGeom prst="rect">
            <a:avLst/>
          </a:prstGeom>
          <a:noFill/>
          <a:ln/>
        </p:spPr>
        <p:txBody>
          <a:bodyPr wrap="square" rtlCol="0" anchor="ctr"/>
          <a:lstStyle/>
          <a:p>
            <a:pPr indent="0" marL="0">
              <a:buNone/>
            </a:pPr>
            <a:r>
              <a:rPr lang="en-US" sz="900" b="1" dirty="0">
                <a:solidFill>
                  <a:srgbClr val="9FB0D8"/>
                </a:solidFill>
                <a:latin typeface="DM Sans" pitchFamily="34" charset="0"/>
                <a:ea typeface="DM Sans" pitchFamily="34" charset="-122"/>
                <a:cs typeface="DM Sans" pitchFamily="34" charset="-120"/>
              </a:rPr>
              <a:t>Atlas One Solutions</a:t>
            </a:r>
            <a:pPr indent="0" marL="0">
              <a:buNone/>
            </a:pPr>
            <a:r>
              <a:rPr lang="en-US" sz="900" dirty="0">
                <a:solidFill>
                  <a:srgbClr val="9FB0D8"/>
                </a:solidFill>
                <a:latin typeface="DM Sans" pitchFamily="34" charset="0"/>
                <a:ea typeface="DM Sans" pitchFamily="34" charset="-122"/>
                <a:cs typeface="DM Sans" pitchFamily="34" charset="-120"/>
              </a:rPr>
              <a:t>   ·   One Call Solves Everything.</a:t>
            </a:r>
            <a:endParaRPr lang="en-US" sz="900" dirty="0"/>
          </a:p>
        </p:txBody>
      </p:sp>
      <p:sp>
        <p:nvSpPr>
          <p:cNvPr id="18" name="Text 16"/>
          <p:cNvSpPr/>
          <p:nvPr/>
        </p:nvSpPr>
        <p:spPr>
          <a:xfrm>
            <a:off x="10698480" y="6419088"/>
            <a:ext cx="914400" cy="274320"/>
          </a:xfrm>
          <a:prstGeom prst="rect">
            <a:avLst/>
          </a:prstGeom>
          <a:noFill/>
          <a:ln/>
        </p:spPr>
        <p:txBody>
          <a:bodyPr wrap="square" rtlCol="0" anchor="ctr"/>
          <a:lstStyle/>
          <a:p>
            <a:pPr algn="r" indent="0" marL="0">
              <a:buNone/>
            </a:pPr>
            <a:r>
              <a:rPr lang="en-US" sz="900" dirty="0">
                <a:solidFill>
                  <a:srgbClr val="9FB0D8"/>
                </a:solidFill>
                <a:latin typeface="DM Sans" pitchFamily="34" charset="0"/>
                <a:ea typeface="DM Sans" pitchFamily="34" charset="-122"/>
                <a:cs typeface="DM Sans"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Atlas One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Atlas One proposal for Ridgeline Concrete LLC</dc:title>
  <dc:subject>PptxGenJS Presentation</dc:subject>
  <dc:creator>Atlas One Solutions</dc:creator>
  <cp:lastModifiedBy>Atlas One Solutions</cp:lastModifiedBy>
  <cp:revision>1</cp:revision>
  <dcterms:created xsi:type="dcterms:W3CDTF">2026-09-13T15:33:25Z</dcterms:created>
  <dcterms:modified xsi:type="dcterms:W3CDTF">2026-09-13T15:33:25Z</dcterms:modified>
</cp:coreProperties>
</file>