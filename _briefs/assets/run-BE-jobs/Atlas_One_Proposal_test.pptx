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1234440" y="548640"/>
            <a:ext cx="8229600" cy="457200"/>
          </a:xfrm>
          <a:prstGeom prst="rect">
            <a:avLst/>
          </a:prstGeom>
          <a:noFill/>
          <a:ln/>
        </p:spPr>
        <p:txBody>
          <a:bodyPr wrap="square" rtlCol="0" anchor="ctr"/>
          <a:lstStyle/>
          <a:p>
            <a:pPr indent="0" marL="0">
              <a:buNone/>
            </a:pPr>
            <a:r>
              <a:rPr lang="en-US" sz="1300" b="1" spc="200" kern="0" dirty="0">
                <a:solidFill>
                  <a:srgbClr val="788DE3"/>
                </a:solidFill>
                <a:latin typeface="DM Sans" pitchFamily="34" charset="0"/>
                <a:ea typeface="DM Sans" pitchFamily="34" charset="-122"/>
                <a:cs typeface="DM Sans" pitchFamily="34" charset="-120"/>
              </a:rPr>
              <a:t>ATLAS ONE SOLUTIONS</a:t>
            </a:r>
            <a:endParaRPr lang="en-US" sz="1300" dirty="0"/>
          </a:p>
        </p:txBody>
      </p:sp>
      <p:sp>
        <p:nvSpPr>
          <p:cNvPr id="5" name="Text 3"/>
          <p:cNvSpPr/>
          <p:nvPr/>
        </p:nvSpPr>
        <p:spPr>
          <a:xfrm>
            <a:off x="548640" y="2194560"/>
            <a:ext cx="10972800" cy="822960"/>
          </a:xfrm>
          <a:prstGeom prst="rect">
            <a:avLst/>
          </a:prstGeom>
          <a:noFill/>
          <a:ln/>
        </p:spPr>
        <p:txBody>
          <a:bodyPr wrap="square" rtlCol="0" anchor="ctr"/>
          <a:lstStyle/>
          <a:p>
            <a:pPr indent="0" marL="0">
              <a:buNone/>
            </a:pPr>
            <a:r>
              <a:rPr lang="en-US" sz="4000" dirty="0">
                <a:solidFill>
                  <a:srgbClr val="FFFFFF"/>
                </a:solidFill>
                <a:latin typeface="Horas" pitchFamily="34" charset="0"/>
                <a:ea typeface="Horas" pitchFamily="34" charset="-122"/>
                <a:cs typeface="Horas" pitchFamily="34" charset="-120"/>
              </a:rPr>
              <a:t>Your proposal, in plain numbers</a:t>
            </a:r>
            <a:endParaRPr lang="en-US" sz="4000" dirty="0"/>
          </a:p>
        </p:txBody>
      </p:sp>
      <p:sp>
        <p:nvSpPr>
          <p:cNvPr id="6" name="Text 4"/>
          <p:cNvSpPr/>
          <p:nvPr/>
        </p:nvSpPr>
        <p:spPr>
          <a:xfrm>
            <a:off x="566928" y="3154680"/>
            <a:ext cx="10972800" cy="457200"/>
          </a:xfrm>
          <a:prstGeom prst="rect">
            <a:avLst/>
          </a:prstGeom>
          <a:noFill/>
          <a:ln/>
        </p:spPr>
        <p:txBody>
          <a:bodyPr wrap="square" rtlCol="0" anchor="ctr"/>
          <a:lstStyle/>
          <a:p>
            <a:pPr indent="0" marL="0">
              <a:buNone/>
            </a:pPr>
            <a:r>
              <a:rPr lang="en-US" sz="2000" dirty="0">
                <a:solidFill>
                  <a:srgbClr val="C9D2EA"/>
                </a:solidFill>
                <a:latin typeface="DM Sans" pitchFamily="34" charset="0"/>
                <a:ea typeface="DM Sans" pitchFamily="34" charset="-122"/>
                <a:cs typeface="DM Sans" pitchFamily="34" charset="-120"/>
              </a:rPr>
              <a:t>Prepared for Tell Me More LLC (SAMPLE)</a:t>
            </a:r>
            <a:endParaRPr lang="en-US" sz="2000" dirty="0"/>
          </a:p>
        </p:txBody>
      </p:sp>
      <p:sp>
        <p:nvSpPr>
          <p:cNvPr id="7" name="Text 5"/>
          <p:cNvSpPr/>
          <p:nvPr/>
        </p:nvSpPr>
        <p:spPr>
          <a:xfrm>
            <a:off x="566928" y="5212080"/>
            <a:ext cx="109728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One Call Solves Everything.</a:t>
            </a:r>
            <a:endParaRPr lang="en-US" sz="2000" dirty="0"/>
          </a:p>
        </p:txBody>
      </p:sp>
      <p:sp>
        <p:nvSpPr>
          <p:cNvPr id="8" name="Text 6"/>
          <p:cNvSpPr/>
          <p:nvPr/>
        </p:nvSpPr>
        <p:spPr>
          <a:xfrm>
            <a:off x="566928" y="5715000"/>
            <a:ext cx="10972800" cy="365760"/>
          </a:xfrm>
          <a:prstGeom prst="rect">
            <a:avLst/>
          </a:prstGeom>
          <a:noFill/>
          <a:ln/>
        </p:spPr>
        <p:txBody>
          <a:bodyPr wrap="square" rtlCol="0" anchor="ctr"/>
          <a:lstStyle/>
          <a:p>
            <a:pPr indent="0" marL="0">
              <a:buNone/>
            </a:pPr>
            <a:r>
              <a:rPr lang="en-US" sz="1200" dirty="0">
                <a:solidFill>
                  <a:srgbClr val="9FB0D8"/>
                </a:solidFill>
                <a:latin typeface="DM Sans" pitchFamily="34" charset="0"/>
                <a:ea typeface="DM Sans" pitchFamily="34" charset="-122"/>
                <a:cs typeface="DM Sans" pitchFamily="34" charset="-120"/>
              </a:rPr>
              <a:t>September 16, 2026   ·   Prepared by David Taylor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One relationship replaces 10 to 20 vendors</a:t>
            </a:r>
            <a:endParaRPr lang="en-US" sz="2800" dirty="0"/>
          </a:p>
        </p:txBody>
      </p:sp>
      <p:sp>
        <p:nvSpPr>
          <p:cNvPr id="3" name="Text 1"/>
          <p:cNvSpPr/>
          <p:nvPr/>
        </p:nvSpPr>
        <p:spPr>
          <a:xfrm>
            <a:off x="566928" y="1051560"/>
            <a:ext cx="10972800" cy="365760"/>
          </a:xfrm>
          <a:prstGeom prst="rect">
            <a:avLst/>
          </a:prstGeom>
          <a:noFill/>
          <a:ln/>
        </p:spPr>
        <p:txBody>
          <a:bodyPr wrap="square" rtlCol="0" anchor="ctr"/>
          <a:lstStyle/>
          <a:p>
            <a:pPr indent="0" marL="0">
              <a:buNone/>
            </a:pPr>
            <a:r>
              <a:rPr lang="en-US" sz="1400" dirty="0">
                <a:solidFill>
                  <a:srgbClr val="5B6577"/>
                </a:solidFill>
                <a:latin typeface="DM Sans" pitchFamily="34" charset="0"/>
                <a:ea typeface="DM Sans" pitchFamily="34" charset="-122"/>
                <a:cs typeface="DM Sans" pitchFamily="34" charset="-120"/>
              </a:rPr>
              <a:t>One point of contact across all six divisions of your back office.</a:t>
            </a:r>
            <a:endParaRPr lang="en-US" sz="1400" dirty="0"/>
          </a:p>
        </p:txBody>
      </p:sp>
      <p:sp>
        <p:nvSpPr>
          <p:cNvPr id="4" name="Shape 2"/>
          <p:cNvSpPr/>
          <p:nvPr/>
        </p:nvSpPr>
        <p:spPr>
          <a:xfrm>
            <a:off x="548640" y="1691640"/>
            <a:ext cx="3566160" cy="1874520"/>
          </a:xfrm>
          <a:prstGeom prst="rect">
            <a:avLst>
              <a:gd name="adj" fmla="val 3902"/>
            </a:avLst>
          </a:prstGeom>
          <a:solidFill>
            <a:srgbClr val="FFFFFF"/>
          </a:solidFill>
          <a:ln w="12700">
            <a:solidFill>
              <a:srgbClr val="DBE4ED"/>
            </a:solidFill>
            <a:prstDash val="solid"/>
          </a:ln>
        </p:spPr>
      </p:sp>
      <p:sp>
        <p:nvSpPr>
          <p:cNvPr id="5" name="Shape 3"/>
          <p:cNvSpPr/>
          <p:nvPr/>
        </p:nvSpPr>
        <p:spPr>
          <a:xfrm>
            <a:off x="548640" y="1691640"/>
            <a:ext cx="82296" cy="1874520"/>
          </a:xfrm>
          <a:prstGeom prst="rect">
            <a:avLst/>
          </a:prstGeom>
          <a:solidFill>
            <a:srgbClr val="788DE3"/>
          </a:solidFill>
          <a:ln/>
        </p:spPr>
      </p:sp>
      <p:sp>
        <p:nvSpPr>
          <p:cNvPr id="6" name="Text 4"/>
          <p:cNvSpPr/>
          <p:nvPr/>
        </p:nvSpPr>
        <p:spPr>
          <a:xfrm>
            <a:off x="804672"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Workforce &amp; HR</a:t>
            </a:r>
            <a:endParaRPr lang="en-US" sz="1600" dirty="0"/>
          </a:p>
        </p:txBody>
      </p:sp>
      <p:sp>
        <p:nvSpPr>
          <p:cNvPr id="7" name="Text 5"/>
          <p:cNvSpPr/>
          <p:nvPr/>
        </p:nvSpPr>
        <p:spPr>
          <a:xfrm>
            <a:off x="804672"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Payroll, HR, handbooks, time &amp; PTO, screening</a:t>
            </a:r>
            <a:endParaRPr lang="en-US" sz="1150" dirty="0"/>
          </a:p>
        </p:txBody>
      </p:sp>
      <p:sp>
        <p:nvSpPr>
          <p:cNvPr id="8" name="Shape 6"/>
          <p:cNvSpPr/>
          <p:nvPr/>
        </p:nvSpPr>
        <p:spPr>
          <a:xfrm>
            <a:off x="4315968" y="1691640"/>
            <a:ext cx="3566160" cy="1874520"/>
          </a:xfrm>
          <a:prstGeom prst="rect">
            <a:avLst>
              <a:gd name="adj" fmla="val 3902"/>
            </a:avLst>
          </a:prstGeom>
          <a:solidFill>
            <a:srgbClr val="FFFFFF"/>
          </a:solidFill>
          <a:ln w="12700">
            <a:solidFill>
              <a:srgbClr val="DBE4ED"/>
            </a:solidFill>
            <a:prstDash val="solid"/>
          </a:ln>
        </p:spPr>
      </p:sp>
      <p:sp>
        <p:nvSpPr>
          <p:cNvPr id="9" name="Shape 7"/>
          <p:cNvSpPr/>
          <p:nvPr/>
        </p:nvSpPr>
        <p:spPr>
          <a:xfrm>
            <a:off x="4315968" y="1691640"/>
            <a:ext cx="82296" cy="1874520"/>
          </a:xfrm>
          <a:prstGeom prst="rect">
            <a:avLst/>
          </a:prstGeom>
          <a:solidFill>
            <a:srgbClr val="788DE3"/>
          </a:solidFill>
          <a:ln/>
        </p:spPr>
      </p:sp>
      <p:sp>
        <p:nvSpPr>
          <p:cNvPr id="10" name="Text 8"/>
          <p:cNvSpPr/>
          <p:nvPr/>
        </p:nvSpPr>
        <p:spPr>
          <a:xfrm>
            <a:off x="4572000"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Benefits &amp; Retirement</a:t>
            </a:r>
            <a:endParaRPr lang="en-US" sz="1600" dirty="0"/>
          </a:p>
        </p:txBody>
      </p:sp>
      <p:sp>
        <p:nvSpPr>
          <p:cNvPr id="11" name="Text 9"/>
          <p:cNvSpPr/>
          <p:nvPr/>
        </p:nvSpPr>
        <p:spPr>
          <a:xfrm>
            <a:off x="4572000"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Health, dental, vision, life, 401(k), ACA/COBRA</a:t>
            </a:r>
            <a:endParaRPr lang="en-US" sz="1150" dirty="0"/>
          </a:p>
        </p:txBody>
      </p:sp>
      <p:sp>
        <p:nvSpPr>
          <p:cNvPr id="12" name="Shape 10"/>
          <p:cNvSpPr/>
          <p:nvPr/>
        </p:nvSpPr>
        <p:spPr>
          <a:xfrm>
            <a:off x="8083296" y="1691640"/>
            <a:ext cx="3566160" cy="1874520"/>
          </a:xfrm>
          <a:prstGeom prst="rect">
            <a:avLst>
              <a:gd name="adj" fmla="val 3902"/>
            </a:avLst>
          </a:prstGeom>
          <a:solidFill>
            <a:srgbClr val="FFFFFF"/>
          </a:solidFill>
          <a:ln w="12700">
            <a:solidFill>
              <a:srgbClr val="DBE4ED"/>
            </a:solidFill>
            <a:prstDash val="solid"/>
          </a:ln>
        </p:spPr>
      </p:sp>
      <p:sp>
        <p:nvSpPr>
          <p:cNvPr id="13" name="Shape 11"/>
          <p:cNvSpPr/>
          <p:nvPr/>
        </p:nvSpPr>
        <p:spPr>
          <a:xfrm>
            <a:off x="8083296" y="1691640"/>
            <a:ext cx="82296" cy="1874520"/>
          </a:xfrm>
          <a:prstGeom prst="rect">
            <a:avLst/>
          </a:prstGeom>
          <a:solidFill>
            <a:srgbClr val="788DE3"/>
          </a:solidFill>
          <a:ln/>
        </p:spPr>
      </p:sp>
      <p:sp>
        <p:nvSpPr>
          <p:cNvPr id="14" name="Text 12"/>
          <p:cNvSpPr/>
          <p:nvPr/>
        </p:nvSpPr>
        <p:spPr>
          <a:xfrm>
            <a:off x="8339328" y="189280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Financial Services</a:t>
            </a:r>
            <a:endParaRPr lang="en-US" sz="1600" dirty="0"/>
          </a:p>
        </p:txBody>
      </p:sp>
      <p:sp>
        <p:nvSpPr>
          <p:cNvPr id="15" name="Text 13"/>
          <p:cNvSpPr/>
          <p:nvPr/>
        </p:nvSpPr>
        <p:spPr>
          <a:xfrm>
            <a:off x="8339328" y="240487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Bookkeeping, tax strategy, fractional CFO</a:t>
            </a:r>
            <a:endParaRPr lang="en-US" sz="1150" dirty="0"/>
          </a:p>
        </p:txBody>
      </p:sp>
      <p:sp>
        <p:nvSpPr>
          <p:cNvPr id="16" name="Shape 14"/>
          <p:cNvSpPr/>
          <p:nvPr/>
        </p:nvSpPr>
        <p:spPr>
          <a:xfrm>
            <a:off x="548640" y="3840480"/>
            <a:ext cx="3566160" cy="1874520"/>
          </a:xfrm>
          <a:prstGeom prst="rect">
            <a:avLst>
              <a:gd name="adj" fmla="val 3902"/>
            </a:avLst>
          </a:prstGeom>
          <a:solidFill>
            <a:srgbClr val="FFFFFF"/>
          </a:solidFill>
          <a:ln w="12700">
            <a:solidFill>
              <a:srgbClr val="DBE4ED"/>
            </a:solidFill>
            <a:prstDash val="solid"/>
          </a:ln>
        </p:spPr>
      </p:sp>
      <p:sp>
        <p:nvSpPr>
          <p:cNvPr id="17" name="Shape 15"/>
          <p:cNvSpPr/>
          <p:nvPr/>
        </p:nvSpPr>
        <p:spPr>
          <a:xfrm>
            <a:off x="548640" y="3840480"/>
            <a:ext cx="82296" cy="1874520"/>
          </a:xfrm>
          <a:prstGeom prst="rect">
            <a:avLst/>
          </a:prstGeom>
          <a:solidFill>
            <a:srgbClr val="788DE3"/>
          </a:solidFill>
          <a:ln/>
        </p:spPr>
      </p:sp>
      <p:sp>
        <p:nvSpPr>
          <p:cNvPr id="18" name="Text 16"/>
          <p:cNvSpPr/>
          <p:nvPr/>
        </p:nvSpPr>
        <p:spPr>
          <a:xfrm>
            <a:off x="804672"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Risk &amp; Insurance</a:t>
            </a:r>
            <a:endParaRPr lang="en-US" sz="1600" dirty="0"/>
          </a:p>
        </p:txBody>
      </p:sp>
      <p:sp>
        <p:nvSpPr>
          <p:cNvPr id="19" name="Text 17"/>
          <p:cNvSpPr/>
          <p:nvPr/>
        </p:nvSpPr>
        <p:spPr>
          <a:xfrm>
            <a:off x="804672"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Workers' comp, GL, cyber, property, E&amp;O</a:t>
            </a:r>
            <a:endParaRPr lang="en-US" sz="1150" dirty="0"/>
          </a:p>
        </p:txBody>
      </p:sp>
      <p:sp>
        <p:nvSpPr>
          <p:cNvPr id="20" name="Shape 18"/>
          <p:cNvSpPr/>
          <p:nvPr/>
        </p:nvSpPr>
        <p:spPr>
          <a:xfrm>
            <a:off x="4315968" y="3840480"/>
            <a:ext cx="3566160" cy="1874520"/>
          </a:xfrm>
          <a:prstGeom prst="rect">
            <a:avLst>
              <a:gd name="adj" fmla="val 3902"/>
            </a:avLst>
          </a:prstGeom>
          <a:solidFill>
            <a:srgbClr val="FFFFFF"/>
          </a:solidFill>
          <a:ln w="12700">
            <a:solidFill>
              <a:srgbClr val="DBE4ED"/>
            </a:solidFill>
            <a:prstDash val="solid"/>
          </a:ln>
        </p:spPr>
      </p:sp>
      <p:sp>
        <p:nvSpPr>
          <p:cNvPr id="21" name="Shape 19"/>
          <p:cNvSpPr/>
          <p:nvPr/>
        </p:nvSpPr>
        <p:spPr>
          <a:xfrm>
            <a:off x="4315968" y="3840480"/>
            <a:ext cx="82296" cy="1874520"/>
          </a:xfrm>
          <a:prstGeom prst="rect">
            <a:avLst/>
          </a:prstGeom>
          <a:solidFill>
            <a:srgbClr val="788DE3"/>
          </a:solidFill>
          <a:ln/>
        </p:spPr>
      </p:sp>
      <p:sp>
        <p:nvSpPr>
          <p:cNvPr id="22" name="Text 20"/>
          <p:cNvSpPr/>
          <p:nvPr/>
        </p:nvSpPr>
        <p:spPr>
          <a:xfrm>
            <a:off x="4572000"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Technology &amp; Operations</a:t>
            </a:r>
            <a:endParaRPr lang="en-US" sz="1600" dirty="0"/>
          </a:p>
        </p:txBody>
      </p:sp>
      <p:sp>
        <p:nvSpPr>
          <p:cNvPr id="23" name="Text 21"/>
          <p:cNvSpPr/>
          <p:nvPr/>
        </p:nvSpPr>
        <p:spPr>
          <a:xfrm>
            <a:off x="4572000"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Software &amp; CRM, automation, IT, AI assistants</a:t>
            </a:r>
            <a:endParaRPr lang="en-US" sz="1150" dirty="0"/>
          </a:p>
        </p:txBody>
      </p:sp>
      <p:sp>
        <p:nvSpPr>
          <p:cNvPr id="24" name="Shape 22"/>
          <p:cNvSpPr/>
          <p:nvPr/>
        </p:nvSpPr>
        <p:spPr>
          <a:xfrm>
            <a:off x="8083296" y="3840480"/>
            <a:ext cx="3566160" cy="1874520"/>
          </a:xfrm>
          <a:prstGeom prst="rect">
            <a:avLst>
              <a:gd name="adj" fmla="val 3902"/>
            </a:avLst>
          </a:prstGeom>
          <a:solidFill>
            <a:srgbClr val="FFFFFF"/>
          </a:solidFill>
          <a:ln w="12700">
            <a:solidFill>
              <a:srgbClr val="DBE4ED"/>
            </a:solidFill>
            <a:prstDash val="solid"/>
          </a:ln>
        </p:spPr>
      </p:sp>
      <p:sp>
        <p:nvSpPr>
          <p:cNvPr id="25" name="Shape 23"/>
          <p:cNvSpPr/>
          <p:nvPr/>
        </p:nvSpPr>
        <p:spPr>
          <a:xfrm>
            <a:off x="8083296" y="3840480"/>
            <a:ext cx="82296" cy="1874520"/>
          </a:xfrm>
          <a:prstGeom prst="rect">
            <a:avLst/>
          </a:prstGeom>
          <a:solidFill>
            <a:srgbClr val="788DE3"/>
          </a:solidFill>
          <a:ln/>
        </p:spPr>
      </p:sp>
      <p:sp>
        <p:nvSpPr>
          <p:cNvPr id="26" name="Text 24"/>
          <p:cNvSpPr/>
          <p:nvPr/>
        </p:nvSpPr>
        <p:spPr>
          <a:xfrm>
            <a:off x="8339328" y="4041648"/>
            <a:ext cx="3200400" cy="45720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Business Consulting</a:t>
            </a:r>
            <a:endParaRPr lang="en-US" sz="1600" dirty="0"/>
          </a:p>
        </p:txBody>
      </p:sp>
      <p:sp>
        <p:nvSpPr>
          <p:cNvPr id="27" name="Text 25"/>
          <p:cNvSpPr/>
          <p:nvPr/>
        </p:nvSpPr>
        <p:spPr>
          <a:xfrm>
            <a:off x="8339328" y="4553712"/>
            <a:ext cx="3154680" cy="1005840"/>
          </a:xfrm>
          <a:prstGeom prst="rect">
            <a:avLst/>
          </a:prstGeom>
          <a:noFill/>
          <a:ln/>
        </p:spPr>
        <p:txBody>
          <a:bodyPr wrap="square" rtlCol="0" anchor="t"/>
          <a:lstStyle/>
          <a:p>
            <a:pPr indent="0" marL="0">
              <a:buNone/>
            </a:pPr>
            <a:r>
              <a:rPr lang="en-US" sz="1150" dirty="0">
                <a:solidFill>
                  <a:srgbClr val="5B6577"/>
                </a:solidFill>
                <a:latin typeface="DM Sans" pitchFamily="34" charset="0"/>
                <a:ea typeface="DM Sans" pitchFamily="34" charset="-122"/>
                <a:cs typeface="DM Sans" pitchFamily="34" charset="-120"/>
              </a:rPr>
              <a:t>Vendor audit, ROI analysis, brand, strategy</a:t>
            </a:r>
            <a:endParaRPr lang="en-US" sz="1150" dirty="0"/>
          </a:p>
        </p:txBody>
      </p:sp>
      <p:sp>
        <p:nvSpPr>
          <p:cNvPr id="28" name="Text 26"/>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Your payroll line</a:t>
            </a:r>
            <a:endParaRPr lang="en-US" sz="2800" dirty="0"/>
          </a:p>
        </p:txBody>
      </p:sp>
      <p:sp>
        <p:nvSpPr>
          <p:cNvPr id="3" name="Shape 1"/>
          <p:cNvSpPr/>
          <p:nvPr/>
        </p:nvSpPr>
        <p:spPr>
          <a:xfrm>
            <a:off x="548640" y="1463040"/>
            <a:ext cx="11064240" cy="2651760"/>
          </a:xfrm>
          <a:prstGeom prst="rect">
            <a:avLst>
              <a:gd name="adj" fmla="val 3448"/>
            </a:avLst>
          </a:prstGeom>
          <a:solidFill>
            <a:srgbClr val="23304D"/>
          </a:solidFill>
          <a:ln/>
        </p:spPr>
      </p:sp>
      <p:sp>
        <p:nvSpPr>
          <p:cNvPr id="4" name="Text 2"/>
          <p:cNvSpPr/>
          <p:nvPr/>
        </p:nvSpPr>
        <p:spPr>
          <a:xfrm>
            <a:off x="914400" y="1783080"/>
            <a:ext cx="6400800" cy="365760"/>
          </a:xfrm>
          <a:prstGeom prst="rect">
            <a:avLst/>
          </a:prstGeom>
          <a:noFill/>
          <a:ln/>
        </p:spPr>
        <p:txBody>
          <a:bodyPr wrap="square" rtlCol="0" anchor="ctr"/>
          <a:lstStyle/>
          <a:p>
            <a:pPr indent="0" marL="0">
              <a:buNone/>
            </a:pPr>
            <a:r>
              <a:rPr lang="en-US" sz="1300" b="1" spc="100" kern="0" dirty="0">
                <a:solidFill>
                  <a:srgbClr val="788DE3"/>
                </a:solidFill>
                <a:latin typeface="DM Sans" pitchFamily="34" charset="0"/>
                <a:ea typeface="DM Sans" pitchFamily="34" charset="-122"/>
                <a:cs typeface="DM Sans" pitchFamily="34" charset="-120"/>
              </a:rPr>
              <a:t>PEO — PAYROLL</a:t>
            </a:r>
            <a:endParaRPr lang="en-US" sz="1300" dirty="0"/>
          </a:p>
        </p:txBody>
      </p:sp>
      <p:sp>
        <p:nvSpPr>
          <p:cNvPr id="5" name="Text 3"/>
          <p:cNvSpPr/>
          <p:nvPr/>
        </p:nvSpPr>
        <p:spPr>
          <a:xfrm>
            <a:off x="914400" y="2148840"/>
            <a:ext cx="6858000" cy="1005840"/>
          </a:xfrm>
          <a:prstGeom prst="rect">
            <a:avLst/>
          </a:prstGeom>
          <a:noFill/>
          <a:ln/>
        </p:spPr>
        <p:txBody>
          <a:bodyPr wrap="square" rtlCol="0" anchor="ctr"/>
          <a:lstStyle/>
          <a:p>
            <a:pPr indent="0" marL="0">
              <a:buNone/>
            </a:pPr>
            <a:r>
              <a:rPr lang="en-US" sz="4600" dirty="0">
                <a:solidFill>
                  <a:srgbClr val="FFFFFF"/>
                </a:solidFill>
                <a:latin typeface="Horas" pitchFamily="34" charset="0"/>
                <a:ea typeface="Horas" pitchFamily="34" charset="-122"/>
                <a:cs typeface="Horas" pitchFamily="34" charset="-120"/>
              </a:rPr>
              <a:t>$0 /mo</a:t>
            </a:r>
            <a:endParaRPr lang="en-US" sz="4600" dirty="0"/>
          </a:p>
        </p:txBody>
      </p:sp>
      <p:sp>
        <p:nvSpPr>
          <p:cNvPr id="6" name="Text 4"/>
          <p:cNvSpPr/>
          <p:nvPr/>
        </p:nvSpPr>
        <p:spPr>
          <a:xfrm>
            <a:off x="932688" y="3246120"/>
            <a:ext cx="7315200" cy="457200"/>
          </a:xfrm>
          <a:prstGeom prst="rect">
            <a:avLst/>
          </a:prstGeom>
          <a:noFill/>
          <a:ln/>
        </p:spPr>
        <p:txBody>
          <a:bodyPr wrap="square" rtlCol="0" anchor="ctr"/>
          <a:lstStyle/>
          <a:p>
            <a:pPr indent="0" marL="0">
              <a:buNone/>
            </a:pPr>
            <a:r>
              <a:rPr lang="en-US" sz="1400" dirty="0">
                <a:solidFill>
                  <a:srgbClr val="C9D2EA"/>
                </a:solidFill>
                <a:latin typeface="DM Sans" pitchFamily="34" charset="0"/>
                <a:ea typeface="DM Sans" pitchFamily="34" charset="-122"/>
                <a:cs typeface="DM Sans" pitchFamily="34" charset="-120"/>
              </a:rPr>
              <a:t>0 employees   ·   $0 per year</a:t>
            </a:r>
            <a:endParaRPr lang="en-US" sz="1400" dirty="0"/>
          </a:p>
        </p:txBody>
      </p:sp>
      <p:sp>
        <p:nvSpPr>
          <p:cNvPr id="7" name="Text 5"/>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548640"/>
          </a:xfrm>
          <a:prstGeom prst="rect">
            <a:avLst/>
          </a:prstGeom>
          <a:noFill/>
          <a:ln/>
        </p:spPr>
        <p:txBody>
          <a:bodyPr wrap="square" rtlCol="0" anchor="ctr"/>
          <a:lstStyle/>
          <a:p>
            <a:pPr indent="0" marL="0">
              <a:buNone/>
            </a:pPr>
            <a:r>
              <a:rPr lang="en-US" sz="2600" dirty="0">
                <a:solidFill>
                  <a:srgbClr val="23304D"/>
                </a:solidFill>
                <a:latin typeface="Horas" pitchFamily="34" charset="0"/>
                <a:ea typeface="Horas" pitchFamily="34" charset="-122"/>
                <a:cs typeface="Horas" pitchFamily="34" charset="-120"/>
              </a:rPr>
              <a:t>Your all-in monthly investment</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778240"/>
                <a:gridCol w="2286000"/>
              </a:tblGrid>
              <a:tr h="402336">
                <a:tc>
                  <a:txBody>
                    <a:bodyPr/>
                    <a:lstStyle/>
                    <a:p>
                      <a:pPr algn="l" indent="0" marL="0">
                        <a:buNone/>
                      </a:pPr>
                      <a:r>
                        <a:rPr lang="en-US" sz="1300" b="1" dirty="0">
                          <a:solidFill>
                            <a:srgbClr val="FFFFFF"/>
                          </a:solidFill>
                          <a:latin typeface="DM Sans" pitchFamily="34" charset="0"/>
                          <a:ea typeface="DM Sans" pitchFamily="34" charset="-122"/>
                          <a:cs typeface="DM Sans" pitchFamily="34" charset="-120"/>
                        </a:rPr>
                        <a:t>Item</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c>
                  <a:txBody>
                    <a:bodyPr/>
                    <a:lstStyle/>
                    <a:p>
                      <a:pPr algn="r" indent="0" marL="0">
                        <a:buNone/>
                      </a:pPr>
                      <a:r>
                        <a:rPr lang="en-US" sz="1300" b="1" dirty="0">
                          <a:solidFill>
                            <a:srgbClr val="FFFFFF"/>
                          </a:solidFill>
                          <a:latin typeface="DM Sans" pitchFamily="34" charset="0"/>
                          <a:ea typeface="DM Sans" pitchFamily="34" charset="-122"/>
                          <a:cs typeface="DM Sans" pitchFamily="34" charset="-120"/>
                        </a:rPr>
                        <a:t>Monthly</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r>
              <a:tr h="402336">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PEO — payroll</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23304D"/>
                          </a:solidFill>
                          <a:latin typeface="DM Sans" pitchFamily="34" charset="0"/>
                          <a:ea typeface="DM Sans" pitchFamily="34" charset="-122"/>
                          <a:cs typeface="DM Sans" pitchFamily="34" charset="-120"/>
                        </a:rPr>
                        <a:t>$0 /mo</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Atlas One Membership</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23304D"/>
                          </a:solidFill>
                          <a:latin typeface="DM Sans" pitchFamily="34" charset="0"/>
                          <a:ea typeface="DM Sans" pitchFamily="34" charset="-122"/>
                          <a:cs typeface="DM Sans" pitchFamily="34" charset="-120"/>
                        </a:rPr>
                        <a:t>$399 /mo</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500" b="1" dirty="0">
                          <a:solidFill>
                            <a:srgbClr val="FFFFFF"/>
                          </a:solidFill>
                          <a:latin typeface="Horas" pitchFamily="34" charset="0"/>
                          <a:ea typeface="Horas" pitchFamily="34" charset="-122"/>
                          <a:cs typeface="Horas" pitchFamily="34" charset="-120"/>
                        </a:rPr>
                        <a:t>Total monthly, all-in</a:t>
                      </a:r>
                      <a:endParaRPr lang="en-US" sz="1500" dirty="0">
                        <a:latin typeface="Horas" charset="0"/>
                        <a:ea typeface="Horas" charset="0"/>
                        <a:cs typeface="Hora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c>
                  <a:txBody>
                    <a:bodyPr/>
                    <a:lstStyle/>
                    <a:p>
                      <a:pPr algn="r" indent="0" marL="0">
                        <a:buNone/>
                      </a:pPr>
                      <a:r>
                        <a:rPr lang="en-US" sz="1500" b="1" dirty="0">
                          <a:solidFill>
                            <a:srgbClr val="FFFFFF"/>
                          </a:solidFill>
                          <a:latin typeface="Horas" pitchFamily="34" charset="0"/>
                          <a:ea typeface="Horas" pitchFamily="34" charset="-122"/>
                          <a:cs typeface="Horas" pitchFamily="34" charset="-120"/>
                        </a:rPr>
                        <a:t>$399 /mo</a:t>
                      </a:r>
                      <a:endParaRPr lang="en-US" sz="1500" dirty="0">
                        <a:latin typeface="Horas" charset="0"/>
                        <a:ea typeface="Horas" charset="0"/>
                        <a:cs typeface="Hora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solidFill>
                      <a:srgbClr val="23304D"/>
                    </a:solidFill>
                  </a:tcPr>
                </a:tc>
              </a:tr>
              <a:tr h="402336">
                <a:tc>
                  <a:txBody>
                    <a:bodyPr/>
                    <a:lstStyle/>
                    <a:p>
                      <a:pPr algn="l" indent="0" marL="0">
                        <a:buNone/>
                      </a:pPr>
                      <a:r>
                        <a:rPr lang="en-US" sz="1300" dirty="0">
                          <a:solidFill>
                            <a:srgbClr val="5B6577"/>
                          </a:solidFill>
                          <a:latin typeface="DM Sans" pitchFamily="34" charset="0"/>
                          <a:ea typeface="DM Sans" pitchFamily="34" charset="-122"/>
                          <a:cs typeface="DM Sans" pitchFamily="34" charset="-120"/>
                        </a:rPr>
                        <a:t>Annual, all-in</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5B6577"/>
                          </a:solidFill>
                          <a:latin typeface="DM Sans" pitchFamily="34" charset="0"/>
                          <a:ea typeface="DM Sans" pitchFamily="34" charset="-122"/>
                          <a:cs typeface="DM Sans" pitchFamily="34" charset="-120"/>
                        </a:rPr>
                        <a:t>$4,788 /yr</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r h="402336">
                <a:tc>
                  <a:txBody>
                    <a:bodyPr/>
                    <a:lstStyle/>
                    <a:p>
                      <a:pPr algn="l" indent="0" marL="0">
                        <a:buNone/>
                      </a:pPr>
                      <a:r>
                        <a:rPr lang="en-US" sz="1300" dirty="0">
                          <a:solidFill>
                            <a:srgbClr val="5B6577"/>
                          </a:solidFill>
                          <a:latin typeface="DM Sans" pitchFamily="34" charset="0"/>
                          <a:ea typeface="DM Sans" pitchFamily="34" charset="-122"/>
                          <a:cs typeface="DM Sans" pitchFamily="34" charset="-120"/>
                        </a:rPr>
                        <a:t>One-time setup (separate)</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c>
                  <a:txBody>
                    <a:bodyPr/>
                    <a:lstStyle/>
                    <a:p>
                      <a:pPr algn="r" indent="0" marL="0">
                        <a:buNone/>
                      </a:pPr>
                      <a:r>
                        <a:rPr lang="en-US" sz="1300" b="1" dirty="0">
                          <a:solidFill>
                            <a:srgbClr val="5B6577"/>
                          </a:solidFill>
                          <a:latin typeface="DM Sans" pitchFamily="34" charset="0"/>
                          <a:ea typeface="DM Sans" pitchFamily="34" charset="-122"/>
                          <a:cs typeface="DM Sans" pitchFamily="34" charset="-120"/>
                        </a:rPr>
                        <a:t>$495</a:t>
                      </a:r>
                      <a:endParaRPr lang="en-US" sz="1300" dirty="0">
                        <a:latin typeface="DM Sans" charset="0"/>
                        <a:ea typeface="DM Sans" charset="0"/>
                        <a:cs typeface="DM Sans" charset="0"/>
                      </a:endParaRPr>
                    </a:p>
                  </a:txBody>
                  <a:tcPr marL="91440" marR="91440" marT="45720" marB="45720" anchor="ctr">
                    <a:lnL w="12700" cap="flat" cmpd="sng" algn="ctr">
                      <a:solidFill>
                        <a:srgbClr val="E6EBF2"/>
                      </a:solidFill>
                      <a:prstDash val="solid"/>
                      <a:round/>
                      <a:headEnd type="none" w="med" len="med"/>
                      <a:tailEnd type="none" w="med" len="med"/>
                    </a:lnL>
                    <a:lnR w="12700" cap="flat" cmpd="sng" algn="ctr">
                      <a:solidFill>
                        <a:srgbClr val="E6EBF2"/>
                      </a:solidFill>
                      <a:prstDash val="solid"/>
                      <a:round/>
                      <a:headEnd type="none" w="med" len="med"/>
                      <a:tailEnd type="none" w="med" len="med"/>
                    </a:lnR>
                    <a:lnT w="12700" cap="flat" cmpd="sng" algn="ctr">
                      <a:solidFill>
                        <a:srgbClr val="E6EBF2"/>
                      </a:solidFill>
                      <a:prstDash val="solid"/>
                      <a:round/>
                      <a:headEnd type="none" w="med" len="med"/>
                      <a:tailEnd type="none" w="med" len="med"/>
                    </a:lnT>
                    <a:lnB w="12700" cap="flat" cmpd="sng" algn="ctr">
                      <a:solidFill>
                        <a:srgbClr val="E6EBF2"/>
                      </a:solidFill>
                      <a:prstDash val="solid"/>
                      <a:round/>
                      <a:headEnd type="none" w="med" len="med"/>
                      <a:tailEnd type="none" w="med" len="med"/>
                    </a:lnB>
                  </a:tcPr>
                </a:tc>
              </a:tr>
            </a:tbl>
          </a:graphicData>
        </a:graphic>
      </p:graphicFrame>
      <p:sp>
        <p:nvSpPr>
          <p:cNvPr id="4" name="Text 1"/>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548640" y="1920240"/>
            <a:ext cx="10972800" cy="822960"/>
          </a:xfrm>
          <a:prstGeom prst="rect">
            <a:avLst/>
          </a:prstGeom>
          <a:noFill/>
          <a:ln/>
        </p:spPr>
        <p:txBody>
          <a:bodyPr wrap="square" rtlCol="0" anchor="ctr"/>
          <a:lstStyle/>
          <a:p>
            <a:pPr indent="0" marL="0">
              <a:buNone/>
            </a:pPr>
            <a:r>
              <a:rPr lang="en-US" sz="3400" dirty="0">
                <a:solidFill>
                  <a:srgbClr val="FFFFFF"/>
                </a:solidFill>
                <a:latin typeface="Horas" pitchFamily="34" charset="0"/>
                <a:ea typeface="Horas" pitchFamily="34" charset="-122"/>
                <a:cs typeface="Horas" pitchFamily="34" charset="-120"/>
              </a:rPr>
              <a:t>More than a vendor. A partner in your growth.</a:t>
            </a:r>
            <a:endParaRPr lang="en-US" sz="3400" dirty="0"/>
          </a:p>
        </p:txBody>
      </p:sp>
      <p:sp>
        <p:nvSpPr>
          <p:cNvPr id="5" name="Text 3"/>
          <p:cNvSpPr/>
          <p:nvPr/>
        </p:nvSpPr>
        <p:spPr>
          <a:xfrm>
            <a:off x="566928" y="2926080"/>
            <a:ext cx="10607040" cy="1463040"/>
          </a:xfrm>
          <a:prstGeom prst="rect">
            <a:avLst/>
          </a:prstGeom>
          <a:noFill/>
          <a:ln/>
        </p:spPr>
        <p:txBody>
          <a:bodyPr wrap="square" rtlCol="0" anchor="t"/>
          <a:lstStyle/>
          <a:p>
            <a:pPr indent="0" marL="0">
              <a:buNone/>
            </a:pPr>
            <a:r>
              <a:rPr lang="en-US" sz="1500" dirty="0">
                <a:solidFill>
                  <a:srgbClr val="C9D2EA"/>
                </a:solidFill>
                <a:latin typeface="DM Sans" pitchFamily="34" charset="0"/>
                <a:ea typeface="DM Sans" pitchFamily="34" charset="-122"/>
                <a:cs typeface="DM Sans" pitchFamily="34" charset="-120"/>
              </a:rPr>
              <a:t>We take payroll, benefits, compliance, and the back office off your plate, so the hours and the headspace go back into the work that actually grows your revenue. One relationship, one number to call, and a team that already knows your business.</a:t>
            </a:r>
            <a:endParaRPr lang="en-US" sz="1500" dirty="0"/>
          </a:p>
        </p:txBody>
      </p:sp>
      <p:sp>
        <p:nvSpPr>
          <p:cNvPr id="6" name="Text 4"/>
          <p:cNvSpPr/>
          <p:nvPr/>
        </p:nvSpPr>
        <p:spPr>
          <a:xfrm>
            <a:off x="566928" y="5212080"/>
            <a:ext cx="10972800" cy="365760"/>
          </a:xfrm>
          <a:prstGeom prst="rect">
            <a:avLst/>
          </a:prstGeom>
          <a:noFill/>
          <a:ln/>
        </p:spPr>
        <p:txBody>
          <a:bodyPr wrap="square" rtlCol="0" anchor="ctr"/>
          <a:lstStyle/>
          <a:p>
            <a:pPr indent="0" marL="0">
              <a:buNone/>
            </a:pPr>
            <a:r>
              <a:rPr lang="en-US" sz="1400" b="1" dirty="0">
                <a:solidFill>
                  <a:srgbClr val="FFFFFF"/>
                </a:solidFill>
                <a:latin typeface="DM Sans" pitchFamily="34" charset="0"/>
                <a:ea typeface="DM Sans" pitchFamily="34" charset="-122"/>
                <a:cs typeface="DM Sans" pitchFamily="34" charset="-120"/>
              </a:rPr>
              <a:t>David Taylor</a:t>
            </a:r>
            <a:pPr indent="0" marL="0">
              <a:buNone/>
            </a:pPr>
            <a:r>
              <a:rPr lang="en-US" sz="1400" dirty="0">
                <a:solidFill>
                  <a:srgbClr val="FFFFFF"/>
                </a:solidFill>
                <a:latin typeface="DM Sans" pitchFamily="34" charset="0"/>
                <a:ea typeface="DM Sans" pitchFamily="34" charset="-122"/>
                <a:cs typeface="DM Sans" pitchFamily="34" charset="-120"/>
              </a:rPr>
              <a:t>   ·   Atlas One Solutions   ·   One Call Solves Everything.</a:t>
            </a:r>
            <a:endParaRPr lang="en-US" sz="1400" dirty="0"/>
          </a:p>
        </p:txBody>
      </p:sp>
      <p:sp>
        <p:nvSpPr>
          <p:cNvPr id="7" name="Text 5"/>
          <p:cNvSpPr/>
          <p:nvPr/>
        </p:nvSpPr>
        <p:spPr>
          <a:xfrm>
            <a:off x="566928" y="5623560"/>
            <a:ext cx="10972800" cy="365760"/>
          </a:xfrm>
          <a:prstGeom prst="rect">
            <a:avLst/>
          </a:prstGeom>
          <a:noFill/>
          <a:ln/>
        </p:spPr>
        <p:txBody>
          <a:bodyPr wrap="square" rtlCol="0" anchor="ctr"/>
          <a:lstStyle/>
          <a:p>
            <a:pPr indent="0" marL="0">
              <a:buNone/>
            </a:pPr>
            <a:r>
              <a:rPr lang="en-US" sz="1300" dirty="0">
                <a:solidFill>
                  <a:srgbClr val="788DE3"/>
                </a:solidFill>
                <a:latin typeface="DM Sans" pitchFamily="34" charset="0"/>
                <a:ea typeface="DM Sans" pitchFamily="34" charset="-122"/>
                <a:cs typeface="DM Sans" pitchFamily="34" charset="-120"/>
              </a:rPr>
              <a:t>atlasonesolutions.com</a:t>
            </a:r>
            <a:endParaRPr lang="en-US" sz="1300" dirty="0"/>
          </a:p>
        </p:txBody>
      </p:sp>
      <p:sp>
        <p:nvSpPr>
          <p:cNvPr id="8" name="Text 6"/>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9FB0D8"/>
                </a:solidFill>
                <a:latin typeface="DM Sans" pitchFamily="34" charset="0"/>
                <a:ea typeface="DM Sans" pitchFamily="34" charset="-122"/>
                <a:cs typeface="DM Sans" pitchFamily="34" charset="-120"/>
              </a:rPr>
              <a:t>Atlas One Solutions</a:t>
            </a:r>
            <a:pPr indent="0" marL="0">
              <a:buNone/>
            </a:pPr>
            <a:r>
              <a:rPr lang="en-US" sz="900" dirty="0">
                <a:solidFill>
                  <a:srgbClr val="9FB0D8"/>
                </a:solidFill>
                <a:latin typeface="DM Sans" pitchFamily="34" charset="0"/>
                <a:ea typeface="DM Sans" pitchFamily="34" charset="-122"/>
                <a:cs typeface="DM Sans" pitchFamily="34" charset="-120"/>
              </a:rPr>
              <a:t>   ·   One Call Solves Everything.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2026-09-17T04:03:21Z</dcterms:created>
  <dcterms:modified xsi:type="dcterms:W3CDTF">2026-09-17T04:03:21Z</dcterms:modified>
</cp:coreProperties>
</file>