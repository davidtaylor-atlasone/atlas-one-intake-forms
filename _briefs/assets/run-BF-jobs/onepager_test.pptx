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1234440" y="548640"/>
            <a:ext cx="8229600" cy="457200"/>
          </a:xfrm>
          <a:prstGeom prst="rect">
            <a:avLst/>
          </a:prstGeom>
          <a:noFill/>
          <a:ln/>
        </p:spPr>
        <p:txBody>
          <a:bodyPr wrap="square" rtlCol="0" anchor="ctr"/>
          <a:lstStyle/>
          <a:p>
            <a:pPr indent="0" marL="0">
              <a:buNone/>
            </a:pPr>
            <a:r>
              <a:rPr lang="en-US" sz="1300" b="1" spc="200" kern="0" dirty="0">
                <a:solidFill>
                  <a:srgbClr val="788DE3"/>
                </a:solidFill>
                <a:latin typeface="DM Sans" pitchFamily="34" charset="0"/>
                <a:ea typeface="DM Sans" pitchFamily="34" charset="-122"/>
                <a:cs typeface="DM Sans" pitchFamily="34" charset="-120"/>
              </a:rPr>
              <a:t>ATLAS ONE SOLUTIONS</a:t>
            </a:r>
            <a:endParaRPr lang="en-US" sz="1300" dirty="0"/>
          </a:p>
        </p:txBody>
      </p:sp>
      <p:sp>
        <p:nvSpPr>
          <p:cNvPr id="5" name="Text 3"/>
          <p:cNvSpPr/>
          <p:nvPr/>
        </p:nvSpPr>
        <p:spPr>
          <a:xfrm>
            <a:off x="548640" y="2194560"/>
            <a:ext cx="10972800" cy="822960"/>
          </a:xfrm>
          <a:prstGeom prst="rect">
            <a:avLst/>
          </a:prstGeom>
          <a:noFill/>
          <a:ln/>
        </p:spPr>
        <p:txBody>
          <a:bodyPr wrap="square" rtlCol="0" anchor="ctr"/>
          <a:lstStyle/>
          <a:p>
            <a:pPr indent="0" marL="0">
              <a:buNone/>
            </a:pPr>
            <a:r>
              <a:rPr lang="en-US" sz="4000" dirty="0">
                <a:solidFill>
                  <a:srgbClr val="FFFFFF"/>
                </a:solidFill>
                <a:latin typeface="Horas" pitchFamily="34" charset="0"/>
                <a:ea typeface="Horas" pitchFamily="34" charset="-122"/>
                <a:cs typeface="Horas" pitchFamily="34" charset="-120"/>
              </a:rPr>
              <a:t>Your proposal, in plain numbers</a:t>
            </a:r>
            <a:endParaRPr lang="en-US" sz="4000" dirty="0"/>
          </a:p>
        </p:txBody>
      </p:sp>
      <p:sp>
        <p:nvSpPr>
          <p:cNvPr id="6" name="Text 4"/>
          <p:cNvSpPr/>
          <p:nvPr/>
        </p:nvSpPr>
        <p:spPr>
          <a:xfrm>
            <a:off x="566928" y="3154680"/>
            <a:ext cx="10972800" cy="457200"/>
          </a:xfrm>
          <a:prstGeom prst="rect">
            <a:avLst/>
          </a:prstGeom>
          <a:noFill/>
          <a:ln/>
        </p:spPr>
        <p:txBody>
          <a:bodyPr wrap="square" rtlCol="0" anchor="ctr"/>
          <a:lstStyle/>
          <a:p>
            <a:pPr indent="0" marL="0">
              <a:buNone/>
            </a:pPr>
            <a:r>
              <a:rPr lang="en-US" sz="2000" dirty="0">
                <a:solidFill>
                  <a:srgbClr val="C9D2EA"/>
                </a:solidFill>
                <a:latin typeface="DM Sans" pitchFamily="34" charset="0"/>
                <a:ea typeface="DM Sans" pitchFamily="34" charset="-122"/>
                <a:cs typeface="DM Sans" pitchFamily="34" charset="-120"/>
              </a:rPr>
              <a:t>Prepared for Your Company</a:t>
            </a:r>
            <a:endParaRPr lang="en-US" sz="2000" dirty="0"/>
          </a:p>
        </p:txBody>
      </p:sp>
      <p:sp>
        <p:nvSpPr>
          <p:cNvPr id="7" name="Text 5"/>
          <p:cNvSpPr/>
          <p:nvPr/>
        </p:nvSpPr>
        <p:spPr>
          <a:xfrm>
            <a:off x="566928" y="5212080"/>
            <a:ext cx="109728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One Call Solves Everything.</a:t>
            </a:r>
            <a:endParaRPr lang="en-US" sz="2000" dirty="0"/>
          </a:p>
        </p:txBody>
      </p:sp>
      <p:sp>
        <p:nvSpPr>
          <p:cNvPr id="8" name="Text 6"/>
          <p:cNvSpPr/>
          <p:nvPr/>
        </p:nvSpPr>
        <p:spPr>
          <a:xfrm>
            <a:off x="566928" y="5715000"/>
            <a:ext cx="10972800" cy="365760"/>
          </a:xfrm>
          <a:prstGeom prst="rect">
            <a:avLst/>
          </a:prstGeom>
          <a:noFill/>
          <a:ln/>
        </p:spPr>
        <p:txBody>
          <a:bodyPr wrap="square" rtlCol="0" anchor="ctr"/>
          <a:lstStyle/>
          <a:p>
            <a:pPr indent="0" marL="0">
              <a:buNone/>
            </a:pPr>
            <a:r>
              <a:rPr lang="en-US" sz="1200" dirty="0">
                <a:solidFill>
                  <a:srgbClr val="9FB0D8"/>
                </a:solidFill>
                <a:latin typeface="DM Sans" pitchFamily="34" charset="0"/>
                <a:ea typeface="DM Sans" pitchFamily="34" charset="-122"/>
                <a:cs typeface="DM Sans" pitchFamily="34" charset="-120"/>
              </a:rPr>
              <a:t>September 17, 2026   ·   Prepared by David Taylor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One relationship replaces 10 to 20 vendors</a:t>
            </a:r>
            <a:endParaRPr lang="en-US" sz="2800" dirty="0"/>
          </a:p>
        </p:txBody>
      </p:sp>
      <p:sp>
        <p:nvSpPr>
          <p:cNvPr id="3" name="Text 1"/>
          <p:cNvSpPr/>
          <p:nvPr/>
        </p:nvSpPr>
        <p:spPr>
          <a:xfrm>
            <a:off x="566928" y="1051560"/>
            <a:ext cx="10972800" cy="365760"/>
          </a:xfrm>
          <a:prstGeom prst="rect">
            <a:avLst/>
          </a:prstGeom>
          <a:noFill/>
          <a:ln/>
        </p:spPr>
        <p:txBody>
          <a:bodyPr wrap="square" rtlCol="0" anchor="ctr"/>
          <a:lstStyle/>
          <a:p>
            <a:pPr indent="0" marL="0">
              <a:buNone/>
            </a:pPr>
            <a:r>
              <a:rPr lang="en-US" sz="1400" dirty="0">
                <a:solidFill>
                  <a:srgbClr val="5B6577"/>
                </a:solidFill>
                <a:latin typeface="DM Sans" pitchFamily="34" charset="0"/>
                <a:ea typeface="DM Sans" pitchFamily="34" charset="-122"/>
                <a:cs typeface="DM Sans" pitchFamily="34" charset="-120"/>
              </a:rPr>
              <a:t>One point of contact across all six divisions of your back office.</a:t>
            </a:r>
            <a:endParaRPr lang="en-US" sz="1400" dirty="0"/>
          </a:p>
        </p:txBody>
      </p:sp>
      <p:sp>
        <p:nvSpPr>
          <p:cNvPr id="4" name="Shape 2"/>
          <p:cNvSpPr/>
          <p:nvPr/>
        </p:nvSpPr>
        <p:spPr>
          <a:xfrm>
            <a:off x="548640" y="1691640"/>
            <a:ext cx="3566160" cy="1874520"/>
          </a:xfrm>
          <a:prstGeom prst="rect">
            <a:avLst>
              <a:gd name="adj" fmla="val 3902"/>
            </a:avLst>
          </a:prstGeom>
          <a:solidFill>
            <a:srgbClr val="FFFFFF"/>
          </a:solidFill>
          <a:ln w="12700">
            <a:solidFill>
              <a:srgbClr val="DBE4ED"/>
            </a:solidFill>
            <a:prstDash val="solid"/>
          </a:ln>
        </p:spPr>
      </p:sp>
      <p:sp>
        <p:nvSpPr>
          <p:cNvPr id="5" name="Shape 3"/>
          <p:cNvSpPr/>
          <p:nvPr/>
        </p:nvSpPr>
        <p:spPr>
          <a:xfrm>
            <a:off x="548640" y="1691640"/>
            <a:ext cx="82296" cy="1874520"/>
          </a:xfrm>
          <a:prstGeom prst="rect">
            <a:avLst/>
          </a:prstGeom>
          <a:solidFill>
            <a:srgbClr val="788DE3"/>
          </a:solidFill>
          <a:ln/>
        </p:spPr>
      </p:sp>
      <p:sp>
        <p:nvSpPr>
          <p:cNvPr id="6" name="Text 4"/>
          <p:cNvSpPr/>
          <p:nvPr/>
        </p:nvSpPr>
        <p:spPr>
          <a:xfrm>
            <a:off x="804672"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Workforce &amp; HR</a:t>
            </a:r>
            <a:endParaRPr lang="en-US" sz="1600" dirty="0"/>
          </a:p>
        </p:txBody>
      </p:sp>
      <p:sp>
        <p:nvSpPr>
          <p:cNvPr id="7" name="Text 5"/>
          <p:cNvSpPr/>
          <p:nvPr/>
        </p:nvSpPr>
        <p:spPr>
          <a:xfrm>
            <a:off x="804672"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Payroll, HR, handbooks, time &amp; PTO, screening</a:t>
            </a:r>
            <a:endParaRPr lang="en-US" sz="1150" dirty="0"/>
          </a:p>
        </p:txBody>
      </p:sp>
      <p:sp>
        <p:nvSpPr>
          <p:cNvPr id="8" name="Shape 6"/>
          <p:cNvSpPr/>
          <p:nvPr/>
        </p:nvSpPr>
        <p:spPr>
          <a:xfrm>
            <a:off x="4315968" y="1691640"/>
            <a:ext cx="3566160" cy="1874520"/>
          </a:xfrm>
          <a:prstGeom prst="rect">
            <a:avLst>
              <a:gd name="adj" fmla="val 3902"/>
            </a:avLst>
          </a:prstGeom>
          <a:solidFill>
            <a:srgbClr val="FFFFFF"/>
          </a:solidFill>
          <a:ln w="12700">
            <a:solidFill>
              <a:srgbClr val="DBE4ED"/>
            </a:solidFill>
            <a:prstDash val="solid"/>
          </a:ln>
        </p:spPr>
      </p:sp>
      <p:sp>
        <p:nvSpPr>
          <p:cNvPr id="9" name="Shape 7"/>
          <p:cNvSpPr/>
          <p:nvPr/>
        </p:nvSpPr>
        <p:spPr>
          <a:xfrm>
            <a:off x="4315968" y="1691640"/>
            <a:ext cx="82296" cy="1874520"/>
          </a:xfrm>
          <a:prstGeom prst="rect">
            <a:avLst/>
          </a:prstGeom>
          <a:solidFill>
            <a:srgbClr val="788DE3"/>
          </a:solidFill>
          <a:ln/>
        </p:spPr>
      </p:sp>
      <p:sp>
        <p:nvSpPr>
          <p:cNvPr id="10" name="Text 8"/>
          <p:cNvSpPr/>
          <p:nvPr/>
        </p:nvSpPr>
        <p:spPr>
          <a:xfrm>
            <a:off x="4572000"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Benefits &amp; Retirement</a:t>
            </a:r>
            <a:endParaRPr lang="en-US" sz="1600" dirty="0"/>
          </a:p>
        </p:txBody>
      </p:sp>
      <p:sp>
        <p:nvSpPr>
          <p:cNvPr id="11" name="Text 9"/>
          <p:cNvSpPr/>
          <p:nvPr/>
        </p:nvSpPr>
        <p:spPr>
          <a:xfrm>
            <a:off x="4572000"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Health, dental, vision, life, 401(k), ACA/COBRA</a:t>
            </a:r>
            <a:endParaRPr lang="en-US" sz="1150" dirty="0"/>
          </a:p>
        </p:txBody>
      </p:sp>
      <p:sp>
        <p:nvSpPr>
          <p:cNvPr id="12" name="Shape 10"/>
          <p:cNvSpPr/>
          <p:nvPr/>
        </p:nvSpPr>
        <p:spPr>
          <a:xfrm>
            <a:off x="8083296" y="1691640"/>
            <a:ext cx="3566160" cy="1874520"/>
          </a:xfrm>
          <a:prstGeom prst="rect">
            <a:avLst>
              <a:gd name="adj" fmla="val 3902"/>
            </a:avLst>
          </a:prstGeom>
          <a:solidFill>
            <a:srgbClr val="FFFFFF"/>
          </a:solidFill>
          <a:ln w="12700">
            <a:solidFill>
              <a:srgbClr val="DBE4ED"/>
            </a:solidFill>
            <a:prstDash val="solid"/>
          </a:ln>
        </p:spPr>
      </p:sp>
      <p:sp>
        <p:nvSpPr>
          <p:cNvPr id="13" name="Shape 11"/>
          <p:cNvSpPr/>
          <p:nvPr/>
        </p:nvSpPr>
        <p:spPr>
          <a:xfrm>
            <a:off x="8083296" y="1691640"/>
            <a:ext cx="82296" cy="1874520"/>
          </a:xfrm>
          <a:prstGeom prst="rect">
            <a:avLst/>
          </a:prstGeom>
          <a:solidFill>
            <a:srgbClr val="788DE3"/>
          </a:solidFill>
          <a:ln/>
        </p:spPr>
      </p:sp>
      <p:sp>
        <p:nvSpPr>
          <p:cNvPr id="14" name="Text 12"/>
          <p:cNvSpPr/>
          <p:nvPr/>
        </p:nvSpPr>
        <p:spPr>
          <a:xfrm>
            <a:off x="8339328"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Financial Services</a:t>
            </a:r>
            <a:endParaRPr lang="en-US" sz="1600" dirty="0"/>
          </a:p>
        </p:txBody>
      </p:sp>
      <p:sp>
        <p:nvSpPr>
          <p:cNvPr id="15" name="Text 13"/>
          <p:cNvSpPr/>
          <p:nvPr/>
        </p:nvSpPr>
        <p:spPr>
          <a:xfrm>
            <a:off x="8339328"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Bookkeeping, tax strategy, fractional CFO</a:t>
            </a:r>
            <a:endParaRPr lang="en-US" sz="1150" dirty="0"/>
          </a:p>
        </p:txBody>
      </p:sp>
      <p:sp>
        <p:nvSpPr>
          <p:cNvPr id="16" name="Shape 14"/>
          <p:cNvSpPr/>
          <p:nvPr/>
        </p:nvSpPr>
        <p:spPr>
          <a:xfrm>
            <a:off x="548640" y="3840480"/>
            <a:ext cx="3566160" cy="1874520"/>
          </a:xfrm>
          <a:prstGeom prst="rect">
            <a:avLst>
              <a:gd name="adj" fmla="val 3902"/>
            </a:avLst>
          </a:prstGeom>
          <a:solidFill>
            <a:srgbClr val="FFFFFF"/>
          </a:solidFill>
          <a:ln w="12700">
            <a:solidFill>
              <a:srgbClr val="DBE4ED"/>
            </a:solidFill>
            <a:prstDash val="solid"/>
          </a:ln>
        </p:spPr>
      </p:sp>
      <p:sp>
        <p:nvSpPr>
          <p:cNvPr id="17" name="Shape 15"/>
          <p:cNvSpPr/>
          <p:nvPr/>
        </p:nvSpPr>
        <p:spPr>
          <a:xfrm>
            <a:off x="548640" y="3840480"/>
            <a:ext cx="82296" cy="1874520"/>
          </a:xfrm>
          <a:prstGeom prst="rect">
            <a:avLst/>
          </a:prstGeom>
          <a:solidFill>
            <a:srgbClr val="788DE3"/>
          </a:solidFill>
          <a:ln/>
        </p:spPr>
      </p:sp>
      <p:sp>
        <p:nvSpPr>
          <p:cNvPr id="18" name="Text 16"/>
          <p:cNvSpPr/>
          <p:nvPr/>
        </p:nvSpPr>
        <p:spPr>
          <a:xfrm>
            <a:off x="804672"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Risk &amp; Insurance</a:t>
            </a:r>
            <a:endParaRPr lang="en-US" sz="1600" dirty="0"/>
          </a:p>
        </p:txBody>
      </p:sp>
      <p:sp>
        <p:nvSpPr>
          <p:cNvPr id="19" name="Text 17"/>
          <p:cNvSpPr/>
          <p:nvPr/>
        </p:nvSpPr>
        <p:spPr>
          <a:xfrm>
            <a:off x="804672"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Workers' comp, GL, cyber, property, E&amp;O</a:t>
            </a:r>
            <a:endParaRPr lang="en-US" sz="1150" dirty="0"/>
          </a:p>
        </p:txBody>
      </p:sp>
      <p:sp>
        <p:nvSpPr>
          <p:cNvPr id="20" name="Shape 18"/>
          <p:cNvSpPr/>
          <p:nvPr/>
        </p:nvSpPr>
        <p:spPr>
          <a:xfrm>
            <a:off x="4315968" y="3840480"/>
            <a:ext cx="3566160" cy="1874520"/>
          </a:xfrm>
          <a:prstGeom prst="rect">
            <a:avLst>
              <a:gd name="adj" fmla="val 3902"/>
            </a:avLst>
          </a:prstGeom>
          <a:solidFill>
            <a:srgbClr val="FFFFFF"/>
          </a:solidFill>
          <a:ln w="12700">
            <a:solidFill>
              <a:srgbClr val="DBE4ED"/>
            </a:solidFill>
            <a:prstDash val="solid"/>
          </a:ln>
        </p:spPr>
      </p:sp>
      <p:sp>
        <p:nvSpPr>
          <p:cNvPr id="21" name="Shape 19"/>
          <p:cNvSpPr/>
          <p:nvPr/>
        </p:nvSpPr>
        <p:spPr>
          <a:xfrm>
            <a:off x="4315968" y="3840480"/>
            <a:ext cx="82296" cy="1874520"/>
          </a:xfrm>
          <a:prstGeom prst="rect">
            <a:avLst/>
          </a:prstGeom>
          <a:solidFill>
            <a:srgbClr val="788DE3"/>
          </a:solidFill>
          <a:ln/>
        </p:spPr>
      </p:sp>
      <p:sp>
        <p:nvSpPr>
          <p:cNvPr id="22" name="Text 20"/>
          <p:cNvSpPr/>
          <p:nvPr/>
        </p:nvSpPr>
        <p:spPr>
          <a:xfrm>
            <a:off x="4572000"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Technology &amp; Operations</a:t>
            </a:r>
            <a:endParaRPr lang="en-US" sz="1600" dirty="0"/>
          </a:p>
        </p:txBody>
      </p:sp>
      <p:sp>
        <p:nvSpPr>
          <p:cNvPr id="23" name="Text 21"/>
          <p:cNvSpPr/>
          <p:nvPr/>
        </p:nvSpPr>
        <p:spPr>
          <a:xfrm>
            <a:off x="4572000"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Software &amp; CRM, automation, IT, AI assistants</a:t>
            </a:r>
            <a:endParaRPr lang="en-US" sz="1150" dirty="0"/>
          </a:p>
        </p:txBody>
      </p:sp>
      <p:sp>
        <p:nvSpPr>
          <p:cNvPr id="24" name="Shape 22"/>
          <p:cNvSpPr/>
          <p:nvPr/>
        </p:nvSpPr>
        <p:spPr>
          <a:xfrm>
            <a:off x="8083296" y="3840480"/>
            <a:ext cx="3566160" cy="1874520"/>
          </a:xfrm>
          <a:prstGeom prst="rect">
            <a:avLst>
              <a:gd name="adj" fmla="val 3902"/>
            </a:avLst>
          </a:prstGeom>
          <a:solidFill>
            <a:srgbClr val="FFFFFF"/>
          </a:solidFill>
          <a:ln w="12700">
            <a:solidFill>
              <a:srgbClr val="DBE4ED"/>
            </a:solidFill>
            <a:prstDash val="solid"/>
          </a:ln>
        </p:spPr>
      </p:sp>
      <p:sp>
        <p:nvSpPr>
          <p:cNvPr id="25" name="Shape 23"/>
          <p:cNvSpPr/>
          <p:nvPr/>
        </p:nvSpPr>
        <p:spPr>
          <a:xfrm>
            <a:off x="8083296" y="3840480"/>
            <a:ext cx="82296" cy="1874520"/>
          </a:xfrm>
          <a:prstGeom prst="rect">
            <a:avLst/>
          </a:prstGeom>
          <a:solidFill>
            <a:srgbClr val="788DE3"/>
          </a:solidFill>
          <a:ln/>
        </p:spPr>
      </p:sp>
      <p:sp>
        <p:nvSpPr>
          <p:cNvPr id="26" name="Text 24"/>
          <p:cNvSpPr/>
          <p:nvPr/>
        </p:nvSpPr>
        <p:spPr>
          <a:xfrm>
            <a:off x="8339328"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Business Consulting</a:t>
            </a:r>
            <a:endParaRPr lang="en-US" sz="1600" dirty="0"/>
          </a:p>
        </p:txBody>
      </p:sp>
      <p:sp>
        <p:nvSpPr>
          <p:cNvPr id="27" name="Text 25"/>
          <p:cNvSpPr/>
          <p:nvPr/>
        </p:nvSpPr>
        <p:spPr>
          <a:xfrm>
            <a:off x="8339328"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Vendor audit, ROI analysis, brand, strategy</a:t>
            </a:r>
            <a:endParaRPr lang="en-US" sz="1150" dirty="0"/>
          </a:p>
        </p:txBody>
      </p:sp>
      <p:sp>
        <p:nvSpPr>
          <p:cNvPr id="28" name="Text 2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Your payroll line</a:t>
            </a:r>
            <a:endParaRPr lang="en-US" sz="2800" dirty="0"/>
          </a:p>
        </p:txBody>
      </p:sp>
      <p:sp>
        <p:nvSpPr>
          <p:cNvPr id="3" name="Shape 1"/>
          <p:cNvSpPr/>
          <p:nvPr/>
        </p:nvSpPr>
        <p:spPr>
          <a:xfrm>
            <a:off x="548640" y="1463040"/>
            <a:ext cx="11064240" cy="2651760"/>
          </a:xfrm>
          <a:prstGeom prst="rect">
            <a:avLst>
              <a:gd name="adj" fmla="val 3448"/>
            </a:avLst>
          </a:prstGeom>
          <a:solidFill>
            <a:srgbClr val="23304D"/>
          </a:solidFill>
          <a:ln/>
        </p:spPr>
      </p:sp>
      <p:sp>
        <p:nvSpPr>
          <p:cNvPr id="4" name="Text 2"/>
          <p:cNvSpPr/>
          <p:nvPr/>
        </p:nvSpPr>
        <p:spPr>
          <a:xfrm>
            <a:off x="914400" y="1783080"/>
            <a:ext cx="6400800" cy="365760"/>
          </a:xfrm>
          <a:prstGeom prst="rect">
            <a:avLst/>
          </a:prstGeom>
          <a:noFill/>
          <a:ln/>
        </p:spPr>
        <p:txBody>
          <a:bodyPr wrap="square" rtlCol="0" anchor="ctr"/>
          <a:lstStyle/>
          <a:p>
            <a:pPr indent="0" marL="0">
              <a:buNone/>
            </a:pPr>
            <a:r>
              <a:rPr lang="en-US" sz="1300" b="1" spc="100" kern="0" dirty="0">
                <a:solidFill>
                  <a:srgbClr val="788DE3"/>
                </a:solidFill>
                <a:latin typeface="DM Sans" pitchFamily="34" charset="0"/>
                <a:ea typeface="DM Sans" pitchFamily="34" charset="-122"/>
                <a:cs typeface="DM Sans" pitchFamily="34" charset="-120"/>
              </a:rPr>
              <a:t>PEO — PAYROLL</a:t>
            </a:r>
            <a:endParaRPr lang="en-US" sz="1300" dirty="0"/>
          </a:p>
        </p:txBody>
      </p:sp>
      <p:sp>
        <p:nvSpPr>
          <p:cNvPr id="5" name="Text 3"/>
          <p:cNvSpPr/>
          <p:nvPr/>
        </p:nvSpPr>
        <p:spPr>
          <a:xfrm>
            <a:off x="914400" y="2148840"/>
            <a:ext cx="6858000" cy="1005840"/>
          </a:xfrm>
          <a:prstGeom prst="rect">
            <a:avLst/>
          </a:prstGeom>
          <a:noFill/>
          <a:ln/>
        </p:spPr>
        <p:txBody>
          <a:bodyPr wrap="square" rtlCol="0" anchor="ctr"/>
          <a:lstStyle/>
          <a:p>
            <a:pPr indent="0" marL="0">
              <a:buNone/>
            </a:pPr>
            <a:r>
              <a:rPr lang="en-US" sz="4600" dirty="0">
                <a:solidFill>
                  <a:srgbClr val="FFFFFF"/>
                </a:solidFill>
                <a:latin typeface="Horas" pitchFamily="34" charset="0"/>
                <a:ea typeface="Horas" pitchFamily="34" charset="-122"/>
                <a:cs typeface="Horas" pitchFamily="34" charset="-120"/>
              </a:rPr>
              <a:t>$0 /mo</a:t>
            </a:r>
            <a:endParaRPr lang="en-US" sz="4600" dirty="0"/>
          </a:p>
        </p:txBody>
      </p:sp>
      <p:sp>
        <p:nvSpPr>
          <p:cNvPr id="6" name="Text 4"/>
          <p:cNvSpPr/>
          <p:nvPr/>
        </p:nvSpPr>
        <p:spPr>
          <a:xfrm>
            <a:off x="932688" y="3246120"/>
            <a:ext cx="7315200" cy="457200"/>
          </a:xfrm>
          <a:prstGeom prst="rect">
            <a:avLst/>
          </a:prstGeom>
          <a:noFill/>
          <a:ln/>
        </p:spPr>
        <p:txBody>
          <a:bodyPr wrap="square" rtlCol="0" anchor="ctr"/>
          <a:lstStyle/>
          <a:p>
            <a:pPr indent="0" marL="0">
              <a:buNone/>
            </a:pPr>
            <a:r>
              <a:rPr lang="en-US" sz="1400" dirty="0">
                <a:solidFill>
                  <a:srgbClr val="C9D2EA"/>
                </a:solidFill>
                <a:latin typeface="DM Sans" pitchFamily="34" charset="0"/>
                <a:ea typeface="DM Sans" pitchFamily="34" charset="-122"/>
                <a:cs typeface="DM Sans" pitchFamily="34" charset="-120"/>
              </a:rPr>
              <a:t>0 employees   ·   $0 per year</a:t>
            </a:r>
            <a:endParaRPr lang="en-US" sz="1400" dirty="0"/>
          </a:p>
        </p:txBody>
      </p:sp>
      <p:sp>
        <p:nvSpPr>
          <p:cNvPr id="7" name="Text 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600" dirty="0">
                <a:solidFill>
                  <a:srgbClr val="23304D"/>
                </a:solidFill>
                <a:latin typeface="Horas" pitchFamily="34" charset="0"/>
                <a:ea typeface="Horas" pitchFamily="34" charset="-122"/>
                <a:cs typeface="Horas" pitchFamily="34" charset="-120"/>
              </a:rPr>
              <a:t>Your all-in monthly investment</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778240"/>
                <a:gridCol w="2286000"/>
              </a:tblGrid>
              <a:tr h="402336">
                <a:tc>
                  <a:txBody>
                    <a:bodyPr/>
                    <a:lstStyle/>
                    <a:p>
                      <a:pPr algn="l" indent="0" marL="0">
                        <a:buNone/>
                      </a:pPr>
                      <a:r>
                        <a:rPr lang="en-US" sz="1300" b="1" dirty="0">
                          <a:solidFill>
                            <a:srgbClr val="FFFFFF"/>
                          </a:solidFill>
                          <a:latin typeface="DM Sans" pitchFamily="34" charset="0"/>
                          <a:ea typeface="DM Sans" pitchFamily="34" charset="-122"/>
                          <a:cs typeface="DM Sans" pitchFamily="34" charset="-120"/>
                        </a:rPr>
                        <a:t>Item</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300" b="1" dirty="0">
                          <a:solidFill>
                            <a:srgbClr val="FFFFFF"/>
                          </a:solidFill>
                          <a:latin typeface="DM Sans" pitchFamily="34" charset="0"/>
                          <a:ea typeface="DM Sans" pitchFamily="34" charset="-122"/>
                          <a:cs typeface="DM Sans" pitchFamily="34" charset="-120"/>
                        </a:rPr>
                        <a:t>Monthly</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PEO — payroll</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$0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Atlas One Membership</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$0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500" b="1" dirty="0">
                          <a:solidFill>
                            <a:srgbClr val="FFFFFF"/>
                          </a:solidFill>
                          <a:latin typeface="Horas" pitchFamily="34" charset="0"/>
                          <a:ea typeface="Horas" pitchFamily="34" charset="-122"/>
                          <a:cs typeface="Horas" pitchFamily="34" charset="-120"/>
                        </a:rPr>
                        <a:t>Total monthly, all-in</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500" b="1" dirty="0">
                          <a:solidFill>
                            <a:srgbClr val="FFFFFF"/>
                          </a:solidFill>
                          <a:latin typeface="Horas" pitchFamily="34" charset="0"/>
                          <a:ea typeface="Horas" pitchFamily="34" charset="-122"/>
                          <a:cs typeface="Horas" pitchFamily="34" charset="-120"/>
                        </a:rPr>
                        <a:t>$0 /mo</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dirty="0">
                          <a:solidFill>
                            <a:srgbClr val="5B6577"/>
                          </a:solidFill>
                          <a:latin typeface="DM Sans" pitchFamily="34" charset="0"/>
                          <a:ea typeface="DM Sans" pitchFamily="34" charset="-122"/>
                          <a:cs typeface="DM Sans" pitchFamily="34" charset="-120"/>
                        </a:rPr>
                        <a:t>Annual, all-in</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5B6577"/>
                          </a:solidFill>
                          <a:latin typeface="DM Sans" pitchFamily="34" charset="0"/>
                          <a:ea typeface="DM Sans" pitchFamily="34" charset="-122"/>
                          <a:cs typeface="DM Sans" pitchFamily="34" charset="-120"/>
                        </a:rPr>
                        <a:t>$0 /yr</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bl>
          </a:graphicData>
        </a:graphic>
      </p:graphicFrame>
      <p:sp>
        <p:nvSpPr>
          <p:cNvPr id="4" name="Text 1"/>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548640" y="1920240"/>
            <a:ext cx="10972800" cy="822960"/>
          </a:xfrm>
          <a:prstGeom prst="rect">
            <a:avLst/>
          </a:prstGeom>
          <a:noFill/>
          <a:ln/>
        </p:spPr>
        <p:txBody>
          <a:bodyPr wrap="square" rtlCol="0" anchor="ctr"/>
          <a:lstStyle/>
          <a:p>
            <a:pPr indent="0" marL="0">
              <a:buNone/>
            </a:pPr>
            <a:r>
              <a:rPr lang="en-US" sz="3400" dirty="0">
                <a:solidFill>
                  <a:srgbClr val="FFFFFF"/>
                </a:solidFill>
                <a:latin typeface="Horas" pitchFamily="34" charset="0"/>
                <a:ea typeface="Horas" pitchFamily="34" charset="-122"/>
                <a:cs typeface="Horas" pitchFamily="34" charset="-120"/>
              </a:rPr>
              <a:t>More than a vendor. A partner in your growth.</a:t>
            </a:r>
            <a:endParaRPr lang="en-US" sz="3400" dirty="0"/>
          </a:p>
        </p:txBody>
      </p:sp>
      <p:sp>
        <p:nvSpPr>
          <p:cNvPr id="5" name="Text 3"/>
          <p:cNvSpPr/>
          <p:nvPr/>
        </p:nvSpPr>
        <p:spPr>
          <a:xfrm>
            <a:off x="566928" y="2926080"/>
            <a:ext cx="10607040" cy="1463040"/>
          </a:xfrm>
          <a:prstGeom prst="rect">
            <a:avLst/>
          </a:prstGeom>
          <a:noFill/>
          <a:ln/>
        </p:spPr>
        <p:txBody>
          <a:bodyPr wrap="square" rtlCol="0" anchor="t"/>
          <a:lstStyle/>
          <a:p>
            <a:pPr indent="0" marL="0">
              <a:buNone/>
            </a:pPr>
            <a:r>
              <a:rPr lang="en-US" sz="1500" dirty="0">
                <a:solidFill>
                  <a:srgbClr val="C9D2EA"/>
                </a:solidFill>
                <a:latin typeface="DM Sans" pitchFamily="34" charset="0"/>
                <a:ea typeface="DM Sans" pitchFamily="34" charset="-122"/>
                <a:cs typeface="DM Sans" pitchFamily="34" charset="-120"/>
              </a:rPr>
              <a:t>We take payroll, benefits, compliance, and the back office off your plate, so the hours and the headspace go back into the work that actually grows your revenue. One relationship, one number to call, and a team that already knows your business.</a:t>
            </a:r>
            <a:endParaRPr lang="en-US" sz="1500" dirty="0"/>
          </a:p>
        </p:txBody>
      </p:sp>
      <p:sp>
        <p:nvSpPr>
          <p:cNvPr id="6" name="Text 4"/>
          <p:cNvSpPr/>
          <p:nvPr/>
        </p:nvSpPr>
        <p:spPr>
          <a:xfrm>
            <a:off x="566928" y="5212080"/>
            <a:ext cx="10972800" cy="365760"/>
          </a:xfrm>
          <a:prstGeom prst="rect">
            <a:avLst/>
          </a:prstGeom>
          <a:noFill/>
          <a:ln/>
        </p:spPr>
        <p:txBody>
          <a:bodyPr wrap="square" rtlCol="0" anchor="ctr"/>
          <a:lstStyle/>
          <a:p>
            <a:pPr indent="0" marL="0">
              <a:buNone/>
            </a:pPr>
            <a:r>
              <a:rPr lang="en-US" sz="1400" b="1" dirty="0">
                <a:solidFill>
                  <a:srgbClr val="FFFFFF"/>
                </a:solidFill>
                <a:latin typeface="DM Sans" pitchFamily="34" charset="0"/>
                <a:ea typeface="DM Sans" pitchFamily="34" charset="-122"/>
                <a:cs typeface="DM Sans" pitchFamily="34" charset="-120"/>
              </a:rPr>
              <a:t>David Taylor</a:t>
            </a:r>
            <a:pPr indent="0" marL="0">
              <a:buNone/>
            </a:pPr>
            <a:r>
              <a:rPr lang="en-US" sz="1400" dirty="0">
                <a:solidFill>
                  <a:srgbClr val="FFFFFF"/>
                </a:solidFill>
                <a:latin typeface="DM Sans" pitchFamily="34" charset="0"/>
                <a:ea typeface="DM Sans" pitchFamily="34" charset="-122"/>
                <a:cs typeface="DM Sans" pitchFamily="34" charset="-120"/>
              </a:rPr>
              <a:t>   ·   Atlas One Solutions   ·   One Call Solves Everything.</a:t>
            </a:r>
            <a:endParaRPr lang="en-US" sz="1400" dirty="0"/>
          </a:p>
        </p:txBody>
      </p:sp>
      <p:sp>
        <p:nvSpPr>
          <p:cNvPr id="7" name="Text 5"/>
          <p:cNvSpPr/>
          <p:nvPr/>
        </p:nvSpPr>
        <p:spPr>
          <a:xfrm>
            <a:off x="566928" y="5623560"/>
            <a:ext cx="10972800" cy="365760"/>
          </a:xfrm>
          <a:prstGeom prst="rect">
            <a:avLst/>
          </a:prstGeom>
          <a:noFill/>
          <a:ln/>
        </p:spPr>
        <p:txBody>
          <a:bodyPr wrap="square" rtlCol="0" anchor="ctr"/>
          <a:lstStyle/>
          <a:p>
            <a:pPr indent="0" marL="0">
              <a:buNone/>
            </a:pPr>
            <a:r>
              <a:rPr lang="en-US" sz="1300" dirty="0">
                <a:solidFill>
                  <a:srgbClr val="788DE3"/>
                </a:solidFill>
                <a:latin typeface="DM Sans" pitchFamily="34" charset="0"/>
                <a:ea typeface="DM Sans" pitchFamily="34" charset="-122"/>
                <a:cs typeface="DM Sans" pitchFamily="34" charset="-120"/>
              </a:rPr>
              <a:t>atlasonesolutions.com</a:t>
            </a:r>
            <a:endParaRPr lang="en-US" sz="1300" dirty="0"/>
          </a:p>
        </p:txBody>
      </p:sp>
      <p:sp>
        <p:nvSpPr>
          <p:cNvPr id="8" name="Text 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2026-09-17T13:47:54Z</dcterms:created>
  <dcterms:modified xsi:type="dcterms:W3CDTF">2026-09-17T13:47:54Z</dcterms:modified>
</cp:coreProperties>
</file>